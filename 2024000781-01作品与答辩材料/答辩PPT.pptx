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sldIdLst>
    <p:sldId id="257" r:id="rId2"/>
    <p:sldId id="334" r:id="rId3"/>
    <p:sldId id="259" r:id="rId4"/>
    <p:sldId id="326" r:id="rId5"/>
    <p:sldId id="264" r:id="rId6"/>
    <p:sldId id="337" r:id="rId7"/>
    <p:sldId id="336" r:id="rId8"/>
    <p:sldId id="256" r:id="rId9"/>
    <p:sldId id="272" r:id="rId10"/>
    <p:sldId id="295" r:id="rId11"/>
    <p:sldId id="273" r:id="rId12"/>
    <p:sldId id="330" r:id="rId13"/>
    <p:sldId id="331" r:id="rId14"/>
    <p:sldId id="291" r:id="rId15"/>
    <p:sldId id="292" r:id="rId16"/>
    <p:sldId id="267" r:id="rId17"/>
    <p:sldId id="332" r:id="rId18"/>
    <p:sldId id="277" r:id="rId19"/>
    <p:sldId id="322" r:id="rId20"/>
    <p:sldId id="278" r:id="rId21"/>
    <p:sldId id="283" r:id="rId22"/>
  </p:sldIdLst>
  <p:sldSz cx="12192000" cy="6858000"/>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5B5B00"/>
    <a:srgbClr val="8A7A00"/>
    <a:srgbClr val="F2C900"/>
    <a:srgbClr val="6DA990"/>
    <a:srgbClr val="51A1BA"/>
    <a:srgbClr val="948516"/>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30" autoAdjust="0"/>
    <p:restoredTop sz="86483" autoAdjust="0"/>
  </p:normalViewPr>
  <p:slideViewPr>
    <p:cSldViewPr snapToGrid="0">
      <p:cViewPr varScale="1">
        <p:scale>
          <a:sx n="81" d="100"/>
          <a:sy n="81" d="100"/>
        </p:scale>
        <p:origin x="67" y="149"/>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9A9E8B-8668-4EE9-81CF-39121E276770}" type="datetimeFigureOut">
              <a:rPr lang="zh-CN" altLang="en-US" smtClean="0"/>
              <a:t>2024/4/30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c3ee45f3-b517-480f-89e6-dd6bab43df7b.source.default.zh-Hans</a:t>
            </a:r>
            <a:endParaRPr lang="zh-CN" altLang="en-US"/>
          </a:p>
        </p:txBody>
      </p:sp>
      <p:sp>
        <p:nvSpPr>
          <p:cNvPr id="4" name="灯片编号占位符 3"/>
          <p:cNvSpPr>
            <a:spLocks noGrp="1"/>
          </p:cNvSpPr>
          <p:nvPr>
            <p:ph type="sldNum" sz="quarter" idx="10"/>
          </p:nvPr>
        </p:nvSpPr>
        <p:spPr/>
        <p:txBody>
          <a:bodyPr/>
          <a:lstStyle/>
          <a:p>
            <a:fld id="{2B735503-9D21-443F-BC18-5459550EB72F}" type="slidenum">
              <a:rPr lang="zh-CN" altLang="en-US" smtClean="0"/>
              <a:t>8</a:t>
            </a:fld>
            <a:endParaRPr lang="zh-CN" altLang="en-US"/>
          </a:p>
        </p:txBody>
      </p:sp>
    </p:spTree>
    <p:extLst>
      <p:ext uri="{BB962C8B-B14F-4D97-AF65-F5344CB8AC3E}">
        <p14:creationId xmlns:p14="http://schemas.microsoft.com/office/powerpoint/2010/main" val="18955849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16" name="Group 15"/>
          <p:cNvGrpSpPr/>
          <p:nvPr/>
        </p:nvGrpSpPr>
        <p:grpSpPr>
          <a:xfrm>
            <a:off x="0" y="1588"/>
            <a:ext cx="7119937" cy="6854825"/>
            <a:chOff x="0" y="1588"/>
            <a:chExt cx="7119937" cy="6854825"/>
          </a:xfrm>
        </p:grpSpPr>
        <p:sp>
          <p:nvSpPr>
            <p:cNvPr id="12" name="Freeform: Shape 11"/>
            <p:cNvSpPr/>
            <p:nvPr/>
          </p:nvSpPr>
          <p:spPr bwMode="auto">
            <a:xfrm>
              <a:off x="5130799" y="1588"/>
              <a:ext cx="1989138" cy="6854825"/>
            </a:xfrm>
            <a:custGeom>
              <a:avLst/>
              <a:gdLst>
                <a:gd name="T0" fmla="*/ 7 w 1253"/>
                <a:gd name="T1" fmla="*/ 0 h 4318"/>
                <a:gd name="T2" fmla="*/ 0 w 1253"/>
                <a:gd name="T3" fmla="*/ 4 h 4318"/>
                <a:gd name="T4" fmla="*/ 1244 w 1253"/>
                <a:gd name="T5" fmla="*/ 2159 h 4318"/>
                <a:gd name="T6" fmla="*/ 0 w 1253"/>
                <a:gd name="T7" fmla="*/ 4314 h 4318"/>
                <a:gd name="T8" fmla="*/ 7 w 1253"/>
                <a:gd name="T9" fmla="*/ 4318 h 4318"/>
                <a:gd name="T10" fmla="*/ 1253 w 1253"/>
                <a:gd name="T11" fmla="*/ 2159 h 4318"/>
                <a:gd name="T12" fmla="*/ 7 w 1253"/>
                <a:gd name="T13" fmla="*/ 0 h 4318"/>
              </a:gdLst>
              <a:ahLst/>
              <a:cxnLst>
                <a:cxn ang="0">
                  <a:pos x="T0" y="T1"/>
                </a:cxn>
                <a:cxn ang="0">
                  <a:pos x="T2" y="T3"/>
                </a:cxn>
                <a:cxn ang="0">
                  <a:pos x="T4" y="T5"/>
                </a:cxn>
                <a:cxn ang="0">
                  <a:pos x="T6" y="T7"/>
                </a:cxn>
                <a:cxn ang="0">
                  <a:pos x="T8" y="T9"/>
                </a:cxn>
                <a:cxn ang="0">
                  <a:pos x="T10" y="T11"/>
                </a:cxn>
                <a:cxn ang="0">
                  <a:pos x="T12" y="T13"/>
                </a:cxn>
              </a:cxnLst>
              <a:rect l="0" t="0" r="r" b="b"/>
              <a:pathLst>
                <a:path w="1253" h="4318">
                  <a:moveTo>
                    <a:pt x="7" y="0"/>
                  </a:moveTo>
                  <a:lnTo>
                    <a:pt x="0" y="4"/>
                  </a:lnTo>
                  <a:lnTo>
                    <a:pt x="1244" y="2159"/>
                  </a:lnTo>
                  <a:lnTo>
                    <a:pt x="0" y="4314"/>
                  </a:lnTo>
                  <a:lnTo>
                    <a:pt x="7" y="4318"/>
                  </a:lnTo>
                  <a:lnTo>
                    <a:pt x="1253" y="2159"/>
                  </a:lnTo>
                  <a:lnTo>
                    <a:pt x="7" y="0"/>
                  </a:lnTo>
                  <a:close/>
                </a:path>
              </a:pathLst>
            </a:custGeom>
            <a:solidFill>
              <a:schemeClr val="accent1"/>
            </a:solidFill>
            <a:ln w="0">
              <a:solidFill>
                <a:schemeClr val="accent1"/>
              </a:solidFill>
            </a:ln>
          </p:spPr>
          <p:txBody>
            <a:bodyPr vert="horz" wrap="square" lIns="91440" tIns="45720" rIns="91440" bIns="45720" numCol="1" anchor="t" anchorCtr="0" compatLnSpc="1"/>
            <a:lstStyle/>
            <a:p>
              <a:endParaRPr lang="zh-CN" altLang="en-US"/>
            </a:p>
          </p:txBody>
        </p:sp>
        <p:sp>
          <p:nvSpPr>
            <p:cNvPr id="10" name="Freeform: Shape 9"/>
            <p:cNvSpPr>
              <a:spLocks noEditPoints="1"/>
            </p:cNvSpPr>
            <p:nvPr/>
          </p:nvSpPr>
          <p:spPr bwMode="auto">
            <a:xfrm>
              <a:off x="0" y="4763"/>
              <a:ext cx="6932613" cy="6848475"/>
            </a:xfrm>
            <a:custGeom>
              <a:avLst/>
              <a:gdLst>
                <a:gd name="T0" fmla="*/ 1 w 4367"/>
                <a:gd name="T1" fmla="*/ 0 h 4314"/>
                <a:gd name="T2" fmla="*/ 0 w 4367"/>
                <a:gd name="T3" fmla="*/ 0 h 4314"/>
                <a:gd name="T4" fmla="*/ 1 w 4367"/>
                <a:gd name="T5" fmla="*/ 0 h 4314"/>
                <a:gd name="T6" fmla="*/ 3122 w 4367"/>
                <a:gd name="T7" fmla="*/ 0 h 4314"/>
                <a:gd name="T8" fmla="*/ 1 w 4367"/>
                <a:gd name="T9" fmla="*/ 0 h 4314"/>
                <a:gd name="T10" fmla="*/ 1246 w 4367"/>
                <a:gd name="T11" fmla="*/ 2157 h 4314"/>
                <a:gd name="T12" fmla="*/ 1 w 4367"/>
                <a:gd name="T13" fmla="*/ 4314 h 4314"/>
                <a:gd name="T14" fmla="*/ 3122 w 4367"/>
                <a:gd name="T15" fmla="*/ 4314 h 4314"/>
                <a:gd name="T16" fmla="*/ 4367 w 4367"/>
                <a:gd name="T17" fmla="*/ 2157 h 4314"/>
                <a:gd name="T18" fmla="*/ 3122 w 4367"/>
                <a:gd name="T19" fmla="*/ 0 h 4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67" h="4314">
                  <a:moveTo>
                    <a:pt x="1" y="0"/>
                  </a:moveTo>
                  <a:lnTo>
                    <a:pt x="0" y="0"/>
                  </a:lnTo>
                  <a:lnTo>
                    <a:pt x="1" y="0"/>
                  </a:lnTo>
                  <a:close/>
                  <a:moveTo>
                    <a:pt x="3122" y="0"/>
                  </a:moveTo>
                  <a:lnTo>
                    <a:pt x="1" y="0"/>
                  </a:lnTo>
                  <a:lnTo>
                    <a:pt x="1246" y="2157"/>
                  </a:lnTo>
                  <a:lnTo>
                    <a:pt x="1" y="4314"/>
                  </a:lnTo>
                  <a:lnTo>
                    <a:pt x="3122" y="4314"/>
                  </a:lnTo>
                  <a:lnTo>
                    <a:pt x="4367" y="2157"/>
                  </a:lnTo>
                  <a:lnTo>
                    <a:pt x="3122" y="0"/>
                  </a:lnTo>
                  <a:close/>
                </a:path>
              </a:pathLst>
            </a:custGeom>
            <a:blipFill rotWithShape="0">
              <a:blip r:embed="rId2"/>
              <a:srcRect/>
              <a:stretch>
                <a:fillRect l="-46040" r="-26800"/>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lvl="0" algn="ctr"/>
              <a:endParaRPr lang="zh-CN" altLang="en-US">
                <a:solidFill>
                  <a:schemeClr val="lt1"/>
                </a:solidFill>
              </a:endParaRPr>
            </a:p>
          </p:txBody>
        </p:sp>
        <p:sp>
          <p:nvSpPr>
            <p:cNvPr id="14" name="Freeform: Shape 13"/>
            <p:cNvSpPr/>
            <p:nvPr/>
          </p:nvSpPr>
          <p:spPr bwMode="auto">
            <a:xfrm>
              <a:off x="0" y="1878013"/>
              <a:ext cx="895350" cy="3101975"/>
            </a:xfrm>
            <a:custGeom>
              <a:avLst/>
              <a:gdLst>
                <a:gd name="T0" fmla="*/ 0 w 564"/>
                <a:gd name="T1" fmla="*/ 0 h 1954"/>
                <a:gd name="T2" fmla="*/ 0 w 564"/>
                <a:gd name="T3" fmla="*/ 0 h 1954"/>
                <a:gd name="T4" fmla="*/ 0 w 564"/>
                <a:gd name="T5" fmla="*/ 1954 h 1954"/>
                <a:gd name="T6" fmla="*/ 564 w 564"/>
                <a:gd name="T7" fmla="*/ 977 h 1954"/>
                <a:gd name="T8" fmla="*/ 0 w 564"/>
                <a:gd name="T9" fmla="*/ 0 h 1954"/>
              </a:gdLst>
              <a:ahLst/>
              <a:cxnLst>
                <a:cxn ang="0">
                  <a:pos x="T0" y="T1"/>
                </a:cxn>
                <a:cxn ang="0">
                  <a:pos x="T2" y="T3"/>
                </a:cxn>
                <a:cxn ang="0">
                  <a:pos x="T4" y="T5"/>
                </a:cxn>
                <a:cxn ang="0">
                  <a:pos x="T6" y="T7"/>
                </a:cxn>
                <a:cxn ang="0">
                  <a:pos x="T8" y="T9"/>
                </a:cxn>
              </a:cxnLst>
              <a:rect l="0" t="0" r="r" b="b"/>
              <a:pathLst>
                <a:path w="564" h="1954">
                  <a:moveTo>
                    <a:pt x="0" y="0"/>
                  </a:moveTo>
                  <a:lnTo>
                    <a:pt x="0" y="0"/>
                  </a:lnTo>
                  <a:lnTo>
                    <a:pt x="0" y="1954"/>
                  </a:lnTo>
                  <a:lnTo>
                    <a:pt x="564" y="977"/>
                  </a:lnTo>
                  <a:lnTo>
                    <a:pt x="0"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
        <p:nvSpPr>
          <p:cNvPr id="5" name="Title 4"/>
          <p:cNvSpPr>
            <a:spLocks noGrp="1"/>
          </p:cNvSpPr>
          <p:nvPr>
            <p:ph type="ctrTitle" hasCustomPrompt="1"/>
          </p:nvPr>
        </p:nvSpPr>
        <p:spPr>
          <a:xfrm>
            <a:off x="7080250" y="1089025"/>
            <a:ext cx="4438649" cy="2234404"/>
          </a:xfrm>
          <a:prstGeom prst="rect">
            <a:avLst/>
          </a:prstGeom>
        </p:spPr>
        <p:txBody>
          <a:bodyPr wrap="square" anchor="b">
            <a:normAutofit/>
          </a:bodyPr>
          <a:lstStyle>
            <a:lvl1pPr algn="r">
              <a:lnSpc>
                <a:spcPct val="100000"/>
              </a:lnSpc>
              <a:defRPr sz="4400">
                <a:ln w="19050">
                  <a:noFill/>
                </a:ln>
                <a:solidFill>
                  <a:schemeClr val="tx1"/>
                </a:solidFill>
              </a:defRPr>
            </a:lvl1pPr>
          </a:lstStyle>
          <a:p>
            <a:pPr lvl="0"/>
            <a:r>
              <a:rPr lang="en-US"/>
              <a:t>Click to add title</a:t>
            </a:r>
          </a:p>
        </p:txBody>
      </p:sp>
      <p:sp>
        <p:nvSpPr>
          <p:cNvPr id="9" name="Subtitle 8"/>
          <p:cNvSpPr>
            <a:spLocks noGrp="1"/>
          </p:cNvSpPr>
          <p:nvPr>
            <p:ph type="subTitle" sz="quarter" idx="1" hasCustomPrompt="1"/>
          </p:nvPr>
        </p:nvSpPr>
        <p:spPr>
          <a:xfrm>
            <a:off x="7080250" y="3363579"/>
            <a:ext cx="4438649" cy="1728326"/>
          </a:xfrm>
          <a:prstGeom prst="roundRect">
            <a:avLst>
              <a:gd name="adj" fmla="val 0"/>
            </a:avLst>
          </a:prstGeom>
          <a:noFill/>
          <a:ln>
            <a:noFill/>
          </a:ln>
        </p:spPr>
        <p:txBody>
          <a:bodyPr vert="horz" wrap="square" lIns="91440" tIns="45720" rIns="91440" bIns="45720" rtlCol="0" anchor="t" anchorCtr="0">
            <a:normAutofit/>
          </a:bodyPr>
          <a:lstStyle>
            <a:lvl1pPr marL="0" indent="0" algn="r">
              <a:lnSpc>
                <a:spcPct val="100000"/>
              </a:lnSpc>
              <a:buNone/>
              <a:defRPr lang="en-US" sz="2000" dirty="0">
                <a:solidFill>
                  <a:schemeClr val="tx1"/>
                </a:solidFill>
                <a:latin typeface="+mj-lt"/>
              </a:defRPr>
            </a:lvl1pPr>
          </a:lstStyle>
          <a:p>
            <a:pPr lvl="0"/>
            <a:r>
              <a:rPr lang="en-US"/>
              <a:t>Click to add subtitle</a:t>
            </a:r>
          </a:p>
        </p:txBody>
      </p:sp>
      <p:sp>
        <p:nvSpPr>
          <p:cNvPr id="4" name="Text Placeholder 3"/>
          <p:cNvSpPr>
            <a:spLocks noGrp="1"/>
          </p:cNvSpPr>
          <p:nvPr>
            <p:ph type="body" sz="quarter" idx="13" hasCustomPrompt="1"/>
          </p:nvPr>
        </p:nvSpPr>
        <p:spPr>
          <a:xfrm>
            <a:off x="9817099" y="5857100"/>
            <a:ext cx="1701801" cy="276999"/>
          </a:xfrm>
          <a:prstGeom prst="rect">
            <a:avLst/>
          </a:prstGeom>
        </p:spPr>
        <p:txBody>
          <a:bodyPr wrap="square" lIns="90000">
            <a:normAutofit/>
          </a:bodyPr>
          <a:lstStyle>
            <a:lvl1pPr marL="0" indent="0" algn="r">
              <a:lnSpc>
                <a:spcPct val="100000"/>
              </a:lnSpc>
              <a:buNone/>
              <a:defRPr sz="1200"/>
            </a:lvl1pPr>
          </a:lstStyle>
          <a:p>
            <a:pPr lvl="0"/>
            <a:r>
              <a:rPr lang="en-US"/>
              <a:t>Presenter name</a:t>
            </a:r>
          </a:p>
        </p:txBody>
      </p:sp>
      <p:sp>
        <p:nvSpPr>
          <p:cNvPr id="7" name="Text Placeholder 6"/>
          <p:cNvSpPr>
            <a:spLocks noGrp="1"/>
          </p:cNvSpPr>
          <p:nvPr>
            <p:ph type="body" sz="quarter" idx="14" hasCustomPrompt="1"/>
          </p:nvPr>
        </p:nvSpPr>
        <p:spPr>
          <a:xfrm>
            <a:off x="8115298" y="5857101"/>
            <a:ext cx="1701801" cy="276999"/>
          </a:xfrm>
          <a:prstGeom prst="rect">
            <a:avLst/>
          </a:prstGeom>
        </p:spPr>
        <p:txBody>
          <a:bodyPr wrap="none">
            <a:normAutofit/>
          </a:bodyPr>
          <a:lstStyle>
            <a:lvl1pPr marL="0" indent="0" algn="r">
              <a:lnSpc>
                <a:spcPct val="100000"/>
              </a:lnSpc>
              <a:buNone/>
              <a:defRPr sz="1200"/>
            </a:lvl1pPr>
          </a:lstStyle>
          <a:p>
            <a:pPr lvl="0"/>
            <a:r>
              <a:rPr lang="en-US"/>
              <a:t>www.officeplus.cn</a:t>
            </a:r>
          </a:p>
        </p:txBody>
      </p:sp>
      <p:sp>
        <p:nvSpPr>
          <p:cNvPr id="11" name="Freeform: Shape 10"/>
          <p:cNvSpPr>
            <a:spLocks noEditPoints="1"/>
          </p:cNvSpPr>
          <p:nvPr/>
        </p:nvSpPr>
        <p:spPr bwMode="auto">
          <a:xfrm>
            <a:off x="2509838" y="4763"/>
            <a:ext cx="6932613" cy="6848475"/>
          </a:xfrm>
          <a:custGeom>
            <a:avLst/>
            <a:gdLst>
              <a:gd name="T0" fmla="*/ 1 w 4367"/>
              <a:gd name="T1" fmla="*/ 0 h 4314"/>
              <a:gd name="T2" fmla="*/ 0 w 4367"/>
              <a:gd name="T3" fmla="*/ 0 h 4314"/>
              <a:gd name="T4" fmla="*/ 1 w 4367"/>
              <a:gd name="T5" fmla="*/ 0 h 4314"/>
              <a:gd name="T6" fmla="*/ 3122 w 4367"/>
              <a:gd name="T7" fmla="*/ 0 h 4314"/>
              <a:gd name="T8" fmla="*/ 1 w 4367"/>
              <a:gd name="T9" fmla="*/ 0 h 4314"/>
              <a:gd name="T10" fmla="*/ 1246 w 4367"/>
              <a:gd name="T11" fmla="*/ 2157 h 4314"/>
              <a:gd name="T12" fmla="*/ 1 w 4367"/>
              <a:gd name="T13" fmla="*/ 4314 h 4314"/>
              <a:gd name="T14" fmla="*/ 3122 w 4367"/>
              <a:gd name="T15" fmla="*/ 4314 h 4314"/>
              <a:gd name="T16" fmla="*/ 4367 w 4367"/>
              <a:gd name="T17" fmla="*/ 2157 h 4314"/>
              <a:gd name="T18" fmla="*/ 3122 w 4367"/>
              <a:gd name="T19" fmla="*/ 0 h 4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67" h="4314">
                <a:moveTo>
                  <a:pt x="1" y="0"/>
                </a:moveTo>
                <a:lnTo>
                  <a:pt x="0" y="0"/>
                </a:lnTo>
                <a:lnTo>
                  <a:pt x="1" y="0"/>
                </a:lnTo>
                <a:moveTo>
                  <a:pt x="3122" y="0"/>
                </a:moveTo>
                <a:lnTo>
                  <a:pt x="1" y="0"/>
                </a:lnTo>
                <a:lnTo>
                  <a:pt x="1246" y="2157"/>
                </a:lnTo>
                <a:lnTo>
                  <a:pt x="1" y="4314"/>
                </a:lnTo>
                <a:lnTo>
                  <a:pt x="3122" y="4314"/>
                </a:lnTo>
                <a:lnTo>
                  <a:pt x="4367" y="2157"/>
                </a:lnTo>
                <a:lnTo>
                  <a:pt x="312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p:cNvSpPr>
            <a:spLocks noGrp="1"/>
          </p:cNvSpPr>
          <p:nvPr>
            <p:ph type="title" hasCustomPrompt="1"/>
          </p:nvPr>
        </p:nvSpPr>
        <p:spPr>
          <a:xfrm>
            <a:off x="660400" y="0"/>
            <a:ext cx="10858500" cy="1028700"/>
          </a:xfrm>
          <a:prstGeom prst="rect">
            <a:avLst/>
          </a:prstGeom>
        </p:spPr>
        <p:txBody>
          <a:bodyPr anchor="b" anchorCtr="0">
            <a:normAutofit/>
          </a:bodyPr>
          <a:lstStyle>
            <a:lvl1pPr>
              <a:lnSpc>
                <a:spcPct val="100000"/>
              </a:lnSpc>
              <a:defRPr>
                <a:solidFill>
                  <a:schemeClr val="tx1"/>
                </a:solidFill>
              </a:defRPr>
            </a:lvl1pPr>
          </a:lstStyle>
          <a:p>
            <a:pPr lvl="0"/>
            <a:r>
              <a:rPr lang="en-US" dirty="0"/>
              <a:t>Click to add title</a:t>
            </a:r>
          </a:p>
        </p:txBody>
      </p:sp>
      <p:sp>
        <p:nvSpPr>
          <p:cNvPr id="8" name="Content Placeholder 7"/>
          <p:cNvSpPr>
            <a:spLocks noGrp="1"/>
          </p:cNvSpPr>
          <p:nvPr>
            <p:ph idx="1" hasCustomPrompt="1"/>
          </p:nvPr>
        </p:nvSpPr>
        <p:spPr>
          <a:xfrm>
            <a:off x="660400" y="1092200"/>
            <a:ext cx="10858500" cy="5041900"/>
          </a:xfrm>
          <a:prstGeom prst="rect">
            <a:avLst/>
          </a:prstGeom>
        </p:spPr>
        <p:txBody>
          <a:bodyPr vert="horz" lIns="91440" tIns="45720" rIns="91440" bIns="45720" rtlCol="0">
            <a:normAutofit/>
          </a:bodyPr>
          <a:lstStyle>
            <a:lvl1pPr marL="285750" indent="-285750">
              <a:buFont typeface="Arial" panose="020B0604020202020204" pitchFamily="34" charset="0"/>
              <a:buChar char="•"/>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657350" indent="-285750">
              <a:buFont typeface="Arial" panose="020B0604020202020204" pitchFamily="34" charset="0"/>
              <a:buChar char="•"/>
              <a:defRPr/>
            </a:lvl4pPr>
            <a:lvl5pPr marL="2114550" indent="-285750">
              <a:buFont typeface="Arial" panose="020B0604020202020204" pitchFamily="34" charset="0"/>
              <a:buChar char="•"/>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10"/>
          </p:nvPr>
        </p:nvSpPr>
        <p:spPr/>
        <p:txBody>
          <a:bodyPr/>
          <a:lstStyle/>
          <a:p>
            <a:fld id="{0D3978B1-822A-48DD-9412-1B7D6807ED91}" type="datetime1">
              <a:rPr lang="zh-CN" altLang="en-US" smtClean="0"/>
              <a:t>2024/4/30</a:t>
            </a:fld>
            <a:endParaRPr lang="zh-CN" altLang="en-US"/>
          </a:p>
        </p:txBody>
      </p:sp>
      <p:sp>
        <p:nvSpPr>
          <p:cNvPr id="3" name="Footer Placeholder 2"/>
          <p:cNvSpPr>
            <a:spLocks noGrp="1"/>
          </p:cNvSpPr>
          <p:nvPr>
            <p:ph type="ftr" sz="quarter" idx="11"/>
          </p:nvPr>
        </p:nvSpPr>
        <p:spPr/>
        <p:txBody>
          <a:bodyPr/>
          <a:lstStyle/>
          <a:p>
            <a:r>
              <a:rPr lang="en-US" altLang="zh-CN"/>
              <a:t>OfficePLUS</a:t>
            </a:r>
            <a:endParaRPr lang="zh-CN" altLang="en-US"/>
          </a:p>
        </p:txBody>
      </p:sp>
      <p:sp>
        <p:nvSpPr>
          <p:cNvPr id="4" name="Slide Number Placeholder 3"/>
          <p:cNvSpPr>
            <a:spLocks noGrp="1"/>
          </p:cNvSpPr>
          <p:nvPr>
            <p:ph type="sldNum" sz="quarter" idx="12"/>
          </p:nvPr>
        </p:nvSpPr>
        <p:spPr/>
        <p:txBody>
          <a:bodyPr/>
          <a:lstStyle/>
          <a:p>
            <a:fld id="{7F65B630-C7FF-41C0-9923-C5E5E29EED81}"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Pr>
        <a:gradFill>
          <a:gsLst>
            <a:gs pos="0">
              <a:schemeClr val="accent1">
                <a:lumMod val="75000"/>
              </a:schemeClr>
            </a:gs>
            <a:gs pos="100000">
              <a:schemeClr val="accent1">
                <a:alpha val="90000"/>
              </a:schemeClr>
            </a:gs>
          </a:gsLst>
          <a:lin ang="2700000" scaled="1"/>
        </a:gradFill>
        <a:effectLst/>
      </p:bgPr>
    </p:bg>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60400" y="1500188"/>
            <a:ext cx="2836800" cy="914400"/>
          </a:xfrm>
          <a:prstGeom prst="rect">
            <a:avLst/>
          </a:prstGeom>
        </p:spPr>
        <p:txBody>
          <a:bodyPr wrap="none" anchor="t">
            <a:normAutofit/>
          </a:bodyPr>
          <a:lstStyle>
            <a:lvl1pPr algn="r">
              <a:lnSpc>
                <a:spcPct val="100000"/>
              </a:lnSpc>
              <a:defRPr sz="2800"/>
            </a:lvl1pPr>
          </a:lstStyle>
          <a:p>
            <a:pPr lvl="0"/>
            <a:r>
              <a:rPr lang="en-US"/>
              <a:t>Agenda</a:t>
            </a:r>
          </a:p>
        </p:txBody>
      </p:sp>
      <p:sp>
        <p:nvSpPr>
          <p:cNvPr id="11" name="Content Placeholder 10"/>
          <p:cNvSpPr>
            <a:spLocks noGrp="1"/>
          </p:cNvSpPr>
          <p:nvPr>
            <p:ph sz="quarter" idx="1" hasCustomPrompt="1"/>
          </p:nvPr>
        </p:nvSpPr>
        <p:spPr>
          <a:xfrm>
            <a:off x="3746500" y="1500187"/>
            <a:ext cx="7772400" cy="4633200"/>
          </a:xfrm>
          <a:prstGeom prst="rect">
            <a:avLst/>
          </a:prstGeom>
        </p:spPr>
        <p:txBody>
          <a:bodyPr wrap="square">
            <a:normAutofit/>
          </a:bodyPr>
          <a:lstStyle>
            <a:lvl1pPr marL="457200" indent="-457200">
              <a:lnSpc>
                <a:spcPct val="130000"/>
              </a:lnSpc>
              <a:buFont typeface="+mj-lt"/>
              <a:buAutoNum type="arabicPeriod"/>
              <a:defRPr sz="2400" b="0">
                <a:solidFill>
                  <a:schemeClr val="tx1"/>
                </a:solidFill>
                <a:latin typeface="+mn-lt"/>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2A27A813-B2FD-42E1-9222-83B574E99074}" type="datetime1">
              <a:rPr lang="zh-CN" altLang="en-US" smtClean="0"/>
              <a:t>2024/4/30</a:t>
            </a:fld>
            <a:endParaRPr lang="en-US" altLang="zh-CN"/>
          </a:p>
        </p:txBody>
      </p:sp>
      <p:sp>
        <p:nvSpPr>
          <p:cNvPr id="3" name="Footer Placeholder 2"/>
          <p:cNvSpPr>
            <a:spLocks noGrp="1"/>
          </p:cNvSpPr>
          <p:nvPr>
            <p:ph type="ftr" sz="quarter" idx="11"/>
          </p:nvPr>
        </p:nvSpPr>
        <p:spPr/>
        <p:txBody>
          <a:bodyPr/>
          <a:lstStyle/>
          <a:p>
            <a:r>
              <a:rPr lang="en-US" altLang="zh-CN"/>
              <a:t>OfficePLUS</a:t>
            </a:r>
            <a:endParaRPr lang="zh-CN" altLang="en-US"/>
          </a:p>
        </p:txBody>
      </p:sp>
      <p:sp>
        <p:nvSpPr>
          <p:cNvPr id="4" name="Slide Number Placeholder 3"/>
          <p:cNvSpPr>
            <a:spLocks noGrp="1"/>
          </p:cNvSpPr>
          <p:nvPr>
            <p:ph type="sldNum" sz="quarter" idx="12"/>
          </p:nvPr>
        </p:nvSpPr>
        <p:spPr/>
        <p:txBody>
          <a:bodyPr/>
          <a:lstStyle/>
          <a:p>
            <a:fld id="{7F65B630-C7FF-41C0-9923-C5E5E29EED81}" type="slidenum">
              <a:rPr lang="en-US" altLang="zh-CN" smtClean="0"/>
              <a:t>‹#›</a:t>
            </a:fld>
            <a:endParaRPr lang="en-US" altLang="zh-CN"/>
          </a:p>
        </p:txBody>
      </p:sp>
      <p:grpSp>
        <p:nvGrpSpPr>
          <p:cNvPr id="9" name="Group 8"/>
          <p:cNvGrpSpPr/>
          <p:nvPr/>
        </p:nvGrpSpPr>
        <p:grpSpPr>
          <a:xfrm>
            <a:off x="2626456" y="1500188"/>
            <a:ext cx="994563" cy="4634686"/>
            <a:chOff x="2626456" y="1500188"/>
            <a:chExt cx="994563" cy="4634686"/>
          </a:xfrm>
        </p:grpSpPr>
        <p:cxnSp>
          <p:nvCxnSpPr>
            <p:cNvPr id="10" name="Straight Connector 9"/>
            <p:cNvCxnSpPr/>
            <p:nvPr/>
          </p:nvCxnSpPr>
          <p:spPr>
            <a:xfrm>
              <a:off x="3621019" y="1500188"/>
              <a:ext cx="0" cy="4633913"/>
            </a:xfrm>
            <a:prstGeom prst="line">
              <a:avLst/>
            </a:prstGeom>
            <a:solidFill>
              <a:srgbClr val="FFCC00"/>
            </a:solidFill>
            <a:ln w="3175" cap="flat" cmpd="sng" algn="ctr">
              <a:solidFill>
                <a:schemeClr val="tx1">
                  <a:alpha val="50000"/>
                </a:schemeClr>
              </a:solidFill>
              <a:prstDash val="solid"/>
              <a:round/>
              <a:headEnd type="none" w="med" len="med"/>
              <a:tailEnd type="none" w="med" len="med"/>
            </a:ln>
            <a:effectLst/>
          </p:spPr>
        </p:cxnSp>
        <p:sp>
          <p:nvSpPr>
            <p:cNvPr id="12" name="Freeform: Shape 11"/>
            <p:cNvSpPr>
              <a:spLocks noChangeAspect="1"/>
            </p:cNvSpPr>
            <p:nvPr/>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1">
                <a:alpha val="15000"/>
              </a:schemeClr>
            </a:solidFill>
            <a:ln>
              <a:noFill/>
            </a:ln>
          </p:spPr>
          <p:txBody>
            <a:bodyPr/>
            <a:lstStyle/>
            <a:p>
              <a:endParaRPr lang="zh-CN" altLang="en-US">
                <a:cs typeface="+mn-ea"/>
                <a:sym typeface="+mn-lt"/>
              </a:endParaRPr>
            </a:p>
          </p:txBody>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2" name="Group 1"/>
          <p:cNvGrpSpPr/>
          <p:nvPr/>
        </p:nvGrpSpPr>
        <p:grpSpPr>
          <a:xfrm flipH="1">
            <a:off x="5072063" y="1588"/>
            <a:ext cx="7119937" cy="6854825"/>
            <a:chOff x="0" y="1588"/>
            <a:chExt cx="7119937" cy="6854825"/>
          </a:xfrm>
        </p:grpSpPr>
        <p:sp>
          <p:nvSpPr>
            <p:cNvPr id="3" name="Freeform: Shape 2"/>
            <p:cNvSpPr/>
            <p:nvPr/>
          </p:nvSpPr>
          <p:spPr bwMode="auto">
            <a:xfrm>
              <a:off x="5130799" y="1588"/>
              <a:ext cx="1989138" cy="6854825"/>
            </a:xfrm>
            <a:custGeom>
              <a:avLst/>
              <a:gdLst>
                <a:gd name="T0" fmla="*/ 7 w 1253"/>
                <a:gd name="T1" fmla="*/ 0 h 4318"/>
                <a:gd name="T2" fmla="*/ 0 w 1253"/>
                <a:gd name="T3" fmla="*/ 4 h 4318"/>
                <a:gd name="T4" fmla="*/ 1244 w 1253"/>
                <a:gd name="T5" fmla="*/ 2159 h 4318"/>
                <a:gd name="T6" fmla="*/ 0 w 1253"/>
                <a:gd name="T7" fmla="*/ 4314 h 4318"/>
                <a:gd name="T8" fmla="*/ 7 w 1253"/>
                <a:gd name="T9" fmla="*/ 4318 h 4318"/>
                <a:gd name="T10" fmla="*/ 1253 w 1253"/>
                <a:gd name="T11" fmla="*/ 2159 h 4318"/>
                <a:gd name="T12" fmla="*/ 7 w 1253"/>
                <a:gd name="T13" fmla="*/ 0 h 4318"/>
              </a:gdLst>
              <a:ahLst/>
              <a:cxnLst>
                <a:cxn ang="0">
                  <a:pos x="T0" y="T1"/>
                </a:cxn>
                <a:cxn ang="0">
                  <a:pos x="T2" y="T3"/>
                </a:cxn>
                <a:cxn ang="0">
                  <a:pos x="T4" y="T5"/>
                </a:cxn>
                <a:cxn ang="0">
                  <a:pos x="T6" y="T7"/>
                </a:cxn>
                <a:cxn ang="0">
                  <a:pos x="T8" y="T9"/>
                </a:cxn>
                <a:cxn ang="0">
                  <a:pos x="T10" y="T11"/>
                </a:cxn>
                <a:cxn ang="0">
                  <a:pos x="T12" y="T13"/>
                </a:cxn>
              </a:cxnLst>
              <a:rect l="0" t="0" r="r" b="b"/>
              <a:pathLst>
                <a:path w="1253" h="4318">
                  <a:moveTo>
                    <a:pt x="7" y="0"/>
                  </a:moveTo>
                  <a:lnTo>
                    <a:pt x="0" y="4"/>
                  </a:lnTo>
                  <a:lnTo>
                    <a:pt x="1244" y="2159"/>
                  </a:lnTo>
                  <a:lnTo>
                    <a:pt x="0" y="4314"/>
                  </a:lnTo>
                  <a:lnTo>
                    <a:pt x="7" y="4318"/>
                  </a:lnTo>
                  <a:lnTo>
                    <a:pt x="1253" y="2159"/>
                  </a:lnTo>
                  <a:lnTo>
                    <a:pt x="7" y="0"/>
                  </a:lnTo>
                  <a:close/>
                </a:path>
              </a:pathLst>
            </a:custGeom>
            <a:solidFill>
              <a:schemeClr val="accent1"/>
            </a:solidFill>
            <a:ln w="0">
              <a:solidFill>
                <a:schemeClr val="accent1"/>
              </a:solidFill>
            </a:ln>
          </p:spPr>
          <p:txBody>
            <a:bodyPr vert="horz" wrap="square" lIns="91440" tIns="45720" rIns="91440" bIns="45720" numCol="1" anchor="t" anchorCtr="0" compatLnSpc="1"/>
            <a:lstStyle/>
            <a:p>
              <a:endParaRPr lang="zh-CN" altLang="en-US"/>
            </a:p>
          </p:txBody>
        </p:sp>
        <p:sp>
          <p:nvSpPr>
            <p:cNvPr id="7" name="Freeform: Shape 6"/>
            <p:cNvSpPr>
              <a:spLocks noEditPoints="1"/>
            </p:cNvSpPr>
            <p:nvPr/>
          </p:nvSpPr>
          <p:spPr bwMode="auto">
            <a:xfrm>
              <a:off x="0" y="4763"/>
              <a:ext cx="6932613" cy="6848475"/>
            </a:xfrm>
            <a:custGeom>
              <a:avLst/>
              <a:gdLst>
                <a:gd name="T0" fmla="*/ 1 w 4367"/>
                <a:gd name="T1" fmla="*/ 0 h 4314"/>
                <a:gd name="T2" fmla="*/ 0 w 4367"/>
                <a:gd name="T3" fmla="*/ 0 h 4314"/>
                <a:gd name="T4" fmla="*/ 1 w 4367"/>
                <a:gd name="T5" fmla="*/ 0 h 4314"/>
                <a:gd name="T6" fmla="*/ 3122 w 4367"/>
                <a:gd name="T7" fmla="*/ 0 h 4314"/>
                <a:gd name="T8" fmla="*/ 1 w 4367"/>
                <a:gd name="T9" fmla="*/ 0 h 4314"/>
                <a:gd name="T10" fmla="*/ 1246 w 4367"/>
                <a:gd name="T11" fmla="*/ 2157 h 4314"/>
                <a:gd name="T12" fmla="*/ 1 w 4367"/>
                <a:gd name="T13" fmla="*/ 4314 h 4314"/>
                <a:gd name="T14" fmla="*/ 3122 w 4367"/>
                <a:gd name="T15" fmla="*/ 4314 h 4314"/>
                <a:gd name="T16" fmla="*/ 4367 w 4367"/>
                <a:gd name="T17" fmla="*/ 2157 h 4314"/>
                <a:gd name="T18" fmla="*/ 3122 w 4367"/>
                <a:gd name="T19" fmla="*/ 0 h 4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67" h="4314">
                  <a:moveTo>
                    <a:pt x="1" y="0"/>
                  </a:moveTo>
                  <a:lnTo>
                    <a:pt x="0" y="0"/>
                  </a:lnTo>
                  <a:lnTo>
                    <a:pt x="1" y="0"/>
                  </a:lnTo>
                  <a:close/>
                  <a:moveTo>
                    <a:pt x="3122" y="0"/>
                  </a:moveTo>
                  <a:lnTo>
                    <a:pt x="1" y="0"/>
                  </a:lnTo>
                  <a:lnTo>
                    <a:pt x="1246" y="2157"/>
                  </a:lnTo>
                  <a:lnTo>
                    <a:pt x="1" y="4314"/>
                  </a:lnTo>
                  <a:lnTo>
                    <a:pt x="3122" y="4314"/>
                  </a:lnTo>
                  <a:lnTo>
                    <a:pt x="4367" y="2157"/>
                  </a:lnTo>
                  <a:lnTo>
                    <a:pt x="3122" y="0"/>
                  </a:lnTo>
                  <a:close/>
                </a:path>
              </a:pathLst>
            </a:custGeom>
            <a:blipFill rotWithShape="0">
              <a:blip r:embed="rId2"/>
              <a:srcRect/>
              <a:stretch>
                <a:fillRect l="-46040" r="-26800"/>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lvl="0" algn="ctr"/>
              <a:endParaRPr lang="zh-CN" altLang="en-US">
                <a:solidFill>
                  <a:schemeClr val="lt1"/>
                </a:solidFill>
              </a:endParaRPr>
            </a:p>
          </p:txBody>
        </p:sp>
        <p:sp>
          <p:nvSpPr>
            <p:cNvPr id="9" name="Freeform: Shape 8"/>
            <p:cNvSpPr/>
            <p:nvPr/>
          </p:nvSpPr>
          <p:spPr bwMode="auto">
            <a:xfrm>
              <a:off x="0" y="1878013"/>
              <a:ext cx="895350" cy="3101975"/>
            </a:xfrm>
            <a:custGeom>
              <a:avLst/>
              <a:gdLst>
                <a:gd name="T0" fmla="*/ 0 w 564"/>
                <a:gd name="T1" fmla="*/ 0 h 1954"/>
                <a:gd name="T2" fmla="*/ 0 w 564"/>
                <a:gd name="T3" fmla="*/ 0 h 1954"/>
                <a:gd name="T4" fmla="*/ 0 w 564"/>
                <a:gd name="T5" fmla="*/ 1954 h 1954"/>
                <a:gd name="T6" fmla="*/ 564 w 564"/>
                <a:gd name="T7" fmla="*/ 977 h 1954"/>
                <a:gd name="T8" fmla="*/ 0 w 564"/>
                <a:gd name="T9" fmla="*/ 0 h 1954"/>
              </a:gdLst>
              <a:ahLst/>
              <a:cxnLst>
                <a:cxn ang="0">
                  <a:pos x="T0" y="T1"/>
                </a:cxn>
                <a:cxn ang="0">
                  <a:pos x="T2" y="T3"/>
                </a:cxn>
                <a:cxn ang="0">
                  <a:pos x="T4" y="T5"/>
                </a:cxn>
                <a:cxn ang="0">
                  <a:pos x="T6" y="T7"/>
                </a:cxn>
                <a:cxn ang="0">
                  <a:pos x="T8" y="T9"/>
                </a:cxn>
              </a:cxnLst>
              <a:rect l="0" t="0" r="r" b="b"/>
              <a:pathLst>
                <a:path w="564" h="1954">
                  <a:moveTo>
                    <a:pt x="0" y="0"/>
                  </a:moveTo>
                  <a:lnTo>
                    <a:pt x="0" y="0"/>
                  </a:lnTo>
                  <a:lnTo>
                    <a:pt x="0" y="1954"/>
                  </a:lnTo>
                  <a:lnTo>
                    <a:pt x="564" y="977"/>
                  </a:lnTo>
                  <a:lnTo>
                    <a:pt x="0"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
        <p:nvSpPr>
          <p:cNvPr id="5" name="Title 4"/>
          <p:cNvSpPr>
            <a:spLocks noGrp="1"/>
          </p:cNvSpPr>
          <p:nvPr>
            <p:ph type="title" hasCustomPrompt="1"/>
          </p:nvPr>
        </p:nvSpPr>
        <p:spPr>
          <a:xfrm>
            <a:off x="660400" y="1878013"/>
            <a:ext cx="4411663" cy="1550987"/>
          </a:xfrm>
          <a:prstGeom prst="rect">
            <a:avLst/>
          </a:prstGeom>
        </p:spPr>
        <p:txBody>
          <a:bodyPr>
            <a:normAutofit/>
          </a:bodyPr>
          <a:lstStyle>
            <a:lvl1pPr algn="l">
              <a:lnSpc>
                <a:spcPct val="100000"/>
              </a:lnSpc>
              <a:defRPr sz="3200"/>
            </a:lvl1pPr>
          </a:lstStyle>
          <a:p>
            <a:pPr lvl="0"/>
            <a:r>
              <a:rPr lang="en-US"/>
              <a:t>Click to add title</a:t>
            </a:r>
          </a:p>
        </p:txBody>
      </p:sp>
      <p:sp>
        <p:nvSpPr>
          <p:cNvPr id="25" name="Text Placeholder 24"/>
          <p:cNvSpPr>
            <a:spLocks noGrp="1"/>
          </p:cNvSpPr>
          <p:nvPr>
            <p:ph type="body" sz="quarter" idx="1" hasCustomPrompt="1"/>
          </p:nvPr>
        </p:nvSpPr>
        <p:spPr>
          <a:xfrm>
            <a:off x="660400" y="3440854"/>
            <a:ext cx="4411663" cy="2370011"/>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en-US"/>
              <a:t>Click to add text</a:t>
            </a:r>
          </a:p>
        </p:txBody>
      </p:sp>
      <p:sp>
        <p:nvSpPr>
          <p:cNvPr id="4" name="Date Placeholder 3"/>
          <p:cNvSpPr>
            <a:spLocks noGrp="1"/>
          </p:cNvSpPr>
          <p:nvPr>
            <p:ph type="dt" sz="half" idx="10"/>
          </p:nvPr>
        </p:nvSpPr>
        <p:spPr/>
        <p:txBody>
          <a:bodyPr/>
          <a:lstStyle/>
          <a:p>
            <a:fld id="{2A27A813-B2FD-42E1-9222-83B574E99074}" type="datetime1">
              <a:rPr lang="zh-CN" altLang="en-US" smtClean="0"/>
              <a:t>2024/4/30</a:t>
            </a:fld>
            <a:endParaRPr lang="en-US" altLang="zh-CN"/>
          </a:p>
        </p:txBody>
      </p:sp>
      <p:sp>
        <p:nvSpPr>
          <p:cNvPr id="6" name="Footer Placeholder 5"/>
          <p:cNvSpPr>
            <a:spLocks noGrp="1"/>
          </p:cNvSpPr>
          <p:nvPr>
            <p:ph type="ftr" sz="quarter" idx="11"/>
          </p:nvPr>
        </p:nvSpPr>
        <p:spPr/>
        <p:txBody>
          <a:bodyPr/>
          <a:lstStyle/>
          <a:p>
            <a:r>
              <a:rPr lang="en-US" altLang="zh-CN"/>
              <a:t>OfficePLUS</a:t>
            </a:r>
            <a:endParaRPr lang="zh-CN" altLang="en-US"/>
          </a:p>
        </p:txBody>
      </p:sp>
      <p:sp>
        <p:nvSpPr>
          <p:cNvPr id="8" name="Slide Number Placeholder 7"/>
          <p:cNvSpPr>
            <a:spLocks noGrp="1"/>
          </p:cNvSpPr>
          <p:nvPr>
            <p:ph type="sldNum" sz="quarter" idx="12"/>
          </p:nvPr>
        </p:nvSpPr>
        <p:spPr/>
        <p:txBody>
          <a:bodyPr/>
          <a:lstStyle/>
          <a:p>
            <a:fld id="{7F65B630-C7FF-41C0-9923-C5E5E29EED81}" type="slidenum">
              <a:rPr lang="en-US" altLang="zh-CN" smtClean="0"/>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60399" y="0"/>
            <a:ext cx="10858500" cy="1028700"/>
          </a:xfrm>
          <a:prstGeom prst="rect">
            <a:avLst/>
          </a:prstGeom>
        </p:spPr>
        <p:txBody>
          <a:bodyPr anchor="b" anchorCtr="0">
            <a:normAutofit/>
          </a:bodyPr>
          <a:lstStyle>
            <a:lvl1pPr>
              <a:lnSpc>
                <a:spcPct val="100000"/>
              </a:lnSpc>
              <a:defRPr>
                <a:solidFill>
                  <a:schemeClr val="tx1"/>
                </a:solidFill>
              </a:defRPr>
            </a:lvl1pPr>
          </a:lstStyle>
          <a:p>
            <a:pPr lvl="0"/>
            <a:r>
              <a:rPr lang="en-US" dirty="0"/>
              <a:t>Click to add title</a:t>
            </a:r>
          </a:p>
        </p:txBody>
      </p:sp>
      <p:sp>
        <p:nvSpPr>
          <p:cNvPr id="2" name="Date Placeholder 1"/>
          <p:cNvSpPr>
            <a:spLocks noGrp="1"/>
          </p:cNvSpPr>
          <p:nvPr>
            <p:ph type="dt" sz="half" idx="10"/>
          </p:nvPr>
        </p:nvSpPr>
        <p:spPr/>
        <p:txBody>
          <a:bodyPr/>
          <a:lstStyle/>
          <a:p>
            <a:fld id="{A9643B38-FCD2-4D0A-90BC-740ACC77290F}" type="datetime1">
              <a:rPr lang="zh-CN" altLang="en-US" smtClean="0"/>
              <a:t>2024/4/30</a:t>
            </a:fld>
            <a:endParaRPr lang="zh-CN" altLang="en-US"/>
          </a:p>
        </p:txBody>
      </p:sp>
      <p:sp>
        <p:nvSpPr>
          <p:cNvPr id="3" name="Footer Placeholder 2"/>
          <p:cNvSpPr>
            <a:spLocks noGrp="1"/>
          </p:cNvSpPr>
          <p:nvPr>
            <p:ph type="ftr" sz="quarter" idx="11"/>
          </p:nvPr>
        </p:nvSpPr>
        <p:spPr/>
        <p:txBody>
          <a:bodyPr/>
          <a:lstStyle/>
          <a:p>
            <a:r>
              <a:rPr lang="en-US" altLang="zh-CN"/>
              <a:t>OfficePLUS</a:t>
            </a:r>
            <a:endParaRPr lang="zh-CN" altLang="en-US"/>
          </a:p>
        </p:txBody>
      </p:sp>
      <p:sp>
        <p:nvSpPr>
          <p:cNvPr id="4" name="Slide Number Placeholder 3"/>
          <p:cNvSpPr>
            <a:spLocks noGrp="1"/>
          </p:cNvSpPr>
          <p:nvPr>
            <p:ph type="sldNum" sz="quarter" idx="12"/>
          </p:nvPr>
        </p:nvSpPr>
        <p:spPr/>
        <p:txBody>
          <a:bodyPr/>
          <a:lstStyle/>
          <a:p>
            <a:fld id="{7F65B630-C7FF-41C0-9923-C5E5E29EED81}"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83D36A-0885-4071-9EF1-0FE4286E17CF}" type="datetime1">
              <a:rPr lang="zh-CN" altLang="en-US" smtClean="0"/>
              <a:t>2024/4/30</a:t>
            </a:fld>
            <a:endParaRPr lang="en-US"/>
          </a:p>
        </p:txBody>
      </p:sp>
      <p:sp>
        <p:nvSpPr>
          <p:cNvPr id="3" name="Footer Placeholder 2"/>
          <p:cNvSpPr>
            <a:spLocks noGrp="1"/>
          </p:cNvSpPr>
          <p:nvPr>
            <p:ph type="ftr" sz="quarter" idx="11"/>
          </p:nvPr>
        </p:nvSpPr>
        <p:spPr/>
        <p:txBody>
          <a:bodyPr/>
          <a:lstStyle/>
          <a:p>
            <a:r>
              <a:rPr lang="en-US"/>
              <a:t>OfficePLUS</a:t>
            </a:r>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losing">
    <p:bg>
      <p:bgPr>
        <a:solidFill>
          <a:schemeClr val="accent1">
            <a:lumMod val="20000"/>
            <a:lumOff val="80000"/>
          </a:schemeClr>
        </a:solidFill>
        <a:effectLst/>
      </p:bgPr>
    </p:bg>
    <p:spTree>
      <p:nvGrpSpPr>
        <p:cNvPr id="1" name=""/>
        <p:cNvGrpSpPr/>
        <p:nvPr/>
      </p:nvGrpSpPr>
      <p:grpSpPr>
        <a:xfrm>
          <a:off x="0" y="0"/>
          <a:ext cx="0" cy="0"/>
          <a:chOff x="0" y="0"/>
          <a:chExt cx="0" cy="0"/>
        </a:xfrm>
      </p:grpSpPr>
      <p:grpSp>
        <p:nvGrpSpPr>
          <p:cNvPr id="2" name="Group 1"/>
          <p:cNvGrpSpPr/>
          <p:nvPr/>
        </p:nvGrpSpPr>
        <p:grpSpPr>
          <a:xfrm>
            <a:off x="0" y="1588"/>
            <a:ext cx="7119937" cy="6854825"/>
            <a:chOff x="0" y="1588"/>
            <a:chExt cx="7119937" cy="6854825"/>
          </a:xfrm>
        </p:grpSpPr>
        <p:sp>
          <p:nvSpPr>
            <p:cNvPr id="3" name="Freeform: Shape 2"/>
            <p:cNvSpPr/>
            <p:nvPr/>
          </p:nvSpPr>
          <p:spPr bwMode="auto">
            <a:xfrm>
              <a:off x="5130799" y="1588"/>
              <a:ext cx="1989138" cy="6854825"/>
            </a:xfrm>
            <a:custGeom>
              <a:avLst/>
              <a:gdLst>
                <a:gd name="T0" fmla="*/ 7 w 1253"/>
                <a:gd name="T1" fmla="*/ 0 h 4318"/>
                <a:gd name="T2" fmla="*/ 0 w 1253"/>
                <a:gd name="T3" fmla="*/ 4 h 4318"/>
                <a:gd name="T4" fmla="*/ 1244 w 1253"/>
                <a:gd name="T5" fmla="*/ 2159 h 4318"/>
                <a:gd name="T6" fmla="*/ 0 w 1253"/>
                <a:gd name="T7" fmla="*/ 4314 h 4318"/>
                <a:gd name="T8" fmla="*/ 7 w 1253"/>
                <a:gd name="T9" fmla="*/ 4318 h 4318"/>
                <a:gd name="T10" fmla="*/ 1253 w 1253"/>
                <a:gd name="T11" fmla="*/ 2159 h 4318"/>
                <a:gd name="T12" fmla="*/ 7 w 1253"/>
                <a:gd name="T13" fmla="*/ 0 h 4318"/>
              </a:gdLst>
              <a:ahLst/>
              <a:cxnLst>
                <a:cxn ang="0">
                  <a:pos x="T0" y="T1"/>
                </a:cxn>
                <a:cxn ang="0">
                  <a:pos x="T2" y="T3"/>
                </a:cxn>
                <a:cxn ang="0">
                  <a:pos x="T4" y="T5"/>
                </a:cxn>
                <a:cxn ang="0">
                  <a:pos x="T6" y="T7"/>
                </a:cxn>
                <a:cxn ang="0">
                  <a:pos x="T8" y="T9"/>
                </a:cxn>
                <a:cxn ang="0">
                  <a:pos x="T10" y="T11"/>
                </a:cxn>
                <a:cxn ang="0">
                  <a:pos x="T12" y="T13"/>
                </a:cxn>
              </a:cxnLst>
              <a:rect l="0" t="0" r="r" b="b"/>
              <a:pathLst>
                <a:path w="1253" h="4318">
                  <a:moveTo>
                    <a:pt x="7" y="0"/>
                  </a:moveTo>
                  <a:lnTo>
                    <a:pt x="0" y="4"/>
                  </a:lnTo>
                  <a:lnTo>
                    <a:pt x="1244" y="2159"/>
                  </a:lnTo>
                  <a:lnTo>
                    <a:pt x="0" y="4314"/>
                  </a:lnTo>
                  <a:lnTo>
                    <a:pt x="7" y="4318"/>
                  </a:lnTo>
                  <a:lnTo>
                    <a:pt x="1253" y="2159"/>
                  </a:lnTo>
                  <a:lnTo>
                    <a:pt x="7" y="0"/>
                  </a:lnTo>
                  <a:close/>
                </a:path>
              </a:pathLst>
            </a:custGeom>
            <a:solidFill>
              <a:schemeClr val="accent1"/>
            </a:solidFill>
            <a:ln w="0">
              <a:solidFill>
                <a:schemeClr val="accent1"/>
              </a:solidFill>
            </a:ln>
          </p:spPr>
          <p:txBody>
            <a:bodyPr vert="horz" wrap="square" lIns="91440" tIns="45720" rIns="91440" bIns="45720" numCol="1" anchor="t" anchorCtr="0" compatLnSpc="1"/>
            <a:lstStyle/>
            <a:p>
              <a:endParaRPr lang="zh-CN" altLang="en-US"/>
            </a:p>
          </p:txBody>
        </p:sp>
        <p:sp>
          <p:nvSpPr>
            <p:cNvPr id="6" name="Freeform: Shape 5"/>
            <p:cNvSpPr>
              <a:spLocks noEditPoints="1"/>
            </p:cNvSpPr>
            <p:nvPr/>
          </p:nvSpPr>
          <p:spPr bwMode="auto">
            <a:xfrm>
              <a:off x="0" y="4763"/>
              <a:ext cx="6932613" cy="6848475"/>
            </a:xfrm>
            <a:custGeom>
              <a:avLst/>
              <a:gdLst>
                <a:gd name="T0" fmla="*/ 1 w 4367"/>
                <a:gd name="T1" fmla="*/ 0 h 4314"/>
                <a:gd name="T2" fmla="*/ 0 w 4367"/>
                <a:gd name="T3" fmla="*/ 0 h 4314"/>
                <a:gd name="T4" fmla="*/ 1 w 4367"/>
                <a:gd name="T5" fmla="*/ 0 h 4314"/>
                <a:gd name="T6" fmla="*/ 3122 w 4367"/>
                <a:gd name="T7" fmla="*/ 0 h 4314"/>
                <a:gd name="T8" fmla="*/ 1 w 4367"/>
                <a:gd name="T9" fmla="*/ 0 h 4314"/>
                <a:gd name="T10" fmla="*/ 1246 w 4367"/>
                <a:gd name="T11" fmla="*/ 2157 h 4314"/>
                <a:gd name="T12" fmla="*/ 1 w 4367"/>
                <a:gd name="T13" fmla="*/ 4314 h 4314"/>
                <a:gd name="T14" fmla="*/ 3122 w 4367"/>
                <a:gd name="T15" fmla="*/ 4314 h 4314"/>
                <a:gd name="T16" fmla="*/ 4367 w 4367"/>
                <a:gd name="T17" fmla="*/ 2157 h 4314"/>
                <a:gd name="T18" fmla="*/ 3122 w 4367"/>
                <a:gd name="T19" fmla="*/ 0 h 4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67" h="4314">
                  <a:moveTo>
                    <a:pt x="1" y="0"/>
                  </a:moveTo>
                  <a:lnTo>
                    <a:pt x="0" y="0"/>
                  </a:lnTo>
                  <a:lnTo>
                    <a:pt x="1" y="0"/>
                  </a:lnTo>
                  <a:close/>
                  <a:moveTo>
                    <a:pt x="3122" y="0"/>
                  </a:moveTo>
                  <a:lnTo>
                    <a:pt x="1" y="0"/>
                  </a:lnTo>
                  <a:lnTo>
                    <a:pt x="1246" y="2157"/>
                  </a:lnTo>
                  <a:lnTo>
                    <a:pt x="1" y="4314"/>
                  </a:lnTo>
                  <a:lnTo>
                    <a:pt x="3122" y="4314"/>
                  </a:lnTo>
                  <a:lnTo>
                    <a:pt x="4367" y="2157"/>
                  </a:lnTo>
                  <a:lnTo>
                    <a:pt x="3122" y="0"/>
                  </a:lnTo>
                  <a:close/>
                </a:path>
              </a:pathLst>
            </a:custGeom>
            <a:blipFill rotWithShape="0">
              <a:blip r:embed="rId2"/>
              <a:srcRect/>
              <a:stretch>
                <a:fillRect l="-46040" r="-26800"/>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lvl="0" algn="ctr"/>
              <a:endParaRPr lang="zh-CN" altLang="en-US">
                <a:solidFill>
                  <a:schemeClr val="lt1"/>
                </a:solidFill>
              </a:endParaRPr>
            </a:p>
          </p:txBody>
        </p:sp>
        <p:sp>
          <p:nvSpPr>
            <p:cNvPr id="8" name="Freeform: Shape 7"/>
            <p:cNvSpPr/>
            <p:nvPr/>
          </p:nvSpPr>
          <p:spPr bwMode="auto">
            <a:xfrm>
              <a:off x="0" y="1878013"/>
              <a:ext cx="895350" cy="3101975"/>
            </a:xfrm>
            <a:custGeom>
              <a:avLst/>
              <a:gdLst>
                <a:gd name="T0" fmla="*/ 0 w 564"/>
                <a:gd name="T1" fmla="*/ 0 h 1954"/>
                <a:gd name="T2" fmla="*/ 0 w 564"/>
                <a:gd name="T3" fmla="*/ 0 h 1954"/>
                <a:gd name="T4" fmla="*/ 0 w 564"/>
                <a:gd name="T5" fmla="*/ 1954 h 1954"/>
                <a:gd name="T6" fmla="*/ 564 w 564"/>
                <a:gd name="T7" fmla="*/ 977 h 1954"/>
                <a:gd name="T8" fmla="*/ 0 w 564"/>
                <a:gd name="T9" fmla="*/ 0 h 1954"/>
              </a:gdLst>
              <a:ahLst/>
              <a:cxnLst>
                <a:cxn ang="0">
                  <a:pos x="T0" y="T1"/>
                </a:cxn>
                <a:cxn ang="0">
                  <a:pos x="T2" y="T3"/>
                </a:cxn>
                <a:cxn ang="0">
                  <a:pos x="T4" y="T5"/>
                </a:cxn>
                <a:cxn ang="0">
                  <a:pos x="T6" y="T7"/>
                </a:cxn>
                <a:cxn ang="0">
                  <a:pos x="T8" y="T9"/>
                </a:cxn>
              </a:cxnLst>
              <a:rect l="0" t="0" r="r" b="b"/>
              <a:pathLst>
                <a:path w="564" h="1954">
                  <a:moveTo>
                    <a:pt x="0" y="0"/>
                  </a:moveTo>
                  <a:lnTo>
                    <a:pt x="0" y="0"/>
                  </a:lnTo>
                  <a:lnTo>
                    <a:pt x="0" y="1954"/>
                  </a:lnTo>
                  <a:lnTo>
                    <a:pt x="564" y="977"/>
                  </a:lnTo>
                  <a:lnTo>
                    <a:pt x="0" y="0"/>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
        <p:nvSpPr>
          <p:cNvPr id="5" name="Title 4"/>
          <p:cNvSpPr>
            <a:spLocks noGrp="1"/>
          </p:cNvSpPr>
          <p:nvPr>
            <p:ph type="title" hasCustomPrompt="1"/>
          </p:nvPr>
        </p:nvSpPr>
        <p:spPr>
          <a:xfrm>
            <a:off x="7433186" y="1089025"/>
            <a:ext cx="4085713" cy="3323963"/>
          </a:xfrm>
          <a:prstGeom prst="rect">
            <a:avLst/>
          </a:prstGeom>
        </p:spPr>
        <p:txBody>
          <a:bodyPr wrap="square" anchor="b">
            <a:normAutofit/>
          </a:bodyPr>
          <a:lstStyle>
            <a:lvl1pPr algn="r">
              <a:lnSpc>
                <a:spcPct val="100000"/>
              </a:lnSpc>
              <a:defRPr sz="6000">
                <a:ln w="19050">
                  <a:noFill/>
                </a:ln>
                <a:solidFill>
                  <a:schemeClr val="tx1"/>
                </a:solidFill>
              </a:defRPr>
            </a:lvl1pPr>
          </a:lstStyle>
          <a:p>
            <a:pPr lvl="0"/>
            <a:r>
              <a:rPr lang="en-US"/>
              <a:t>Click to add title</a:t>
            </a:r>
          </a:p>
        </p:txBody>
      </p:sp>
      <p:sp>
        <p:nvSpPr>
          <p:cNvPr id="4" name="Text Placeholder 3"/>
          <p:cNvSpPr>
            <a:spLocks noGrp="1"/>
          </p:cNvSpPr>
          <p:nvPr>
            <p:ph type="body" sz="quarter" idx="13" hasCustomPrompt="1"/>
          </p:nvPr>
        </p:nvSpPr>
        <p:spPr>
          <a:xfrm>
            <a:off x="9820230" y="5857100"/>
            <a:ext cx="1698670" cy="276999"/>
          </a:xfrm>
          <a:prstGeom prst="rect">
            <a:avLst/>
          </a:prstGeom>
        </p:spPr>
        <p:txBody>
          <a:bodyPr wrap="square" lIns="90000">
            <a:normAutofit/>
          </a:bodyPr>
          <a:lstStyle>
            <a:lvl1pPr marL="0" indent="0" algn="r">
              <a:lnSpc>
                <a:spcPct val="100000"/>
              </a:lnSpc>
              <a:buNone/>
              <a:defRPr sz="1200">
                <a:solidFill>
                  <a:schemeClr val="tx1"/>
                </a:solidFill>
              </a:defRPr>
            </a:lvl1pPr>
          </a:lstStyle>
          <a:p>
            <a:pPr lvl="0"/>
            <a:r>
              <a:rPr lang="en-US"/>
              <a:t>Presenter name</a:t>
            </a:r>
          </a:p>
        </p:txBody>
      </p:sp>
      <p:sp>
        <p:nvSpPr>
          <p:cNvPr id="7" name="Text Placeholder 6"/>
          <p:cNvSpPr>
            <a:spLocks noGrp="1"/>
          </p:cNvSpPr>
          <p:nvPr>
            <p:ph type="body" sz="quarter" idx="14" hasCustomPrompt="1"/>
          </p:nvPr>
        </p:nvSpPr>
        <p:spPr>
          <a:xfrm>
            <a:off x="8121560" y="5857101"/>
            <a:ext cx="1698670" cy="276999"/>
          </a:xfrm>
          <a:prstGeom prst="rect">
            <a:avLst/>
          </a:prstGeom>
        </p:spPr>
        <p:txBody>
          <a:bodyPr wrap="none">
            <a:normAutofit/>
          </a:bodyPr>
          <a:lstStyle>
            <a:lvl1pPr marL="0" indent="0" algn="r">
              <a:lnSpc>
                <a:spcPct val="100000"/>
              </a:lnSpc>
              <a:buNone/>
              <a:defRPr sz="1200">
                <a:solidFill>
                  <a:schemeClr val="tx1"/>
                </a:solidFill>
              </a:defRPr>
            </a:lvl1pPr>
          </a:lstStyle>
          <a:p>
            <a:pPr lvl="0"/>
            <a:r>
              <a:rPr lang="en-US"/>
              <a:t>www.officeplus.cn</a:t>
            </a: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r>
              <a:rPr lang="en-US" dirty="0"/>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dirty="0"/>
              <a:t>Click to </a:t>
            </a:r>
            <a:r>
              <a:rPr lang="en-US" altLang="zh-CN" dirty="0"/>
              <a:t>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fld id="{E68AEBC5-1D0D-411D-9EE3-C6F41EFD080C}" type="datetime1">
              <a:rPr lang="zh-CN" altLang="en-US" smtClean="0"/>
              <a:t>2024/4/30</a:t>
            </a:fld>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OfficePLUS</a:t>
            </a:r>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slideLayout" Target="../slideLayouts/slideLayout6.xml"/><Relationship Id="rId3" Type="http://schemas.openxmlformats.org/officeDocument/2006/relationships/tags" Target="../tags/tag5.xml"/><Relationship Id="rId21" Type="http://schemas.openxmlformats.org/officeDocument/2006/relationships/image" Target="../media/image4.jpeg"/><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image" Target="../media/image3.jpeg"/><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image" Target="../media/image6.jpeg"/><Relationship Id="rId10" Type="http://schemas.openxmlformats.org/officeDocument/2006/relationships/tags" Target="../tags/tag12.xml"/><Relationship Id="rId19" Type="http://schemas.openxmlformats.org/officeDocument/2006/relationships/image" Target="../media/image2.jpeg"/><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6.xml"/></Relationships>
</file>

<file path=ppt/slides/_rels/slide19.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image" Target="../media/image39.png"/><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image" Target="../media/image24.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slideLayout" Target="../slideLayouts/slideLayout5.xml"/><Relationship Id="rId5" Type="http://schemas.openxmlformats.org/officeDocument/2006/relationships/tags" Target="../tags/tag31.xml"/><Relationship Id="rId15" Type="http://schemas.openxmlformats.org/officeDocument/2006/relationships/image" Target="../media/image41.jpeg"/><Relationship Id="rId10" Type="http://schemas.openxmlformats.org/officeDocument/2006/relationships/tags" Target="../tags/tag36.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5.xml"/><Relationship Id="rId1" Type="http://schemas.openxmlformats.org/officeDocument/2006/relationships/tags" Target="../tags/tag37.xml"/><Relationship Id="rId5" Type="http://schemas.openxmlformats.org/officeDocument/2006/relationships/image" Target="../media/image44.png"/><Relationship Id="rId4" Type="http://schemas.openxmlformats.org/officeDocument/2006/relationships/image" Target="../media/image43.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139305" y="2414270"/>
            <a:ext cx="4970780" cy="2030095"/>
          </a:xfrm>
          <a:prstGeom prst="rect">
            <a:avLst/>
          </a:prstGeom>
          <a:noFill/>
        </p:spPr>
        <p:txBody>
          <a:bodyPr wrap="square" rtlCol="0">
            <a:spAutoFit/>
          </a:bodyPr>
          <a:lstStyle/>
          <a:p>
            <a:r>
              <a:rPr lang="zh-CN" altLang="en-US" sz="5400" b="1" dirty="0">
                <a:ln w="19050">
                  <a:noFill/>
                </a:ln>
                <a:solidFill>
                  <a:schemeClr val="accent2">
                    <a:lumMod val="50000"/>
                  </a:schemeClr>
                </a:solidFill>
                <a:latin typeface="+mj-lt"/>
                <a:ea typeface="+mj-ea"/>
                <a:cs typeface="+mj-cs"/>
              </a:rPr>
              <a:t>沃土新生---</a:t>
            </a:r>
          </a:p>
          <a:p>
            <a:r>
              <a:rPr lang="zh-CN" altLang="en-US" sz="3600" dirty="0">
                <a:ln w="19050">
                  <a:noFill/>
                </a:ln>
                <a:latin typeface="+mj-lt"/>
                <a:ea typeface="+mj-ea"/>
                <a:cs typeface="+mj-cs"/>
              </a:rPr>
              <a:t>数据解读农作物种植结构演变与乡村振兴进程</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p:cNvGrpSpPr/>
          <p:nvPr>
            <p:custDataLst>
              <p:tags r:id="rId2"/>
            </p:custDataLst>
          </p:nvPr>
        </p:nvGrpSpPr>
        <p:grpSpPr>
          <a:xfrm>
            <a:off x="660400" y="1161068"/>
            <a:ext cx="10871200" cy="4430150"/>
            <a:chOff x="660400" y="1161068"/>
            <a:chExt cx="10871200" cy="4430150"/>
          </a:xfrm>
        </p:grpSpPr>
        <p:grpSp>
          <p:nvGrpSpPr>
            <p:cNvPr id="2" name="Group 1"/>
            <p:cNvGrpSpPr/>
            <p:nvPr/>
          </p:nvGrpSpPr>
          <p:grpSpPr>
            <a:xfrm>
              <a:off x="660400" y="1161068"/>
              <a:ext cx="85419" cy="862091"/>
              <a:chOff x="660400" y="1161068"/>
              <a:chExt cx="85419" cy="862091"/>
            </a:xfrm>
          </p:grpSpPr>
          <p:sp>
            <p:nvSpPr>
              <p:cNvPr id="3" name="TextBox 2"/>
              <p:cNvSpPr txBox="1"/>
              <p:nvPr/>
            </p:nvSpPr>
            <p:spPr>
              <a:xfrm>
                <a:off x="660400" y="1161068"/>
                <a:ext cx="85419" cy="862091"/>
              </a:xfrm>
              <a:prstGeom prst="rect">
                <a:avLst/>
              </a:prstGeom>
              <a:noFill/>
            </p:spPr>
            <p:txBody>
              <a:bodyPr wrap="none" lIns="0" rtlCol="0">
                <a:spAutoFit/>
              </a:bodyPr>
              <a:lstStyle>
                <a:defPPr>
                  <a:defRPr lang="zh-CN"/>
                </a:defPPr>
                <a:lvl1pPr>
                  <a:defRPr kumimoji="0" sz="1400" b="1" i="0" u="none" strike="noStrike" cap="none" spc="0" normalizeH="0" baseline="0">
                    <a:ln>
                      <a:noFill/>
                    </a:ln>
                    <a:solidFill>
                      <a:schemeClr val="accent1"/>
                    </a:solidFill>
                    <a:effectLst/>
                    <a:uLnTx/>
                    <a:uFillTx/>
                  </a:defRPr>
                </a:lvl1pPr>
              </a:lstStyle>
              <a:p>
                <a:pPr>
                  <a:lnSpc>
                    <a:spcPct val="100000"/>
                  </a:lnSpc>
                </a:pPr>
                <a:r>
                  <a:rPr kumimoji="1" lang="zh-CN" altLang="en-US" sz="4800">
                    <a:solidFill>
                      <a:schemeClr val="tx1"/>
                    </a:solidFill>
                  </a:rPr>
                  <a:t>目录</a:t>
                </a:r>
              </a:p>
            </p:txBody>
          </p:sp>
        </p:grpSp>
        <p:grpSp>
          <p:nvGrpSpPr>
            <p:cNvPr id="35" name="Group 34"/>
            <p:cNvGrpSpPr/>
            <p:nvPr/>
          </p:nvGrpSpPr>
          <p:grpSpPr>
            <a:xfrm>
              <a:off x="660400" y="2793474"/>
              <a:ext cx="10871200" cy="2797744"/>
              <a:chOff x="660400" y="2793474"/>
              <a:chExt cx="10871200" cy="2797744"/>
            </a:xfrm>
          </p:grpSpPr>
          <p:grpSp>
            <p:nvGrpSpPr>
              <p:cNvPr id="5" name="Group 4"/>
              <p:cNvGrpSpPr/>
              <p:nvPr/>
            </p:nvGrpSpPr>
            <p:grpSpPr>
              <a:xfrm>
                <a:off x="660400" y="2793474"/>
                <a:ext cx="1659262" cy="2797744"/>
                <a:chOff x="660402" y="2793474"/>
                <a:chExt cx="1635670" cy="2797744"/>
              </a:xfrm>
            </p:grpSpPr>
            <p:grpSp>
              <p:nvGrpSpPr>
                <p:cNvPr id="6" name="Group 5"/>
                <p:cNvGrpSpPr/>
                <p:nvPr/>
              </p:nvGrpSpPr>
              <p:grpSpPr>
                <a:xfrm>
                  <a:off x="787790" y="2793474"/>
                  <a:ext cx="954108" cy="1237457"/>
                  <a:chOff x="1483526" y="2464225"/>
                  <a:chExt cx="954108" cy="1237457"/>
                </a:xfrm>
              </p:grpSpPr>
              <p:sp>
                <p:nvSpPr>
                  <p:cNvPr id="8" name="TextBox 7"/>
                  <p:cNvSpPr txBox="1"/>
                  <p:nvPr>
                    <p:custDataLst>
                      <p:tags r:id="rId16"/>
                    </p:custDataLst>
                  </p:nvPr>
                </p:nvSpPr>
                <p:spPr>
                  <a:xfrm>
                    <a:off x="1483526" y="2464225"/>
                    <a:ext cx="954108" cy="923330"/>
                  </a:xfrm>
                  <a:prstGeom prst="rect">
                    <a:avLst/>
                  </a:prstGeom>
                  <a:noFill/>
                </p:spPr>
                <p:txBody>
                  <a:bodyPr wrap="none" lIns="91440" tIns="45720" rIns="91440" bIns="45720" rtlCol="0" anchor="ctr" anchorCtr="0">
                    <a:spAutoFit/>
                  </a:bodyPr>
                  <a:lstStyle/>
                  <a:p>
                    <a:pPr algn="r"/>
                    <a:r>
                      <a:rPr kumimoji="1" lang="en-US" altLang="zh-CN" sz="5400" b="1" dirty="0">
                        <a:solidFill>
                          <a:schemeClr val="tx2"/>
                        </a:solidFill>
                      </a:rPr>
                      <a:t>01</a:t>
                    </a:r>
                    <a:endParaRPr kumimoji="1" lang="zh-CN" altLang="en-US" sz="5400" b="1" dirty="0">
                      <a:solidFill>
                        <a:schemeClr val="tx2"/>
                      </a:solidFill>
                    </a:endParaRPr>
                  </a:p>
                </p:txBody>
              </p:sp>
              <p:sp>
                <p:nvSpPr>
                  <p:cNvPr id="9" name="Rectangle 8"/>
                  <p:cNvSpPr/>
                  <p:nvPr>
                    <p:custDataLst>
                      <p:tags r:id="rId17"/>
                    </p:custDataLst>
                  </p:nvPr>
                </p:nvSpPr>
                <p:spPr>
                  <a:xfrm>
                    <a:off x="1483526" y="3364497"/>
                    <a:ext cx="611721" cy="337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00000"/>
                      </a:lnSpc>
                    </a:pPr>
                    <a:r>
                      <a:rPr kumimoji="1" lang="zh-CN" altLang="en-US" sz="1600" b="1" dirty="0">
                        <a:solidFill>
                          <a:schemeClr val="tx1"/>
                        </a:solidFill>
                      </a:rPr>
                      <a:t>选题背景</a:t>
                    </a:r>
                  </a:p>
                </p:txBody>
              </p:sp>
            </p:grpSp>
            <p:sp>
              <p:nvSpPr>
                <p:cNvPr id="7" name="Rectangle: Rounded Corners 6"/>
                <p:cNvSpPr/>
                <p:nvPr>
                  <p:custDataLst>
                    <p:tags r:id="rId15"/>
                  </p:custDataLst>
                </p:nvPr>
              </p:nvSpPr>
              <p:spPr>
                <a:xfrm>
                  <a:off x="660402" y="4271188"/>
                  <a:ext cx="1635670" cy="1320030"/>
                </a:xfrm>
                <a:prstGeom prst="roundRect">
                  <a:avLst>
                    <a:gd name="adj" fmla="val 0"/>
                  </a:avLst>
                </a:prstGeom>
                <a:blipFill rotWithShape="0">
                  <a:blip r:embed="rId19"/>
                  <a:srcRect/>
                  <a:stretch>
                    <a:fillRect l="-10560" r="-10560"/>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solidFill>
                      <a:schemeClr val="lt1"/>
                    </a:solidFill>
                  </a:endParaRPr>
                </a:p>
              </p:txBody>
            </p:sp>
          </p:grpSp>
          <p:grpSp>
            <p:nvGrpSpPr>
              <p:cNvPr id="11" name="Group 10"/>
              <p:cNvGrpSpPr/>
              <p:nvPr/>
            </p:nvGrpSpPr>
            <p:grpSpPr>
              <a:xfrm>
                <a:off x="3056823" y="2793474"/>
                <a:ext cx="1659262" cy="2797744"/>
                <a:chOff x="3819201" y="2793474"/>
                <a:chExt cx="1635670" cy="2797744"/>
              </a:xfrm>
            </p:grpSpPr>
            <p:grpSp>
              <p:nvGrpSpPr>
                <p:cNvPr id="12" name="Group 11"/>
                <p:cNvGrpSpPr/>
                <p:nvPr/>
              </p:nvGrpSpPr>
              <p:grpSpPr>
                <a:xfrm>
                  <a:off x="3819201" y="2793474"/>
                  <a:ext cx="991108" cy="1237457"/>
                  <a:chOff x="1483526" y="2464225"/>
                  <a:chExt cx="991108" cy="1237457"/>
                </a:xfrm>
              </p:grpSpPr>
              <p:sp>
                <p:nvSpPr>
                  <p:cNvPr id="14" name="TextBox 13"/>
                  <p:cNvSpPr txBox="1"/>
                  <p:nvPr>
                    <p:custDataLst>
                      <p:tags r:id="rId13"/>
                    </p:custDataLst>
                  </p:nvPr>
                </p:nvSpPr>
                <p:spPr>
                  <a:xfrm>
                    <a:off x="1483526" y="2464225"/>
                    <a:ext cx="954108" cy="923330"/>
                  </a:xfrm>
                  <a:prstGeom prst="rect">
                    <a:avLst/>
                  </a:prstGeom>
                  <a:noFill/>
                </p:spPr>
                <p:txBody>
                  <a:bodyPr wrap="none" lIns="91440" tIns="45720" rIns="91440" bIns="45720" rtlCol="0" anchor="ctr" anchorCtr="0">
                    <a:spAutoFit/>
                  </a:bodyPr>
                  <a:lstStyle/>
                  <a:p>
                    <a:pPr algn="r"/>
                    <a:r>
                      <a:rPr kumimoji="1" lang="en-US" altLang="zh-CN" sz="5400" b="1" dirty="0">
                        <a:solidFill>
                          <a:schemeClr val="accent1"/>
                        </a:solidFill>
                      </a:rPr>
                      <a:t>02</a:t>
                    </a:r>
                    <a:endParaRPr kumimoji="1" lang="zh-CN" altLang="en-US" sz="5400" b="1" dirty="0">
                      <a:solidFill>
                        <a:schemeClr val="accent1"/>
                      </a:solidFill>
                    </a:endParaRPr>
                  </a:p>
                </p:txBody>
              </p:sp>
              <p:sp>
                <p:nvSpPr>
                  <p:cNvPr id="15" name="Rectangle 14"/>
                  <p:cNvSpPr/>
                  <p:nvPr>
                    <p:custDataLst>
                      <p:tags r:id="rId14"/>
                    </p:custDataLst>
                  </p:nvPr>
                </p:nvSpPr>
                <p:spPr>
                  <a:xfrm>
                    <a:off x="1483526" y="3363128"/>
                    <a:ext cx="991108"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zh-CN" altLang="en-US" sz="1600" b="1" dirty="0">
                        <a:solidFill>
                          <a:schemeClr val="tx1"/>
                        </a:solidFill>
                      </a:rPr>
                      <a:t>作品创意</a:t>
                    </a:r>
                  </a:p>
                </p:txBody>
              </p:sp>
            </p:grpSp>
            <p:sp>
              <p:nvSpPr>
                <p:cNvPr id="13" name="Rectangle: Rounded Corners 12"/>
                <p:cNvSpPr/>
                <p:nvPr>
                  <p:custDataLst>
                    <p:tags r:id="rId12"/>
                  </p:custDataLst>
                </p:nvPr>
              </p:nvSpPr>
              <p:spPr>
                <a:xfrm>
                  <a:off x="3819201" y="4271188"/>
                  <a:ext cx="1635670" cy="1320030"/>
                </a:xfrm>
                <a:prstGeom prst="roundRect">
                  <a:avLst>
                    <a:gd name="adj" fmla="val 0"/>
                  </a:avLst>
                </a:prstGeom>
                <a:blipFill rotWithShape="0">
                  <a:blip r:embed="rId20"/>
                  <a:srcRect/>
                  <a:stretch>
                    <a:fillRect l="-10480" r="-10480"/>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solidFill>
                      <a:schemeClr val="lt1"/>
                    </a:solidFill>
                  </a:endParaRPr>
                </a:p>
              </p:txBody>
            </p:sp>
          </p:grpSp>
          <p:grpSp>
            <p:nvGrpSpPr>
              <p:cNvPr id="17" name="Group 16"/>
              <p:cNvGrpSpPr/>
              <p:nvPr/>
            </p:nvGrpSpPr>
            <p:grpSpPr>
              <a:xfrm>
                <a:off x="5324018" y="2793474"/>
                <a:ext cx="1659265" cy="2797744"/>
                <a:chOff x="6850612" y="2793474"/>
                <a:chExt cx="1635674" cy="2797744"/>
              </a:xfrm>
            </p:grpSpPr>
            <p:grpSp>
              <p:nvGrpSpPr>
                <p:cNvPr id="18" name="Group 17"/>
                <p:cNvGrpSpPr/>
                <p:nvPr/>
              </p:nvGrpSpPr>
              <p:grpSpPr>
                <a:xfrm>
                  <a:off x="6850612" y="2793474"/>
                  <a:ext cx="991109" cy="1237457"/>
                  <a:chOff x="1483526" y="2464225"/>
                  <a:chExt cx="991109" cy="1237457"/>
                </a:xfrm>
              </p:grpSpPr>
              <p:sp>
                <p:nvSpPr>
                  <p:cNvPr id="20" name="TextBox 19"/>
                  <p:cNvSpPr txBox="1"/>
                  <p:nvPr>
                    <p:custDataLst>
                      <p:tags r:id="rId10"/>
                    </p:custDataLst>
                  </p:nvPr>
                </p:nvSpPr>
                <p:spPr>
                  <a:xfrm>
                    <a:off x="1483526" y="2464225"/>
                    <a:ext cx="954108" cy="923330"/>
                  </a:xfrm>
                  <a:prstGeom prst="rect">
                    <a:avLst/>
                  </a:prstGeom>
                  <a:noFill/>
                </p:spPr>
                <p:txBody>
                  <a:bodyPr wrap="none" lIns="91440" tIns="45720" rIns="91440" bIns="45720" rtlCol="0" anchor="ctr" anchorCtr="0">
                    <a:spAutoFit/>
                  </a:bodyPr>
                  <a:lstStyle/>
                  <a:p>
                    <a:pPr algn="r"/>
                    <a:r>
                      <a:rPr kumimoji="1" lang="en-US" altLang="zh-CN" sz="5400" b="1">
                        <a:solidFill>
                          <a:schemeClr val="tx2"/>
                        </a:solidFill>
                      </a:rPr>
                      <a:t>03</a:t>
                    </a:r>
                    <a:endParaRPr kumimoji="1" lang="zh-CN" altLang="en-US" sz="5400" b="1" dirty="0">
                      <a:solidFill>
                        <a:schemeClr val="tx2"/>
                      </a:solidFill>
                    </a:endParaRPr>
                  </a:p>
                </p:txBody>
              </p:sp>
              <p:sp>
                <p:nvSpPr>
                  <p:cNvPr id="21" name="Rectangle 20"/>
                  <p:cNvSpPr/>
                  <p:nvPr>
                    <p:custDataLst>
                      <p:tags r:id="rId11"/>
                    </p:custDataLst>
                  </p:nvPr>
                </p:nvSpPr>
                <p:spPr>
                  <a:xfrm>
                    <a:off x="1483526" y="3363128"/>
                    <a:ext cx="991109" cy="338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00000"/>
                      </a:lnSpc>
                    </a:pPr>
                    <a:r>
                      <a:rPr kumimoji="1" lang="zh-CN" altLang="en-US" sz="1600" b="1" dirty="0">
                        <a:solidFill>
                          <a:schemeClr val="tx1"/>
                        </a:solidFill>
                      </a:rPr>
                      <a:t>研究思路</a:t>
                    </a:r>
                  </a:p>
                </p:txBody>
              </p:sp>
            </p:grpSp>
            <p:sp>
              <p:nvSpPr>
                <p:cNvPr id="19" name="Rectangle: Rounded Corners 18"/>
                <p:cNvSpPr/>
                <p:nvPr>
                  <p:custDataLst>
                    <p:tags r:id="rId9"/>
                  </p:custDataLst>
                </p:nvPr>
              </p:nvSpPr>
              <p:spPr>
                <a:xfrm>
                  <a:off x="6850616" y="4271188"/>
                  <a:ext cx="1635670" cy="1320030"/>
                </a:xfrm>
                <a:prstGeom prst="roundRect">
                  <a:avLst>
                    <a:gd name="adj" fmla="val 0"/>
                  </a:avLst>
                </a:prstGeom>
                <a:blipFill rotWithShape="0">
                  <a:blip r:embed="rId21"/>
                  <a:srcRect/>
                  <a:stretch>
                    <a:fillRect l="-11020" r="-11020"/>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solidFill>
                      <a:schemeClr val="lt1"/>
                    </a:solidFill>
                  </a:endParaRPr>
                </a:p>
              </p:txBody>
            </p:sp>
          </p:grpSp>
          <p:grpSp>
            <p:nvGrpSpPr>
              <p:cNvPr id="23" name="Group 22"/>
              <p:cNvGrpSpPr/>
              <p:nvPr/>
            </p:nvGrpSpPr>
            <p:grpSpPr>
              <a:xfrm>
                <a:off x="7591218" y="2793474"/>
                <a:ext cx="1725937" cy="2797744"/>
                <a:chOff x="9882023" y="2793474"/>
                <a:chExt cx="1701397" cy="2797744"/>
              </a:xfrm>
            </p:grpSpPr>
            <p:grpSp>
              <p:nvGrpSpPr>
                <p:cNvPr id="24" name="Group 23"/>
                <p:cNvGrpSpPr/>
                <p:nvPr/>
              </p:nvGrpSpPr>
              <p:grpSpPr>
                <a:xfrm>
                  <a:off x="9882023" y="2793474"/>
                  <a:ext cx="1582456" cy="1237457"/>
                  <a:chOff x="1483526" y="2464225"/>
                  <a:chExt cx="1582456" cy="1237457"/>
                </a:xfrm>
              </p:grpSpPr>
              <p:sp>
                <p:nvSpPr>
                  <p:cNvPr id="26" name="TextBox 25"/>
                  <p:cNvSpPr txBox="1"/>
                  <p:nvPr>
                    <p:custDataLst>
                      <p:tags r:id="rId7"/>
                    </p:custDataLst>
                  </p:nvPr>
                </p:nvSpPr>
                <p:spPr>
                  <a:xfrm>
                    <a:off x="1483526" y="2464225"/>
                    <a:ext cx="954108" cy="923330"/>
                  </a:xfrm>
                  <a:prstGeom prst="rect">
                    <a:avLst/>
                  </a:prstGeom>
                  <a:noFill/>
                </p:spPr>
                <p:txBody>
                  <a:bodyPr wrap="none" lIns="91440" tIns="45720" rIns="91440" bIns="45720" rtlCol="0" anchor="ctr" anchorCtr="0">
                    <a:spAutoFit/>
                  </a:bodyPr>
                  <a:lstStyle/>
                  <a:p>
                    <a:pPr algn="r"/>
                    <a:r>
                      <a:rPr kumimoji="1" lang="en-US" altLang="zh-CN" sz="5400" b="1" dirty="0">
                        <a:solidFill>
                          <a:schemeClr val="tx2"/>
                        </a:solidFill>
                      </a:rPr>
                      <a:t>04</a:t>
                    </a:r>
                    <a:endParaRPr kumimoji="1" lang="zh-CN" altLang="en-US" sz="5400" b="1" dirty="0">
                      <a:solidFill>
                        <a:schemeClr val="tx2"/>
                      </a:solidFill>
                    </a:endParaRPr>
                  </a:p>
                </p:txBody>
              </p:sp>
              <p:sp>
                <p:nvSpPr>
                  <p:cNvPr id="27" name="Rectangle 26"/>
                  <p:cNvSpPr/>
                  <p:nvPr>
                    <p:custDataLst>
                      <p:tags r:id="rId8"/>
                    </p:custDataLst>
                  </p:nvPr>
                </p:nvSpPr>
                <p:spPr>
                  <a:xfrm>
                    <a:off x="1483526" y="3364497"/>
                    <a:ext cx="1582456" cy="337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00000"/>
                      </a:lnSpc>
                    </a:pPr>
                    <a:r>
                      <a:rPr kumimoji="1" lang="zh-CN" altLang="en-US" sz="1600" b="1" dirty="0">
                        <a:solidFill>
                          <a:schemeClr val="tx1"/>
                        </a:solidFill>
                      </a:rPr>
                      <a:t>研究方法及结果</a:t>
                    </a:r>
                  </a:p>
                </p:txBody>
              </p:sp>
            </p:grpSp>
            <p:sp>
              <p:nvSpPr>
                <p:cNvPr id="25" name="Rectangle: Rounded Corners 24"/>
                <p:cNvSpPr/>
                <p:nvPr>
                  <p:custDataLst>
                    <p:tags r:id="rId6"/>
                  </p:custDataLst>
                </p:nvPr>
              </p:nvSpPr>
              <p:spPr>
                <a:xfrm>
                  <a:off x="9947750" y="4271188"/>
                  <a:ext cx="1635670" cy="1320030"/>
                </a:xfrm>
                <a:prstGeom prst="roundRect">
                  <a:avLst>
                    <a:gd name="adj" fmla="val 0"/>
                  </a:avLst>
                </a:prstGeom>
                <a:blipFill rotWithShape="0">
                  <a:blip r:embed="rId22"/>
                  <a:srcRect/>
                  <a:stretch>
                    <a:fillRect l="-10560" r="-10560"/>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solidFill>
                      <a:schemeClr val="lt1"/>
                    </a:solidFill>
                  </a:endParaRPr>
                </a:p>
              </p:txBody>
            </p:sp>
          </p:grpSp>
          <p:grpSp>
            <p:nvGrpSpPr>
              <p:cNvPr id="29" name="Group 28"/>
              <p:cNvGrpSpPr/>
              <p:nvPr/>
            </p:nvGrpSpPr>
            <p:grpSpPr>
              <a:xfrm>
                <a:off x="9858415" y="2793474"/>
                <a:ext cx="1673185" cy="2797744"/>
                <a:chOff x="9882023" y="2793474"/>
                <a:chExt cx="1649395" cy="2797744"/>
              </a:xfrm>
            </p:grpSpPr>
            <p:grpSp>
              <p:nvGrpSpPr>
                <p:cNvPr id="30" name="Group 29"/>
                <p:cNvGrpSpPr/>
                <p:nvPr/>
              </p:nvGrpSpPr>
              <p:grpSpPr>
                <a:xfrm>
                  <a:off x="9882023" y="2793474"/>
                  <a:ext cx="981523" cy="1237457"/>
                  <a:chOff x="1483526" y="2464225"/>
                  <a:chExt cx="981523" cy="1237457"/>
                </a:xfrm>
              </p:grpSpPr>
              <p:sp>
                <p:nvSpPr>
                  <p:cNvPr id="32" name="TextBox 31"/>
                  <p:cNvSpPr txBox="1"/>
                  <p:nvPr>
                    <p:custDataLst>
                      <p:tags r:id="rId4"/>
                    </p:custDataLst>
                  </p:nvPr>
                </p:nvSpPr>
                <p:spPr>
                  <a:xfrm>
                    <a:off x="1497091" y="2464225"/>
                    <a:ext cx="940542" cy="923330"/>
                  </a:xfrm>
                  <a:prstGeom prst="rect">
                    <a:avLst/>
                  </a:prstGeom>
                  <a:noFill/>
                </p:spPr>
                <p:txBody>
                  <a:bodyPr wrap="none" lIns="91440" tIns="45720" rIns="91440" bIns="45720" rtlCol="0" anchor="ctr" anchorCtr="0">
                    <a:spAutoFit/>
                  </a:bodyPr>
                  <a:lstStyle/>
                  <a:p>
                    <a:pPr algn="r"/>
                    <a:r>
                      <a:rPr kumimoji="1" lang="en-US" altLang="zh-CN" sz="5400" b="1" dirty="0">
                        <a:solidFill>
                          <a:schemeClr val="tx2"/>
                        </a:solidFill>
                      </a:rPr>
                      <a:t>05</a:t>
                    </a:r>
                    <a:endParaRPr kumimoji="1" lang="zh-CN" altLang="en-US" sz="5400" b="1" dirty="0">
                      <a:solidFill>
                        <a:schemeClr val="tx2"/>
                      </a:solidFill>
                    </a:endParaRPr>
                  </a:p>
                </p:txBody>
              </p:sp>
              <p:sp>
                <p:nvSpPr>
                  <p:cNvPr id="33" name="Rectangle 32"/>
                  <p:cNvSpPr/>
                  <p:nvPr>
                    <p:custDataLst>
                      <p:tags r:id="rId5"/>
                    </p:custDataLst>
                  </p:nvPr>
                </p:nvSpPr>
                <p:spPr>
                  <a:xfrm>
                    <a:off x="1483526" y="3364497"/>
                    <a:ext cx="981523" cy="3371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nSpc>
                        <a:spcPct val="100000"/>
                      </a:lnSpc>
                    </a:pPr>
                    <a:r>
                      <a:rPr kumimoji="1" lang="zh-CN" altLang="en-US" sz="1600" b="1" dirty="0">
                        <a:solidFill>
                          <a:schemeClr val="tx1"/>
                        </a:solidFill>
                      </a:rPr>
                      <a:t>作品结论</a:t>
                    </a:r>
                  </a:p>
                </p:txBody>
              </p:sp>
            </p:grpSp>
            <p:sp>
              <p:nvSpPr>
                <p:cNvPr id="31" name="Rectangle: Rounded Corners 30"/>
                <p:cNvSpPr/>
                <p:nvPr>
                  <p:custDataLst>
                    <p:tags r:id="rId3"/>
                  </p:custDataLst>
                </p:nvPr>
              </p:nvSpPr>
              <p:spPr>
                <a:xfrm>
                  <a:off x="9895748" y="4271188"/>
                  <a:ext cx="1635670" cy="1320030"/>
                </a:xfrm>
                <a:prstGeom prst="roundRect">
                  <a:avLst>
                    <a:gd name="adj" fmla="val 0"/>
                  </a:avLst>
                </a:prstGeom>
                <a:blipFill rotWithShape="0">
                  <a:blip r:embed="rId23"/>
                  <a:srcRect/>
                  <a:stretch>
                    <a:fillRect l="-43840" r="-43840"/>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solidFill>
                      <a:schemeClr val="lt1"/>
                    </a:solidFill>
                  </a:endParaRPr>
                </a:p>
              </p:txBody>
            </p:sp>
          </p:grpSp>
        </p:grpSp>
      </p:gr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wrap="square">
            <a:normAutofit/>
          </a:bodyPr>
          <a:lstStyle/>
          <a:p>
            <a:pPr lvl="0"/>
            <a:r>
              <a:rPr lang="en-US"/>
              <a:t>01.</a:t>
            </a:r>
            <a:r>
              <a:rPr lang="zh-CN" altLang="en-US"/>
              <a:t>选题背景</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9"/>
          <p:cNvSpPr txBox="1"/>
          <p:nvPr/>
        </p:nvSpPr>
        <p:spPr>
          <a:xfrm>
            <a:off x="643272" y="3379505"/>
            <a:ext cx="2211839" cy="737452"/>
          </a:xfrm>
          <a:prstGeom prst="rect">
            <a:avLst/>
          </a:prstGeom>
          <a:noFill/>
          <a:ln>
            <a:noFill/>
          </a:ln>
        </p:spPr>
        <p:txBody>
          <a:bodyPr wrap="none" lIns="91440" tIns="45720" rIns="91440" bIns="45720" anchor="b" anchorCtr="0">
            <a:normAutofit/>
          </a:bodyPr>
          <a:lstStyle/>
          <a:p>
            <a:pPr>
              <a:lnSpc>
                <a:spcPct val="100000"/>
              </a:lnSpc>
              <a:buSzPct val="25000"/>
            </a:pPr>
            <a:r>
              <a:rPr lang="zh-CN" altLang="en-US" sz="1600" b="1" dirty="0"/>
              <a:t>劳动力因素</a:t>
            </a:r>
          </a:p>
        </p:txBody>
      </p:sp>
      <p:sp>
        <p:nvSpPr>
          <p:cNvPr id="4" name="Rectangle 20"/>
          <p:cNvSpPr/>
          <p:nvPr/>
        </p:nvSpPr>
        <p:spPr>
          <a:xfrm flipH="1">
            <a:off x="643272" y="4297039"/>
            <a:ext cx="2211839" cy="742383"/>
          </a:xfrm>
          <a:prstGeom prst="rect">
            <a:avLst/>
          </a:prstGeom>
          <a:ln>
            <a:noFill/>
          </a:ln>
        </p:spPr>
        <p:txBody>
          <a:bodyPr wrap="square" lIns="91440" tIns="45720" rIns="91440" bIns="45720" anchor="t">
            <a:sp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lang="zh-CN" altLang="en-US" sz="1200" b="0" i="0" dirty="0">
                <a:solidFill>
                  <a:srgbClr val="05073B"/>
                </a:solidFill>
                <a:effectLst/>
                <a:highlight>
                  <a:srgbClr val="FDFDFE"/>
                </a:highlight>
                <a:latin typeface="-apple-system"/>
              </a:rPr>
              <a:t>推动农业生产方式的转变</a:t>
            </a:r>
            <a:endParaRPr lang="en-US" altLang="zh-CN" sz="1200" b="0" i="0" dirty="0">
              <a:solidFill>
                <a:srgbClr val="05073B"/>
              </a:solidFill>
              <a:effectLst/>
              <a:highlight>
                <a:srgbClr val="FDFDFE"/>
              </a:highlight>
              <a:latin typeface="-apple-system"/>
            </a:endParaRPr>
          </a:p>
          <a:p>
            <a:pPr marL="0" marR="0" lvl="0" indent="0" defTabSz="913765" rtl="0" eaLnBrk="1" fontAlgn="auto" latinLnBrk="0" hangingPunct="1">
              <a:lnSpc>
                <a:spcPct val="120000"/>
              </a:lnSpc>
              <a:spcBef>
                <a:spcPts val="0"/>
              </a:spcBef>
              <a:spcAft>
                <a:spcPts val="0"/>
              </a:spcAft>
              <a:buClrTx/>
              <a:buSzPct val="25000"/>
              <a:buFontTx/>
              <a:buNone/>
              <a:defRPr/>
            </a:pPr>
            <a:r>
              <a:rPr lang="zh-CN" altLang="en-US" sz="1200" b="0" i="0" dirty="0">
                <a:solidFill>
                  <a:srgbClr val="05073B"/>
                </a:solidFill>
                <a:effectLst/>
                <a:highlight>
                  <a:srgbClr val="FDFDFE"/>
                </a:highlight>
                <a:latin typeface="-apple-system"/>
              </a:rPr>
              <a:t>影响农作物种植结构</a:t>
            </a:r>
            <a:endParaRPr lang="en-US" altLang="zh-CN" sz="1200" b="0" i="0" dirty="0">
              <a:solidFill>
                <a:srgbClr val="05073B"/>
              </a:solidFill>
              <a:effectLst/>
              <a:highlight>
                <a:srgbClr val="FDFDFE"/>
              </a:highlight>
              <a:latin typeface="-apple-system"/>
            </a:endParaRPr>
          </a:p>
          <a:p>
            <a:pPr marL="0" marR="0" lvl="0" indent="0" defTabSz="913765" rtl="0" eaLnBrk="1" fontAlgn="auto" latinLnBrk="0" hangingPunct="1">
              <a:lnSpc>
                <a:spcPct val="120000"/>
              </a:lnSpc>
              <a:spcBef>
                <a:spcPts val="0"/>
              </a:spcBef>
              <a:spcAft>
                <a:spcPts val="0"/>
              </a:spcAft>
              <a:buClrTx/>
              <a:buSzPct val="25000"/>
              <a:buFontTx/>
              <a:buNone/>
              <a:defRPr/>
            </a:pPr>
            <a:r>
              <a:rPr lang="zh-CN" altLang="en-US" sz="1200" b="0" i="0" dirty="0">
                <a:solidFill>
                  <a:srgbClr val="05073B"/>
                </a:solidFill>
                <a:effectLst/>
                <a:highlight>
                  <a:srgbClr val="FDFDFE"/>
                </a:highlight>
                <a:latin typeface="-apple-system"/>
              </a:rPr>
              <a:t>高效化、集约化</a:t>
            </a:r>
            <a:endParaRPr lang="en-US" altLang="zh-CN" sz="1200" b="0" i="0" dirty="0">
              <a:solidFill>
                <a:srgbClr val="05073B"/>
              </a:solidFill>
              <a:effectLst/>
              <a:highlight>
                <a:srgbClr val="FDFDFE"/>
              </a:highlight>
              <a:latin typeface="-apple-system"/>
            </a:endParaRPr>
          </a:p>
        </p:txBody>
      </p:sp>
      <p:sp>
        <p:nvSpPr>
          <p:cNvPr id="5" name="TextBox 21"/>
          <p:cNvSpPr txBox="1"/>
          <p:nvPr/>
        </p:nvSpPr>
        <p:spPr>
          <a:xfrm>
            <a:off x="643272" y="2668483"/>
            <a:ext cx="2211839" cy="769441"/>
          </a:xfrm>
          <a:prstGeom prst="rect">
            <a:avLst/>
          </a:prstGeom>
          <a:noFill/>
        </p:spPr>
        <p:txBody>
          <a:bodyPr wrap="square" rtlCol="0">
            <a:sp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en-US" altLang="zh-CN" sz="4400" dirty="0">
                <a:solidFill>
                  <a:schemeClr val="accent1"/>
                </a:solidFill>
                <a:effectLst>
                  <a:outerShdw blurRad="254000" dist="127000" algn="ctr" rotWithShape="0">
                    <a:schemeClr val="accent1">
                      <a:alpha val="40000"/>
                    </a:schemeClr>
                  </a:outerShdw>
                </a:effectLst>
              </a:rPr>
              <a:t>01.</a:t>
            </a:r>
            <a:endParaRPr lang="zh-CN" altLang="en-US" sz="4400" dirty="0">
              <a:solidFill>
                <a:schemeClr val="accent1"/>
              </a:solidFill>
              <a:effectLst>
                <a:outerShdw blurRad="254000" dist="127000" algn="ctr" rotWithShape="0">
                  <a:schemeClr val="accent1">
                    <a:alpha val="40000"/>
                  </a:schemeClr>
                </a:outerShdw>
              </a:effectLst>
            </a:endParaRPr>
          </a:p>
        </p:txBody>
      </p:sp>
      <p:sp>
        <p:nvSpPr>
          <p:cNvPr id="6" name="TextBox 32"/>
          <p:cNvSpPr txBox="1"/>
          <p:nvPr/>
        </p:nvSpPr>
        <p:spPr>
          <a:xfrm>
            <a:off x="9486637" y="4148946"/>
            <a:ext cx="2211839" cy="737452"/>
          </a:xfrm>
          <a:prstGeom prst="rect">
            <a:avLst/>
          </a:prstGeom>
          <a:noFill/>
          <a:ln>
            <a:noFill/>
          </a:ln>
        </p:spPr>
        <p:txBody>
          <a:bodyPr wrap="none" lIns="91440" tIns="45720" rIns="91440" bIns="45720" anchor="b" anchorCtr="0">
            <a:normAutofit/>
          </a:bodyPr>
          <a:lstStyle/>
          <a:p>
            <a:pPr>
              <a:lnSpc>
                <a:spcPct val="100000"/>
              </a:lnSpc>
              <a:buSzPct val="25000"/>
            </a:pPr>
            <a:r>
              <a:rPr lang="zh-CN" altLang="en-US" sz="1600" b="1" dirty="0"/>
              <a:t>农作物种植结构</a:t>
            </a:r>
          </a:p>
        </p:txBody>
      </p:sp>
      <p:sp>
        <p:nvSpPr>
          <p:cNvPr id="7" name="Rectangle 33"/>
          <p:cNvSpPr/>
          <p:nvPr/>
        </p:nvSpPr>
        <p:spPr>
          <a:xfrm flipH="1">
            <a:off x="9486637" y="5066480"/>
            <a:ext cx="2211839" cy="959622"/>
          </a:xfrm>
          <a:prstGeom prst="rect">
            <a:avLst/>
          </a:prstGeom>
          <a:ln>
            <a:noFill/>
          </a:ln>
        </p:spPr>
        <p:txBody>
          <a:bodyPr wrap="square" lIns="91440" tIns="45720" rIns="91440" bIns="45720" anchor="t">
            <a:spAutoFit/>
          </a:bodyPr>
          <a:lstStyle/>
          <a:p>
            <a:pPr marL="0" marR="0" lvl="0" indent="0" defTabSz="913765" rtl="0" eaLnBrk="1" fontAlgn="auto" latinLnBrk="0" hangingPunct="1">
              <a:lnSpc>
                <a:spcPct val="120000"/>
              </a:lnSpc>
              <a:spcBef>
                <a:spcPts val="0"/>
              </a:spcBef>
              <a:spcAft>
                <a:spcPts val="0"/>
              </a:spcAft>
              <a:buClrTx/>
              <a:buSzPct val="25000"/>
              <a:buFontTx/>
              <a:buNone/>
              <a:defRPr/>
            </a:pPr>
            <a:r>
              <a:rPr lang="zh-CN" altLang="en-US" sz="1200" b="0" i="0" dirty="0">
                <a:solidFill>
                  <a:srgbClr val="05073B"/>
                </a:solidFill>
                <a:effectLst/>
                <a:highlight>
                  <a:srgbClr val="FDFDFE"/>
                </a:highlight>
                <a:latin typeface="-apple-system"/>
              </a:rPr>
              <a:t>适应市场需求</a:t>
            </a:r>
            <a:endParaRPr lang="en-US" altLang="zh-CN" sz="1200" b="0" i="0" dirty="0">
              <a:solidFill>
                <a:srgbClr val="05073B"/>
              </a:solidFill>
              <a:effectLst/>
              <a:highlight>
                <a:srgbClr val="FDFDFE"/>
              </a:highlight>
              <a:latin typeface="-apple-system"/>
            </a:endParaRPr>
          </a:p>
          <a:p>
            <a:pPr marL="0" marR="0" lvl="0" indent="0" defTabSz="913765" rtl="0" eaLnBrk="1" fontAlgn="auto" latinLnBrk="0" hangingPunct="1">
              <a:lnSpc>
                <a:spcPct val="120000"/>
              </a:lnSpc>
              <a:spcBef>
                <a:spcPts val="0"/>
              </a:spcBef>
              <a:spcAft>
                <a:spcPts val="0"/>
              </a:spcAft>
              <a:buClrTx/>
              <a:buSzPct val="25000"/>
              <a:buFontTx/>
              <a:buNone/>
              <a:defRPr/>
            </a:pPr>
            <a:r>
              <a:rPr lang="zh-CN" altLang="en-US" sz="1200" b="0" i="0" dirty="0">
                <a:solidFill>
                  <a:srgbClr val="05073B"/>
                </a:solidFill>
                <a:effectLst/>
                <a:highlight>
                  <a:srgbClr val="FDFDFE"/>
                </a:highlight>
                <a:latin typeface="-apple-system"/>
              </a:rPr>
              <a:t>提高农业生产效率</a:t>
            </a:r>
            <a:endParaRPr lang="en-US" altLang="zh-CN" sz="1200" b="0" i="0" dirty="0">
              <a:solidFill>
                <a:srgbClr val="05073B"/>
              </a:solidFill>
              <a:effectLst/>
              <a:highlight>
                <a:srgbClr val="FDFDFE"/>
              </a:highlight>
              <a:latin typeface="-apple-system"/>
            </a:endParaRPr>
          </a:p>
          <a:p>
            <a:pPr marL="0" marR="0" lvl="0" indent="0" defTabSz="913765" rtl="0" eaLnBrk="1" fontAlgn="auto" latinLnBrk="0" hangingPunct="1">
              <a:lnSpc>
                <a:spcPct val="120000"/>
              </a:lnSpc>
              <a:spcBef>
                <a:spcPts val="0"/>
              </a:spcBef>
              <a:spcAft>
                <a:spcPts val="0"/>
              </a:spcAft>
              <a:buClrTx/>
              <a:buSzPct val="25000"/>
              <a:buFontTx/>
              <a:buNone/>
              <a:defRPr/>
            </a:pPr>
            <a:r>
              <a:rPr lang="zh-CN" altLang="en-US" sz="1200" b="0" i="0" dirty="0">
                <a:solidFill>
                  <a:srgbClr val="05073B"/>
                </a:solidFill>
                <a:effectLst/>
                <a:highlight>
                  <a:srgbClr val="FDFDFE"/>
                </a:highlight>
                <a:latin typeface="-apple-system"/>
              </a:rPr>
              <a:t>增加农民收入</a:t>
            </a:r>
            <a:endParaRPr lang="en-US" altLang="zh-CN" sz="1200" b="0" i="0" dirty="0">
              <a:solidFill>
                <a:srgbClr val="05073B"/>
              </a:solidFill>
              <a:effectLst/>
              <a:highlight>
                <a:srgbClr val="FDFDFE"/>
              </a:highlight>
              <a:latin typeface="-apple-system"/>
            </a:endParaRPr>
          </a:p>
          <a:p>
            <a:pPr marL="0" marR="0" lvl="0" indent="0" defTabSz="913765" rtl="0" eaLnBrk="1" fontAlgn="auto" latinLnBrk="0" hangingPunct="1">
              <a:lnSpc>
                <a:spcPct val="120000"/>
              </a:lnSpc>
              <a:spcBef>
                <a:spcPts val="0"/>
              </a:spcBef>
              <a:spcAft>
                <a:spcPts val="0"/>
              </a:spcAft>
              <a:buClrTx/>
              <a:buSzPct val="25000"/>
              <a:buFontTx/>
              <a:buNone/>
              <a:defRPr/>
            </a:pPr>
            <a:r>
              <a:rPr lang="zh-CN" altLang="en-US" sz="1200" b="0" i="0" dirty="0">
                <a:solidFill>
                  <a:srgbClr val="05073B"/>
                </a:solidFill>
                <a:effectLst/>
                <a:highlight>
                  <a:srgbClr val="FDFDFE"/>
                </a:highlight>
                <a:latin typeface="-apple-system"/>
              </a:rPr>
              <a:t>推动乡村经济的多元化发展</a:t>
            </a:r>
            <a:endParaRPr kumimoji="0" lang="zh-CN" altLang="en-US" sz="1200" b="0" i="0" u="none" strike="noStrike" kern="1200" cap="none" spc="0" normalizeH="0" baseline="0" noProof="0" dirty="0">
              <a:ln>
                <a:noFill/>
              </a:ln>
              <a:effectLst/>
              <a:uLnTx/>
              <a:uFillTx/>
            </a:endParaRPr>
          </a:p>
        </p:txBody>
      </p:sp>
      <p:sp>
        <p:nvSpPr>
          <p:cNvPr id="8" name="TextBox 34"/>
          <p:cNvSpPr txBox="1"/>
          <p:nvPr/>
        </p:nvSpPr>
        <p:spPr>
          <a:xfrm>
            <a:off x="9486637" y="3437924"/>
            <a:ext cx="2211839" cy="769441"/>
          </a:xfrm>
          <a:prstGeom prst="rect">
            <a:avLst/>
          </a:prstGeom>
          <a:noFill/>
        </p:spPr>
        <p:txBody>
          <a:bodyPr wrap="square" rtlCol="0">
            <a:sp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en-US" altLang="zh-CN" sz="4400" dirty="0">
                <a:solidFill>
                  <a:schemeClr val="accent3"/>
                </a:solidFill>
                <a:effectLst>
                  <a:outerShdw blurRad="254000" dist="127000" algn="ctr" rotWithShape="0">
                    <a:schemeClr val="accent3">
                      <a:alpha val="40000"/>
                    </a:schemeClr>
                  </a:outerShdw>
                </a:effectLst>
              </a:rPr>
              <a:t>02.</a:t>
            </a:r>
            <a:endParaRPr lang="zh-CN" altLang="en-US" sz="4400" dirty="0">
              <a:solidFill>
                <a:schemeClr val="accent3"/>
              </a:solidFill>
              <a:effectLst>
                <a:outerShdw blurRad="254000" dist="127000" algn="ctr" rotWithShape="0">
                  <a:schemeClr val="accent3">
                    <a:alpha val="40000"/>
                  </a:schemeClr>
                </a:outerShdw>
              </a:effectLst>
            </a:endParaRPr>
          </a:p>
        </p:txBody>
      </p:sp>
      <p:sp>
        <p:nvSpPr>
          <p:cNvPr id="9" name="TextBox 45"/>
          <p:cNvSpPr txBox="1"/>
          <p:nvPr/>
        </p:nvSpPr>
        <p:spPr>
          <a:xfrm>
            <a:off x="1096507" y="1161077"/>
            <a:ext cx="9986285" cy="461665"/>
          </a:xfrm>
          <a:prstGeom prst="rect">
            <a:avLst/>
          </a:prstGeom>
          <a:noFill/>
          <a:ln>
            <a:noFill/>
          </a:ln>
        </p:spPr>
        <p:txBody>
          <a:bodyPr wrap="square" lIns="91440" tIns="45720" rIns="91440" bIns="45720" anchor="ctr" anchorCtr="0">
            <a:spAutoFit/>
          </a:bodyPr>
          <a:lstStyle/>
          <a:p>
            <a:pPr marL="0" marR="0" lvl="0" indent="0" algn="ctr" defTabSz="913765" rtl="0" eaLnBrk="1" fontAlgn="auto" latinLnBrk="0" hangingPunct="1">
              <a:lnSpc>
                <a:spcPct val="100000"/>
              </a:lnSpc>
              <a:spcBef>
                <a:spcPts val="0"/>
              </a:spcBef>
              <a:spcAft>
                <a:spcPts val="0"/>
              </a:spcAft>
              <a:buClrTx/>
              <a:buSzPct val="25000"/>
              <a:buFontTx/>
              <a:buNone/>
              <a:defRPr/>
            </a:pPr>
            <a:r>
              <a:rPr kumimoji="0" lang="zh-CN" altLang="en-US" sz="2400" b="1" i="0" u="none" strike="noStrike" kern="1200" cap="none" spc="0" normalizeH="0" baseline="0" noProof="0" dirty="0">
                <a:solidFill>
                  <a:schemeClr val="tx1"/>
                </a:solidFill>
              </a:rPr>
              <a:t>乡村振兴</a:t>
            </a:r>
          </a:p>
        </p:txBody>
      </p:sp>
      <p:sp>
        <p:nvSpPr>
          <p:cNvPr id="10" name="TextBox 46"/>
          <p:cNvSpPr txBox="1"/>
          <p:nvPr/>
        </p:nvSpPr>
        <p:spPr>
          <a:xfrm>
            <a:off x="1096507" y="1595426"/>
            <a:ext cx="9986285" cy="294824"/>
          </a:xfrm>
          <a:prstGeom prst="rect">
            <a:avLst/>
          </a:prstGeom>
          <a:noFill/>
        </p:spPr>
        <p:txBody>
          <a:bodyPr wrap="square">
            <a:spAutoFit/>
          </a:bodyPr>
          <a:lstStyle/>
          <a:p>
            <a:pPr marL="0" marR="0" lvl="0" indent="0" algn="ctr" defTabSz="913765" rtl="0" eaLnBrk="1" fontAlgn="auto" latinLnBrk="0" hangingPunct="1">
              <a:lnSpc>
                <a:spcPct val="120000"/>
              </a:lnSpc>
              <a:spcBef>
                <a:spcPts val="0"/>
              </a:spcBef>
              <a:spcAft>
                <a:spcPts val="0"/>
              </a:spcAft>
              <a:buClrTx/>
              <a:buSzPct val="25000"/>
              <a:buFontTx/>
              <a:buNone/>
              <a:defRPr/>
            </a:pPr>
            <a:r>
              <a:rPr lang="zh-CN" altLang="en-US" sz="1200" b="0" i="0" dirty="0">
                <a:solidFill>
                  <a:srgbClr val="05073B"/>
                </a:solidFill>
                <a:effectLst/>
                <a:highlight>
                  <a:srgbClr val="FDFDFE"/>
                </a:highlight>
                <a:latin typeface="-apple-system"/>
              </a:rPr>
              <a:t>实现农业农村现代化，提升农民生活品质，缩小城乡发展差距</a:t>
            </a:r>
            <a:endParaRPr kumimoji="0" lang="zh-CN" altLang="en-US" sz="1200" b="0" i="0" u="none" strike="noStrike" kern="1200" cap="none" spc="0" normalizeH="0" baseline="0" noProof="0" dirty="0">
              <a:ln>
                <a:noFill/>
              </a:ln>
              <a:effectLst/>
              <a:uLnTx/>
              <a:uFillTx/>
            </a:endParaRPr>
          </a:p>
        </p:txBody>
      </p:sp>
      <p:grpSp>
        <p:nvGrpSpPr>
          <p:cNvPr id="11" name="组合 10"/>
          <p:cNvGrpSpPr/>
          <p:nvPr/>
        </p:nvGrpSpPr>
        <p:grpSpPr>
          <a:xfrm>
            <a:off x="7197311" y="1215969"/>
            <a:ext cx="1555750" cy="2606675"/>
            <a:chOff x="6658667" y="3388070"/>
            <a:chExt cx="1555750" cy="2606675"/>
          </a:xfrm>
        </p:grpSpPr>
        <p:sp>
          <p:nvSpPr>
            <p:cNvPr id="12" name="îŝ1iḍê"/>
            <p:cNvSpPr/>
            <p:nvPr/>
          </p:nvSpPr>
          <p:spPr bwMode="auto">
            <a:xfrm>
              <a:off x="6658667" y="3388070"/>
              <a:ext cx="1555750" cy="2606675"/>
            </a:xfrm>
            <a:custGeom>
              <a:avLst/>
              <a:gdLst>
                <a:gd name="T0" fmla="*/ 17 w 64"/>
                <a:gd name="T1" fmla="*/ 43 h 108"/>
                <a:gd name="T2" fmla="*/ 40 w 64"/>
                <a:gd name="T3" fmla="*/ 27 h 108"/>
                <a:gd name="T4" fmla="*/ 41 w 64"/>
                <a:gd name="T5" fmla="*/ 37 h 108"/>
                <a:gd name="T6" fmla="*/ 26 w 64"/>
                <a:gd name="T7" fmla="*/ 50 h 108"/>
                <a:gd name="T8" fmla="*/ 30 w 64"/>
                <a:gd name="T9" fmla="*/ 51 h 108"/>
                <a:gd name="T10" fmla="*/ 49 w 64"/>
                <a:gd name="T11" fmla="*/ 32 h 108"/>
                <a:gd name="T12" fmla="*/ 58 w 64"/>
                <a:gd name="T13" fmla="*/ 4 h 108"/>
                <a:gd name="T14" fmla="*/ 64 w 64"/>
                <a:gd name="T15" fmla="*/ 1 h 108"/>
                <a:gd name="T16" fmla="*/ 61 w 64"/>
                <a:gd name="T17" fmla="*/ 37 h 108"/>
                <a:gd name="T18" fmla="*/ 35 w 64"/>
                <a:gd name="T19" fmla="*/ 72 h 108"/>
                <a:gd name="T20" fmla="*/ 27 w 64"/>
                <a:gd name="T21" fmla="*/ 82 h 108"/>
                <a:gd name="T22" fmla="*/ 32 w 64"/>
                <a:gd name="T23" fmla="*/ 100 h 108"/>
                <a:gd name="T24" fmla="*/ 4 w 64"/>
                <a:gd name="T25" fmla="*/ 108 h 108"/>
                <a:gd name="T26" fmla="*/ 3 w 64"/>
                <a:gd name="T27" fmla="*/ 75 h 108"/>
                <a:gd name="T28" fmla="*/ 17 w 64"/>
                <a:gd name="T29" fmla="*/ 4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 h="108">
                  <a:moveTo>
                    <a:pt x="17" y="43"/>
                  </a:moveTo>
                  <a:cubicBezTo>
                    <a:pt x="26" y="38"/>
                    <a:pt x="40" y="27"/>
                    <a:pt x="40" y="27"/>
                  </a:cubicBezTo>
                  <a:cubicBezTo>
                    <a:pt x="40" y="27"/>
                    <a:pt x="44" y="32"/>
                    <a:pt x="41" y="37"/>
                  </a:cubicBezTo>
                  <a:cubicBezTo>
                    <a:pt x="38" y="42"/>
                    <a:pt x="26" y="50"/>
                    <a:pt x="26" y="50"/>
                  </a:cubicBezTo>
                  <a:cubicBezTo>
                    <a:pt x="26" y="50"/>
                    <a:pt x="26" y="54"/>
                    <a:pt x="30" y="51"/>
                  </a:cubicBezTo>
                  <a:cubicBezTo>
                    <a:pt x="34" y="48"/>
                    <a:pt x="49" y="32"/>
                    <a:pt x="49" y="32"/>
                  </a:cubicBezTo>
                  <a:cubicBezTo>
                    <a:pt x="49" y="32"/>
                    <a:pt x="57" y="8"/>
                    <a:pt x="58" y="4"/>
                  </a:cubicBezTo>
                  <a:cubicBezTo>
                    <a:pt x="60" y="0"/>
                    <a:pt x="64" y="1"/>
                    <a:pt x="64" y="1"/>
                  </a:cubicBezTo>
                  <a:cubicBezTo>
                    <a:pt x="64" y="1"/>
                    <a:pt x="61" y="34"/>
                    <a:pt x="61" y="37"/>
                  </a:cubicBezTo>
                  <a:cubicBezTo>
                    <a:pt x="60" y="40"/>
                    <a:pt x="35" y="72"/>
                    <a:pt x="35" y="72"/>
                  </a:cubicBezTo>
                  <a:cubicBezTo>
                    <a:pt x="27" y="82"/>
                    <a:pt x="27" y="82"/>
                    <a:pt x="27" y="82"/>
                  </a:cubicBezTo>
                  <a:cubicBezTo>
                    <a:pt x="32" y="100"/>
                    <a:pt x="32" y="100"/>
                    <a:pt x="32" y="100"/>
                  </a:cubicBezTo>
                  <a:cubicBezTo>
                    <a:pt x="24" y="104"/>
                    <a:pt x="14" y="106"/>
                    <a:pt x="4" y="108"/>
                  </a:cubicBezTo>
                  <a:cubicBezTo>
                    <a:pt x="3" y="75"/>
                    <a:pt x="3" y="75"/>
                    <a:pt x="3" y="75"/>
                  </a:cubicBezTo>
                  <a:cubicBezTo>
                    <a:pt x="0" y="62"/>
                    <a:pt x="8" y="48"/>
                    <a:pt x="17" y="43"/>
                  </a:cubicBezTo>
                  <a:close/>
                </a:path>
              </a:pathLst>
            </a:custGeom>
            <a:solidFill>
              <a:srgbClr val="FED29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 name="ïslîde"/>
            <p:cNvSpPr/>
            <p:nvPr/>
          </p:nvSpPr>
          <p:spPr bwMode="auto">
            <a:xfrm>
              <a:off x="7485755" y="4062757"/>
              <a:ext cx="146050" cy="120650"/>
            </a:xfrm>
            <a:custGeom>
              <a:avLst/>
              <a:gdLst>
                <a:gd name="T0" fmla="*/ 0 w 92"/>
                <a:gd name="T1" fmla="*/ 46 h 76"/>
                <a:gd name="T2" fmla="*/ 76 w 92"/>
                <a:gd name="T3" fmla="*/ 0 h 76"/>
                <a:gd name="T4" fmla="*/ 92 w 92"/>
                <a:gd name="T5" fmla="*/ 16 h 76"/>
                <a:gd name="T6" fmla="*/ 30 w 92"/>
                <a:gd name="T7" fmla="*/ 76 h 76"/>
                <a:gd name="T8" fmla="*/ 0 w 92"/>
                <a:gd name="T9" fmla="*/ 46 h 76"/>
              </a:gdLst>
              <a:ahLst/>
              <a:cxnLst>
                <a:cxn ang="0">
                  <a:pos x="T0" y="T1"/>
                </a:cxn>
                <a:cxn ang="0">
                  <a:pos x="T2" y="T3"/>
                </a:cxn>
                <a:cxn ang="0">
                  <a:pos x="T4" y="T5"/>
                </a:cxn>
                <a:cxn ang="0">
                  <a:pos x="T6" y="T7"/>
                </a:cxn>
                <a:cxn ang="0">
                  <a:pos x="T8" y="T9"/>
                </a:cxn>
              </a:cxnLst>
              <a:rect l="0" t="0" r="r" b="b"/>
              <a:pathLst>
                <a:path w="92" h="76">
                  <a:moveTo>
                    <a:pt x="0" y="46"/>
                  </a:moveTo>
                  <a:lnTo>
                    <a:pt x="76" y="0"/>
                  </a:lnTo>
                  <a:lnTo>
                    <a:pt x="92" y="16"/>
                  </a:lnTo>
                  <a:lnTo>
                    <a:pt x="30" y="76"/>
                  </a:lnTo>
                  <a:lnTo>
                    <a:pt x="0" y="46"/>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 name="íṧlíḑé"/>
            <p:cNvSpPr/>
            <p:nvPr/>
          </p:nvSpPr>
          <p:spPr bwMode="auto">
            <a:xfrm>
              <a:off x="7776267" y="3603970"/>
              <a:ext cx="195263" cy="604838"/>
            </a:xfrm>
            <a:custGeom>
              <a:avLst/>
              <a:gdLst>
                <a:gd name="T0" fmla="*/ 2 w 8"/>
                <a:gd name="T1" fmla="*/ 6 h 25"/>
                <a:gd name="T2" fmla="*/ 0 w 8"/>
                <a:gd name="T3" fmla="*/ 25 h 25"/>
                <a:gd name="T4" fmla="*/ 0 w 8"/>
                <a:gd name="T5" fmla="*/ 25 h 25"/>
                <a:gd name="T6" fmla="*/ 3 w 8"/>
                <a:gd name="T7" fmla="*/ 23 h 25"/>
                <a:gd name="T8" fmla="*/ 8 w 8"/>
                <a:gd name="T9" fmla="*/ 9 h 25"/>
                <a:gd name="T10" fmla="*/ 8 w 8"/>
                <a:gd name="T11" fmla="*/ 3 h 25"/>
                <a:gd name="T12" fmla="*/ 2 w 8"/>
                <a:gd name="T13" fmla="*/ 6 h 25"/>
              </a:gdLst>
              <a:ahLst/>
              <a:cxnLst>
                <a:cxn ang="0">
                  <a:pos x="T0" y="T1"/>
                </a:cxn>
                <a:cxn ang="0">
                  <a:pos x="T2" y="T3"/>
                </a:cxn>
                <a:cxn ang="0">
                  <a:pos x="T4" y="T5"/>
                </a:cxn>
                <a:cxn ang="0">
                  <a:pos x="T6" y="T7"/>
                </a:cxn>
                <a:cxn ang="0">
                  <a:pos x="T8" y="T9"/>
                </a:cxn>
                <a:cxn ang="0">
                  <a:pos x="T10" y="T11"/>
                </a:cxn>
                <a:cxn ang="0">
                  <a:pos x="T12" y="T13"/>
                </a:cxn>
              </a:cxnLst>
              <a:rect l="0" t="0" r="r" b="b"/>
              <a:pathLst>
                <a:path w="8" h="25">
                  <a:moveTo>
                    <a:pt x="2" y="6"/>
                  </a:moveTo>
                  <a:cubicBezTo>
                    <a:pt x="0" y="25"/>
                    <a:pt x="0" y="25"/>
                    <a:pt x="0" y="25"/>
                  </a:cubicBezTo>
                  <a:cubicBezTo>
                    <a:pt x="0" y="25"/>
                    <a:pt x="0" y="25"/>
                    <a:pt x="0" y="25"/>
                  </a:cubicBezTo>
                  <a:cubicBezTo>
                    <a:pt x="2" y="24"/>
                    <a:pt x="3" y="23"/>
                    <a:pt x="3" y="23"/>
                  </a:cubicBezTo>
                  <a:cubicBezTo>
                    <a:pt x="3" y="23"/>
                    <a:pt x="5" y="16"/>
                    <a:pt x="8" y="9"/>
                  </a:cubicBezTo>
                  <a:cubicBezTo>
                    <a:pt x="8" y="3"/>
                    <a:pt x="8" y="3"/>
                    <a:pt x="8" y="3"/>
                  </a:cubicBezTo>
                  <a:cubicBezTo>
                    <a:pt x="8" y="1"/>
                    <a:pt x="2" y="0"/>
                    <a:pt x="2" y="6"/>
                  </a:cubicBezTo>
                  <a:close/>
                </a:path>
              </a:pathLst>
            </a:custGeom>
            <a:solidFill>
              <a:srgbClr val="F0B97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pic>
        <p:nvPicPr>
          <p:cNvPr id="1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7222" y="2731286"/>
            <a:ext cx="2594401" cy="3131506"/>
          </a:xfrm>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grpSp>
        <p:nvGrpSpPr>
          <p:cNvPr id="16" name="组合 15"/>
          <p:cNvGrpSpPr/>
          <p:nvPr/>
        </p:nvGrpSpPr>
        <p:grpSpPr>
          <a:xfrm>
            <a:off x="3363000" y="1233445"/>
            <a:ext cx="1555750" cy="2606675"/>
            <a:chOff x="2538897" y="2820538"/>
            <a:chExt cx="1555750" cy="2606675"/>
          </a:xfrm>
        </p:grpSpPr>
        <p:sp>
          <p:nvSpPr>
            <p:cNvPr id="17" name="îṩ1îde"/>
            <p:cNvSpPr/>
            <p:nvPr/>
          </p:nvSpPr>
          <p:spPr bwMode="auto">
            <a:xfrm>
              <a:off x="2538897" y="2820538"/>
              <a:ext cx="1555750" cy="2606675"/>
            </a:xfrm>
            <a:custGeom>
              <a:avLst/>
              <a:gdLst>
                <a:gd name="T0" fmla="*/ 47 w 64"/>
                <a:gd name="T1" fmla="*/ 43 h 108"/>
                <a:gd name="T2" fmla="*/ 25 w 64"/>
                <a:gd name="T3" fmla="*/ 27 h 108"/>
                <a:gd name="T4" fmla="*/ 23 w 64"/>
                <a:gd name="T5" fmla="*/ 37 h 108"/>
                <a:gd name="T6" fmla="*/ 38 w 64"/>
                <a:gd name="T7" fmla="*/ 50 h 108"/>
                <a:gd name="T8" fmla="*/ 34 w 64"/>
                <a:gd name="T9" fmla="*/ 51 h 108"/>
                <a:gd name="T10" fmla="*/ 15 w 64"/>
                <a:gd name="T11" fmla="*/ 32 h 108"/>
                <a:gd name="T12" fmla="*/ 6 w 64"/>
                <a:gd name="T13" fmla="*/ 4 h 108"/>
                <a:gd name="T14" fmla="*/ 0 w 64"/>
                <a:gd name="T15" fmla="*/ 1 h 108"/>
                <a:gd name="T16" fmla="*/ 3 w 64"/>
                <a:gd name="T17" fmla="*/ 37 h 108"/>
                <a:gd name="T18" fmla="*/ 30 w 64"/>
                <a:gd name="T19" fmla="*/ 72 h 108"/>
                <a:gd name="T20" fmla="*/ 37 w 64"/>
                <a:gd name="T21" fmla="*/ 82 h 108"/>
                <a:gd name="T22" fmla="*/ 32 w 64"/>
                <a:gd name="T23" fmla="*/ 100 h 108"/>
                <a:gd name="T24" fmla="*/ 60 w 64"/>
                <a:gd name="T25" fmla="*/ 108 h 108"/>
                <a:gd name="T26" fmla="*/ 61 w 64"/>
                <a:gd name="T27" fmla="*/ 75 h 108"/>
                <a:gd name="T28" fmla="*/ 47 w 64"/>
                <a:gd name="T29" fmla="*/ 4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 h="108">
                  <a:moveTo>
                    <a:pt x="47" y="43"/>
                  </a:moveTo>
                  <a:cubicBezTo>
                    <a:pt x="39" y="38"/>
                    <a:pt x="25" y="27"/>
                    <a:pt x="25" y="27"/>
                  </a:cubicBezTo>
                  <a:cubicBezTo>
                    <a:pt x="25" y="27"/>
                    <a:pt x="21" y="32"/>
                    <a:pt x="23" y="37"/>
                  </a:cubicBezTo>
                  <a:cubicBezTo>
                    <a:pt x="26" y="42"/>
                    <a:pt x="38" y="50"/>
                    <a:pt x="38" y="50"/>
                  </a:cubicBezTo>
                  <a:cubicBezTo>
                    <a:pt x="38" y="50"/>
                    <a:pt x="38" y="54"/>
                    <a:pt x="34" y="51"/>
                  </a:cubicBezTo>
                  <a:cubicBezTo>
                    <a:pt x="30" y="48"/>
                    <a:pt x="15" y="32"/>
                    <a:pt x="15" y="32"/>
                  </a:cubicBezTo>
                  <a:cubicBezTo>
                    <a:pt x="15" y="32"/>
                    <a:pt x="8" y="8"/>
                    <a:pt x="6" y="4"/>
                  </a:cubicBezTo>
                  <a:cubicBezTo>
                    <a:pt x="4" y="0"/>
                    <a:pt x="0" y="1"/>
                    <a:pt x="0" y="1"/>
                  </a:cubicBezTo>
                  <a:cubicBezTo>
                    <a:pt x="0" y="1"/>
                    <a:pt x="3" y="34"/>
                    <a:pt x="3" y="37"/>
                  </a:cubicBezTo>
                  <a:cubicBezTo>
                    <a:pt x="4" y="40"/>
                    <a:pt x="30" y="72"/>
                    <a:pt x="30" y="72"/>
                  </a:cubicBezTo>
                  <a:cubicBezTo>
                    <a:pt x="37" y="82"/>
                    <a:pt x="37" y="82"/>
                    <a:pt x="37" y="82"/>
                  </a:cubicBezTo>
                  <a:cubicBezTo>
                    <a:pt x="32" y="100"/>
                    <a:pt x="32" y="100"/>
                    <a:pt x="32" y="100"/>
                  </a:cubicBezTo>
                  <a:cubicBezTo>
                    <a:pt x="41" y="104"/>
                    <a:pt x="50" y="106"/>
                    <a:pt x="60" y="108"/>
                  </a:cubicBezTo>
                  <a:cubicBezTo>
                    <a:pt x="61" y="75"/>
                    <a:pt x="61" y="75"/>
                    <a:pt x="61" y="75"/>
                  </a:cubicBezTo>
                  <a:cubicBezTo>
                    <a:pt x="64" y="62"/>
                    <a:pt x="56" y="48"/>
                    <a:pt x="47" y="43"/>
                  </a:cubicBezTo>
                  <a:close/>
                </a:path>
              </a:pathLst>
            </a:custGeom>
            <a:solidFill>
              <a:srgbClr val="FED29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8" name="íş1îḓé"/>
            <p:cNvSpPr/>
            <p:nvPr/>
          </p:nvSpPr>
          <p:spPr bwMode="auto">
            <a:xfrm>
              <a:off x="3121510" y="3495225"/>
              <a:ext cx="146050" cy="120650"/>
            </a:xfrm>
            <a:custGeom>
              <a:avLst/>
              <a:gdLst>
                <a:gd name="T0" fmla="*/ 92 w 92"/>
                <a:gd name="T1" fmla="*/ 46 h 76"/>
                <a:gd name="T2" fmla="*/ 16 w 92"/>
                <a:gd name="T3" fmla="*/ 0 h 76"/>
                <a:gd name="T4" fmla="*/ 0 w 92"/>
                <a:gd name="T5" fmla="*/ 31 h 76"/>
                <a:gd name="T6" fmla="*/ 62 w 92"/>
                <a:gd name="T7" fmla="*/ 76 h 76"/>
                <a:gd name="T8" fmla="*/ 92 w 92"/>
                <a:gd name="T9" fmla="*/ 46 h 76"/>
              </a:gdLst>
              <a:ahLst/>
              <a:cxnLst>
                <a:cxn ang="0">
                  <a:pos x="T0" y="T1"/>
                </a:cxn>
                <a:cxn ang="0">
                  <a:pos x="T2" y="T3"/>
                </a:cxn>
                <a:cxn ang="0">
                  <a:pos x="T4" y="T5"/>
                </a:cxn>
                <a:cxn ang="0">
                  <a:pos x="T6" y="T7"/>
                </a:cxn>
                <a:cxn ang="0">
                  <a:pos x="T8" y="T9"/>
                </a:cxn>
              </a:cxnLst>
              <a:rect l="0" t="0" r="r" b="b"/>
              <a:pathLst>
                <a:path w="92" h="76">
                  <a:moveTo>
                    <a:pt x="92" y="46"/>
                  </a:moveTo>
                  <a:lnTo>
                    <a:pt x="16" y="0"/>
                  </a:lnTo>
                  <a:lnTo>
                    <a:pt x="0" y="31"/>
                  </a:lnTo>
                  <a:lnTo>
                    <a:pt x="62" y="76"/>
                  </a:lnTo>
                  <a:lnTo>
                    <a:pt x="92" y="46"/>
                  </a:lnTo>
                  <a:close/>
                </a:path>
              </a:pathLst>
            </a:custGeom>
            <a:solidFill>
              <a:srgbClr val="FEFEF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9" name="í$ḻíḓé"/>
            <p:cNvSpPr/>
            <p:nvPr/>
          </p:nvSpPr>
          <p:spPr bwMode="auto">
            <a:xfrm>
              <a:off x="2781785" y="3036438"/>
              <a:ext cx="193675" cy="604838"/>
            </a:xfrm>
            <a:custGeom>
              <a:avLst/>
              <a:gdLst>
                <a:gd name="T0" fmla="*/ 7 w 8"/>
                <a:gd name="T1" fmla="*/ 6 h 25"/>
                <a:gd name="T2" fmla="*/ 8 w 8"/>
                <a:gd name="T3" fmla="*/ 25 h 25"/>
                <a:gd name="T4" fmla="*/ 8 w 8"/>
                <a:gd name="T5" fmla="*/ 25 h 25"/>
                <a:gd name="T6" fmla="*/ 5 w 8"/>
                <a:gd name="T7" fmla="*/ 23 h 25"/>
                <a:gd name="T8" fmla="*/ 1 w 8"/>
                <a:gd name="T9" fmla="*/ 9 h 25"/>
                <a:gd name="T10" fmla="*/ 1 w 8"/>
                <a:gd name="T11" fmla="*/ 3 h 25"/>
                <a:gd name="T12" fmla="*/ 7 w 8"/>
                <a:gd name="T13" fmla="*/ 6 h 25"/>
              </a:gdLst>
              <a:ahLst/>
              <a:cxnLst>
                <a:cxn ang="0">
                  <a:pos x="T0" y="T1"/>
                </a:cxn>
                <a:cxn ang="0">
                  <a:pos x="T2" y="T3"/>
                </a:cxn>
                <a:cxn ang="0">
                  <a:pos x="T4" y="T5"/>
                </a:cxn>
                <a:cxn ang="0">
                  <a:pos x="T6" y="T7"/>
                </a:cxn>
                <a:cxn ang="0">
                  <a:pos x="T8" y="T9"/>
                </a:cxn>
                <a:cxn ang="0">
                  <a:pos x="T10" y="T11"/>
                </a:cxn>
                <a:cxn ang="0">
                  <a:pos x="T12" y="T13"/>
                </a:cxn>
              </a:cxnLst>
              <a:rect l="0" t="0" r="r" b="b"/>
              <a:pathLst>
                <a:path w="8" h="25">
                  <a:moveTo>
                    <a:pt x="7" y="6"/>
                  </a:moveTo>
                  <a:cubicBezTo>
                    <a:pt x="8" y="25"/>
                    <a:pt x="8" y="25"/>
                    <a:pt x="8" y="25"/>
                  </a:cubicBezTo>
                  <a:cubicBezTo>
                    <a:pt x="8" y="25"/>
                    <a:pt x="8" y="25"/>
                    <a:pt x="8" y="25"/>
                  </a:cubicBezTo>
                  <a:cubicBezTo>
                    <a:pt x="6" y="24"/>
                    <a:pt x="5" y="23"/>
                    <a:pt x="5" y="23"/>
                  </a:cubicBezTo>
                  <a:cubicBezTo>
                    <a:pt x="5" y="23"/>
                    <a:pt x="3" y="16"/>
                    <a:pt x="1" y="9"/>
                  </a:cubicBezTo>
                  <a:cubicBezTo>
                    <a:pt x="1" y="3"/>
                    <a:pt x="1" y="3"/>
                    <a:pt x="1" y="3"/>
                  </a:cubicBezTo>
                  <a:cubicBezTo>
                    <a:pt x="0" y="1"/>
                    <a:pt x="6" y="0"/>
                    <a:pt x="7" y="6"/>
                  </a:cubicBezTo>
                  <a:close/>
                </a:path>
              </a:pathLst>
            </a:custGeom>
            <a:solidFill>
              <a:srgbClr val="F0B97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pic>
        <p:nvPicPr>
          <p:cNvPr id="2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111" y="2804291"/>
            <a:ext cx="2594401" cy="3131505"/>
          </a:xfrm>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softEdge rad="0"/>
          </a:effectLst>
          <a:extLst>
            <a:ext uri="{909E8E84-426E-40DD-AFC4-6F175D3DCCD1}">
              <a14:hiddenFill xmlns:a14="http://schemas.microsoft.com/office/drawing/2010/main">
                <a:solidFill>
                  <a:srgbClr val="FFFFFF"/>
                </a:solidFill>
              </a14:hiddenFill>
            </a:ext>
          </a:extLst>
        </p:spPr>
      </p:pic>
      <p:sp>
        <p:nvSpPr>
          <p:cNvPr id="21" name="Title 49"/>
          <p:cNvSpPr>
            <a:spLocks noGrp="1"/>
          </p:cNvSpPr>
          <p:nvPr>
            <p:ph type="title"/>
          </p:nvPr>
        </p:nvSpPr>
        <p:spPr>
          <a:xfrm>
            <a:off x="660399" y="0"/>
            <a:ext cx="10858500" cy="1028700"/>
          </a:xfrm>
        </p:spPr>
        <p:txBody>
          <a:bodyPr wrap="square">
            <a:normAutofit/>
          </a:bodyPr>
          <a:lstStyle/>
          <a:p>
            <a:pPr lvl="0"/>
            <a:r>
              <a:rPr lang="zh-CN" altLang="en-US" dirty="0"/>
              <a:t>选题背景</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000"/>
                                        <p:tgtEl>
                                          <p:spTgt spid="15"/>
                                        </p:tgtEl>
                                      </p:cBhvr>
                                    </p:animEffect>
                                    <p:anim calcmode="lin" valueType="num">
                                      <p:cBhvr>
                                        <p:cTn id="26" dur="1000" fill="hold"/>
                                        <p:tgtEl>
                                          <p:spTgt spid="15"/>
                                        </p:tgtEl>
                                        <p:attrNameLst>
                                          <p:attrName>ppt_x</p:attrName>
                                        </p:attrNameLst>
                                      </p:cBhvr>
                                      <p:tavLst>
                                        <p:tav tm="0">
                                          <p:val>
                                            <p:strVal val="#ppt_x"/>
                                          </p:val>
                                        </p:tav>
                                        <p:tav tm="100000">
                                          <p:val>
                                            <p:strVal val="#ppt_x"/>
                                          </p:val>
                                        </p:tav>
                                      </p:tavLst>
                                    </p:anim>
                                    <p:anim calcmode="lin" valueType="num">
                                      <p:cBhvr>
                                        <p:cTn id="2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1000"/>
                                        <p:tgtEl>
                                          <p:spTgt spid="16"/>
                                        </p:tgtEl>
                                      </p:cBhvr>
                                    </p:animEffect>
                                    <p:anim calcmode="lin" valueType="num">
                                      <p:cBhvr>
                                        <p:cTn id="44" dur="1000" fill="hold"/>
                                        <p:tgtEl>
                                          <p:spTgt spid="16"/>
                                        </p:tgtEl>
                                        <p:attrNameLst>
                                          <p:attrName>ppt_x</p:attrName>
                                        </p:attrNameLst>
                                      </p:cBhvr>
                                      <p:tavLst>
                                        <p:tav tm="0">
                                          <p:val>
                                            <p:strVal val="#ppt_x"/>
                                          </p:val>
                                        </p:tav>
                                        <p:tav tm="100000">
                                          <p:val>
                                            <p:strVal val="#ppt_x"/>
                                          </p:val>
                                        </p:tav>
                                      </p:tavLst>
                                    </p:anim>
                                    <p:anim calcmode="lin" valueType="num">
                                      <p:cBhvr>
                                        <p:cTn id="45" dur="1000" fill="hold"/>
                                        <p:tgtEl>
                                          <p:spTgt spid="16"/>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000"/>
                                        <p:tgtEl>
                                          <p:spTgt spid="11"/>
                                        </p:tgtEl>
                                      </p:cBhvr>
                                    </p:animEffect>
                                    <p:anim calcmode="lin" valueType="num">
                                      <p:cBhvr>
                                        <p:cTn id="49" dur="1000" fill="hold"/>
                                        <p:tgtEl>
                                          <p:spTgt spid="11"/>
                                        </p:tgtEl>
                                        <p:attrNameLst>
                                          <p:attrName>ppt_x</p:attrName>
                                        </p:attrNameLst>
                                      </p:cBhvr>
                                      <p:tavLst>
                                        <p:tav tm="0">
                                          <p:val>
                                            <p:strVal val="#ppt_x"/>
                                          </p:val>
                                        </p:tav>
                                        <p:tav tm="100000">
                                          <p:val>
                                            <p:strVal val="#ppt_x"/>
                                          </p:val>
                                        </p:tav>
                                      </p:tavLst>
                                    </p:anim>
                                    <p:anim calcmode="lin" valueType="num">
                                      <p:cBhvr>
                                        <p:cTn id="5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p:cTn id="55" dur="500" fill="hold"/>
                                        <p:tgtEl>
                                          <p:spTgt spid="10"/>
                                        </p:tgtEl>
                                        <p:attrNameLst>
                                          <p:attrName>ppt_w</p:attrName>
                                        </p:attrNameLst>
                                      </p:cBhvr>
                                      <p:tavLst>
                                        <p:tav tm="0">
                                          <p:val>
                                            <p:fltVal val="0"/>
                                          </p:val>
                                        </p:tav>
                                        <p:tav tm="100000">
                                          <p:val>
                                            <p:strVal val="#ppt_w"/>
                                          </p:val>
                                        </p:tav>
                                      </p:tavLst>
                                    </p:anim>
                                    <p:anim calcmode="lin" valueType="num">
                                      <p:cBhvr>
                                        <p:cTn id="56" dur="500" fill="hold"/>
                                        <p:tgtEl>
                                          <p:spTgt spid="10"/>
                                        </p:tgtEl>
                                        <p:attrNameLst>
                                          <p:attrName>ppt_h</p:attrName>
                                        </p:attrNameLst>
                                      </p:cBhvr>
                                      <p:tavLst>
                                        <p:tav tm="0">
                                          <p:val>
                                            <p:fltVal val="0"/>
                                          </p:val>
                                        </p:tav>
                                        <p:tav tm="100000">
                                          <p:val>
                                            <p:strVal val="#ppt_h"/>
                                          </p:val>
                                        </p:tav>
                                      </p:tavLst>
                                    </p:anim>
                                    <p:animEffect transition="in" filter="fade">
                                      <p:cBhvr>
                                        <p:cTn id="57" dur="500"/>
                                        <p:tgtEl>
                                          <p:spTgt spid="10"/>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9"/>
                                        </p:tgtEl>
                                        <p:attrNameLst>
                                          <p:attrName>style.visibility</p:attrName>
                                        </p:attrNameLst>
                                      </p:cBhvr>
                                      <p:to>
                                        <p:strVal val="visible"/>
                                      </p:to>
                                    </p:set>
                                    <p:anim calcmode="lin" valueType="num">
                                      <p:cBhvr>
                                        <p:cTn id="60" dur="500" fill="hold"/>
                                        <p:tgtEl>
                                          <p:spTgt spid="9"/>
                                        </p:tgtEl>
                                        <p:attrNameLst>
                                          <p:attrName>ppt_w</p:attrName>
                                        </p:attrNameLst>
                                      </p:cBhvr>
                                      <p:tavLst>
                                        <p:tav tm="0">
                                          <p:val>
                                            <p:fltVal val="0"/>
                                          </p:val>
                                        </p:tav>
                                        <p:tav tm="100000">
                                          <p:val>
                                            <p:strVal val="#ppt_w"/>
                                          </p:val>
                                        </p:tav>
                                      </p:tavLst>
                                    </p:anim>
                                    <p:anim calcmode="lin" valueType="num">
                                      <p:cBhvr>
                                        <p:cTn id="61" dur="500" fill="hold"/>
                                        <p:tgtEl>
                                          <p:spTgt spid="9"/>
                                        </p:tgtEl>
                                        <p:attrNameLst>
                                          <p:attrName>ppt_h</p:attrName>
                                        </p:attrNameLst>
                                      </p:cBhvr>
                                      <p:tavLst>
                                        <p:tav tm="0">
                                          <p:val>
                                            <p:fltVal val="0"/>
                                          </p:val>
                                        </p:tav>
                                        <p:tav tm="100000">
                                          <p:val>
                                            <p:strVal val="#ppt_h"/>
                                          </p:val>
                                        </p:tav>
                                      </p:tavLst>
                                    </p:anim>
                                    <p:animEffect transition="in" filter="fade">
                                      <p:cBhvr>
                                        <p:cTn id="6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wrap="square">
            <a:normAutofit/>
          </a:bodyPr>
          <a:lstStyle/>
          <a:p>
            <a:pPr lvl="0"/>
            <a:r>
              <a:rPr lang="en-US" dirty="0"/>
              <a:t>02.</a:t>
            </a:r>
            <a:r>
              <a:rPr lang="zh-CN" altLang="en-US" dirty="0"/>
              <a:t>研究思路</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5AFFE42C-455E-9CC3-D28E-69B877D2F288}"/>
              </a:ext>
            </a:extLst>
          </p:cNvPr>
          <p:cNvGrpSpPr/>
          <p:nvPr/>
        </p:nvGrpSpPr>
        <p:grpSpPr>
          <a:xfrm>
            <a:off x="1712260" y="4954153"/>
            <a:ext cx="7640116" cy="1773026"/>
            <a:chOff x="3613404" y="3030071"/>
            <a:chExt cx="7640116" cy="1773026"/>
          </a:xfrm>
        </p:grpSpPr>
        <p:pic>
          <p:nvPicPr>
            <p:cNvPr id="34" name="图片 33">
              <a:extLst>
                <a:ext uri="{FF2B5EF4-FFF2-40B4-BE49-F238E27FC236}">
                  <a16:creationId xmlns:a16="http://schemas.microsoft.com/office/drawing/2014/main" id="{1B1667AF-2064-F4B1-E1F1-E0E614479E80}"/>
                </a:ext>
              </a:extLst>
            </p:cNvPr>
            <p:cNvPicPr>
              <a:picLocks noChangeAspect="1"/>
            </p:cNvPicPr>
            <p:nvPr/>
          </p:nvPicPr>
          <p:blipFill>
            <a:blip r:embed="rId2"/>
            <a:stretch>
              <a:fillRect/>
            </a:stretch>
          </p:blipFill>
          <p:spPr>
            <a:xfrm>
              <a:off x="3613404" y="3183621"/>
              <a:ext cx="7640116" cy="1619476"/>
            </a:xfrm>
            <a:prstGeom prst="rect">
              <a:avLst/>
            </a:prstGeom>
          </p:spPr>
        </p:pic>
        <p:sp>
          <p:nvSpPr>
            <p:cNvPr id="35" name="矩形 34">
              <a:extLst>
                <a:ext uri="{FF2B5EF4-FFF2-40B4-BE49-F238E27FC236}">
                  <a16:creationId xmlns:a16="http://schemas.microsoft.com/office/drawing/2014/main" id="{C6D66AF3-D157-78C1-0C06-0A55B619072B}"/>
                </a:ext>
              </a:extLst>
            </p:cNvPr>
            <p:cNvSpPr/>
            <p:nvPr/>
          </p:nvSpPr>
          <p:spPr>
            <a:xfrm>
              <a:off x="10479740" y="3030071"/>
              <a:ext cx="466166" cy="2270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5" name="图片 24">
            <a:extLst>
              <a:ext uri="{FF2B5EF4-FFF2-40B4-BE49-F238E27FC236}">
                <a16:creationId xmlns:a16="http://schemas.microsoft.com/office/drawing/2014/main" id="{F58D114B-7D0D-2068-3F3C-CCAAC10F92A3}"/>
              </a:ext>
            </a:extLst>
          </p:cNvPr>
          <p:cNvPicPr>
            <a:picLocks noChangeAspect="1"/>
          </p:cNvPicPr>
          <p:nvPr/>
        </p:nvPicPr>
        <p:blipFill>
          <a:blip r:embed="rId3"/>
          <a:stretch>
            <a:fillRect/>
          </a:stretch>
        </p:blipFill>
        <p:spPr>
          <a:xfrm>
            <a:off x="1712260" y="3659666"/>
            <a:ext cx="7606704" cy="1393378"/>
          </a:xfrm>
          <a:prstGeom prst="rect">
            <a:avLst/>
          </a:prstGeom>
        </p:spPr>
      </p:pic>
      <p:pic>
        <p:nvPicPr>
          <p:cNvPr id="10" name="图片 9">
            <a:extLst>
              <a:ext uri="{FF2B5EF4-FFF2-40B4-BE49-F238E27FC236}">
                <a16:creationId xmlns:a16="http://schemas.microsoft.com/office/drawing/2014/main" id="{4D8979C1-6774-B184-0967-15CB2960DBE9}"/>
              </a:ext>
            </a:extLst>
          </p:cNvPr>
          <p:cNvPicPr>
            <a:picLocks noChangeAspect="1"/>
          </p:cNvPicPr>
          <p:nvPr/>
        </p:nvPicPr>
        <p:blipFill rotWithShape="1">
          <a:blip r:embed="rId4"/>
          <a:srcRect l="32505" r="8134" b="30626"/>
          <a:stretch/>
        </p:blipFill>
        <p:spPr>
          <a:xfrm>
            <a:off x="6230471" y="869183"/>
            <a:ext cx="2997598" cy="1953040"/>
          </a:xfrm>
          <a:prstGeom prst="rect">
            <a:avLst/>
          </a:prstGeom>
        </p:spPr>
      </p:pic>
      <p:grpSp>
        <p:nvGrpSpPr>
          <p:cNvPr id="9" name="组合 8">
            <a:extLst>
              <a:ext uri="{FF2B5EF4-FFF2-40B4-BE49-F238E27FC236}">
                <a16:creationId xmlns:a16="http://schemas.microsoft.com/office/drawing/2014/main" id="{123F8461-436F-F75D-AC47-80C362A5A22F}"/>
              </a:ext>
            </a:extLst>
          </p:cNvPr>
          <p:cNvGrpSpPr/>
          <p:nvPr/>
        </p:nvGrpSpPr>
        <p:grpSpPr>
          <a:xfrm>
            <a:off x="3091791" y="968188"/>
            <a:ext cx="2945854" cy="2598331"/>
            <a:chOff x="3091791" y="968188"/>
            <a:chExt cx="2945854" cy="2598331"/>
          </a:xfrm>
        </p:grpSpPr>
        <p:pic>
          <p:nvPicPr>
            <p:cNvPr id="3" name="图片 2">
              <a:extLst>
                <a:ext uri="{FF2B5EF4-FFF2-40B4-BE49-F238E27FC236}">
                  <a16:creationId xmlns:a16="http://schemas.microsoft.com/office/drawing/2014/main" id="{92177E08-820D-71BD-D39B-B480256C6688}"/>
                </a:ext>
              </a:extLst>
            </p:cNvPr>
            <p:cNvPicPr>
              <a:picLocks noChangeAspect="1"/>
            </p:cNvPicPr>
            <p:nvPr/>
          </p:nvPicPr>
          <p:blipFill rotWithShape="1">
            <a:blip r:embed="rId5"/>
            <a:srcRect l="35188" t="1643" r="492"/>
            <a:stretch/>
          </p:blipFill>
          <p:spPr>
            <a:xfrm>
              <a:off x="3219038" y="968188"/>
              <a:ext cx="2818607" cy="2598331"/>
            </a:xfrm>
            <a:prstGeom prst="rect">
              <a:avLst/>
            </a:prstGeom>
          </p:spPr>
        </p:pic>
        <p:sp>
          <p:nvSpPr>
            <p:cNvPr id="7" name="矩形 6">
              <a:extLst>
                <a:ext uri="{FF2B5EF4-FFF2-40B4-BE49-F238E27FC236}">
                  <a16:creationId xmlns:a16="http://schemas.microsoft.com/office/drawing/2014/main" id="{803E09F5-B407-9611-0E20-E024D0EEDBC2}"/>
                </a:ext>
              </a:extLst>
            </p:cNvPr>
            <p:cNvSpPr/>
            <p:nvPr/>
          </p:nvSpPr>
          <p:spPr>
            <a:xfrm>
              <a:off x="3091791" y="1622611"/>
              <a:ext cx="277906" cy="14971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6" name="图片 5">
            <a:extLst>
              <a:ext uri="{FF2B5EF4-FFF2-40B4-BE49-F238E27FC236}">
                <a16:creationId xmlns:a16="http://schemas.microsoft.com/office/drawing/2014/main" id="{FCB24F0E-2324-5A4F-94BC-816F9DBE4A50}"/>
              </a:ext>
            </a:extLst>
          </p:cNvPr>
          <p:cNvPicPr>
            <a:picLocks noChangeAspect="1"/>
          </p:cNvPicPr>
          <p:nvPr/>
        </p:nvPicPr>
        <p:blipFill>
          <a:blip r:embed="rId6"/>
          <a:stretch>
            <a:fillRect/>
          </a:stretch>
        </p:blipFill>
        <p:spPr>
          <a:xfrm>
            <a:off x="1607326" y="1485215"/>
            <a:ext cx="1762371" cy="1771897"/>
          </a:xfrm>
          <a:prstGeom prst="rect">
            <a:avLst/>
          </a:prstGeom>
        </p:spPr>
      </p:pic>
      <p:pic>
        <p:nvPicPr>
          <p:cNvPr id="27" name="图片 26">
            <a:extLst>
              <a:ext uri="{FF2B5EF4-FFF2-40B4-BE49-F238E27FC236}">
                <a16:creationId xmlns:a16="http://schemas.microsoft.com/office/drawing/2014/main" id="{43989B27-78FB-086E-9B4B-7AC25E119953}"/>
              </a:ext>
            </a:extLst>
          </p:cNvPr>
          <p:cNvPicPr>
            <a:picLocks noChangeAspect="1"/>
          </p:cNvPicPr>
          <p:nvPr/>
        </p:nvPicPr>
        <p:blipFill>
          <a:blip r:embed="rId7"/>
          <a:stretch>
            <a:fillRect/>
          </a:stretch>
        </p:blipFill>
        <p:spPr>
          <a:xfrm>
            <a:off x="6230471" y="2771359"/>
            <a:ext cx="2203535" cy="1094967"/>
          </a:xfrm>
          <a:prstGeom prst="rect">
            <a:avLst/>
          </a:prstGeom>
        </p:spPr>
      </p:pic>
      <p:sp>
        <p:nvSpPr>
          <p:cNvPr id="30" name="箭头: 圆角右 29">
            <a:extLst>
              <a:ext uri="{FF2B5EF4-FFF2-40B4-BE49-F238E27FC236}">
                <a16:creationId xmlns:a16="http://schemas.microsoft.com/office/drawing/2014/main" id="{00AC5B63-2489-7F76-C57F-6200BE419E8C}"/>
              </a:ext>
            </a:extLst>
          </p:cNvPr>
          <p:cNvSpPr/>
          <p:nvPr/>
        </p:nvSpPr>
        <p:spPr>
          <a:xfrm rot="5400000">
            <a:off x="7724848" y="3970294"/>
            <a:ext cx="1953040" cy="526677"/>
          </a:xfrm>
          <a:prstGeom prst="bentArrow">
            <a:avLst>
              <a:gd name="adj1" fmla="val 23184"/>
              <a:gd name="adj2" fmla="val 23326"/>
              <a:gd name="adj3" fmla="val 25000"/>
              <a:gd name="adj4" fmla="val 38360"/>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pic>
        <p:nvPicPr>
          <p:cNvPr id="38" name="图片 37">
            <a:extLst>
              <a:ext uri="{FF2B5EF4-FFF2-40B4-BE49-F238E27FC236}">
                <a16:creationId xmlns:a16="http://schemas.microsoft.com/office/drawing/2014/main" id="{2570FF0B-9206-7C79-0AFE-D0C38B73984F}"/>
              </a:ext>
            </a:extLst>
          </p:cNvPr>
          <p:cNvPicPr>
            <a:picLocks noChangeAspect="1"/>
          </p:cNvPicPr>
          <p:nvPr/>
        </p:nvPicPr>
        <p:blipFill>
          <a:blip r:embed="rId8"/>
          <a:stretch>
            <a:fillRect/>
          </a:stretch>
        </p:blipFill>
        <p:spPr>
          <a:xfrm>
            <a:off x="1669918" y="39199"/>
            <a:ext cx="8854647" cy="895475"/>
          </a:xfrm>
          <a:prstGeom prst="rect">
            <a:avLst/>
          </a:prstGeom>
        </p:spPr>
      </p:pic>
      <p:pic>
        <p:nvPicPr>
          <p:cNvPr id="42" name="图片 41">
            <a:extLst>
              <a:ext uri="{FF2B5EF4-FFF2-40B4-BE49-F238E27FC236}">
                <a16:creationId xmlns:a16="http://schemas.microsoft.com/office/drawing/2014/main" id="{D74055A0-FBAA-3E69-B3D0-FA49FEFD0459}"/>
              </a:ext>
            </a:extLst>
          </p:cNvPr>
          <p:cNvPicPr>
            <a:picLocks noChangeAspect="1"/>
          </p:cNvPicPr>
          <p:nvPr/>
        </p:nvPicPr>
        <p:blipFill>
          <a:blip r:embed="rId9"/>
          <a:stretch>
            <a:fillRect/>
          </a:stretch>
        </p:blipFill>
        <p:spPr>
          <a:xfrm>
            <a:off x="9255650" y="1730816"/>
            <a:ext cx="1362265" cy="523948"/>
          </a:xfrm>
          <a:prstGeom prst="rect">
            <a:avLst/>
          </a:prstGeom>
        </p:spPr>
      </p:pic>
      <p:pic>
        <p:nvPicPr>
          <p:cNvPr id="44" name="图片 43">
            <a:extLst>
              <a:ext uri="{FF2B5EF4-FFF2-40B4-BE49-F238E27FC236}">
                <a16:creationId xmlns:a16="http://schemas.microsoft.com/office/drawing/2014/main" id="{E47A9AAF-110A-E24A-AD47-B8D2ABB9CFF9}"/>
              </a:ext>
            </a:extLst>
          </p:cNvPr>
          <p:cNvPicPr>
            <a:picLocks noChangeAspect="1"/>
          </p:cNvPicPr>
          <p:nvPr/>
        </p:nvPicPr>
        <p:blipFill>
          <a:blip r:embed="rId10"/>
          <a:stretch>
            <a:fillRect/>
          </a:stretch>
        </p:blipFill>
        <p:spPr>
          <a:xfrm>
            <a:off x="9667132" y="2267353"/>
            <a:ext cx="600159" cy="1876687"/>
          </a:xfrm>
          <a:prstGeom prst="rect">
            <a:avLst/>
          </a:prstGeom>
        </p:spPr>
      </p:pic>
      <p:pic>
        <p:nvPicPr>
          <p:cNvPr id="46" name="图片 45">
            <a:extLst>
              <a:ext uri="{FF2B5EF4-FFF2-40B4-BE49-F238E27FC236}">
                <a16:creationId xmlns:a16="http://schemas.microsoft.com/office/drawing/2014/main" id="{5C903EDE-8A1B-E0B1-C7F9-85A954029F02}"/>
              </a:ext>
            </a:extLst>
          </p:cNvPr>
          <p:cNvPicPr>
            <a:picLocks noChangeAspect="1"/>
          </p:cNvPicPr>
          <p:nvPr/>
        </p:nvPicPr>
        <p:blipFill>
          <a:blip r:embed="rId11"/>
          <a:stretch>
            <a:fillRect/>
          </a:stretch>
        </p:blipFill>
        <p:spPr>
          <a:xfrm>
            <a:off x="9437440" y="4211250"/>
            <a:ext cx="1219370" cy="371527"/>
          </a:xfrm>
          <a:prstGeom prst="rect">
            <a:avLst/>
          </a:prstGeom>
        </p:spPr>
      </p:pic>
      <p:pic>
        <p:nvPicPr>
          <p:cNvPr id="48" name="图片 47">
            <a:extLst>
              <a:ext uri="{FF2B5EF4-FFF2-40B4-BE49-F238E27FC236}">
                <a16:creationId xmlns:a16="http://schemas.microsoft.com/office/drawing/2014/main" id="{08D24613-A191-3714-7ED7-F4E1CE6A50E3}"/>
              </a:ext>
            </a:extLst>
          </p:cNvPr>
          <p:cNvPicPr>
            <a:picLocks noChangeAspect="1"/>
          </p:cNvPicPr>
          <p:nvPr/>
        </p:nvPicPr>
        <p:blipFill>
          <a:blip r:embed="rId12"/>
          <a:stretch>
            <a:fillRect/>
          </a:stretch>
        </p:blipFill>
        <p:spPr>
          <a:xfrm>
            <a:off x="9700802" y="4545124"/>
            <a:ext cx="381053" cy="1286054"/>
          </a:xfrm>
          <a:prstGeom prst="rect">
            <a:avLst/>
          </a:prstGeom>
        </p:spPr>
      </p:pic>
      <p:pic>
        <p:nvPicPr>
          <p:cNvPr id="50" name="图片 49">
            <a:extLst>
              <a:ext uri="{FF2B5EF4-FFF2-40B4-BE49-F238E27FC236}">
                <a16:creationId xmlns:a16="http://schemas.microsoft.com/office/drawing/2014/main" id="{9F3FDF49-C203-20A1-6C7F-D7D238151061}"/>
              </a:ext>
            </a:extLst>
          </p:cNvPr>
          <p:cNvPicPr>
            <a:picLocks noChangeAspect="1"/>
          </p:cNvPicPr>
          <p:nvPr/>
        </p:nvPicPr>
        <p:blipFill>
          <a:blip r:embed="rId13"/>
          <a:stretch>
            <a:fillRect/>
          </a:stretch>
        </p:blipFill>
        <p:spPr>
          <a:xfrm>
            <a:off x="9370361" y="5869022"/>
            <a:ext cx="1343212" cy="333422"/>
          </a:xfrm>
          <a:prstGeom prst="rect">
            <a:avLst/>
          </a:prstGeom>
        </p:spPr>
      </p:pic>
    </p:spTree>
    <p:extLst>
      <p:ext uri="{BB962C8B-B14F-4D97-AF65-F5344CB8AC3E}">
        <p14:creationId xmlns:p14="http://schemas.microsoft.com/office/powerpoint/2010/main" val="337305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1000"/>
                                        <p:tgtEl>
                                          <p:spTgt spid="42"/>
                                        </p:tgtEl>
                                      </p:cBhvr>
                                    </p:animEffect>
                                    <p:anim calcmode="lin" valueType="num">
                                      <p:cBhvr>
                                        <p:cTn id="23" dur="1000" fill="hold"/>
                                        <p:tgtEl>
                                          <p:spTgt spid="42"/>
                                        </p:tgtEl>
                                        <p:attrNameLst>
                                          <p:attrName>ppt_x</p:attrName>
                                        </p:attrNameLst>
                                      </p:cBhvr>
                                      <p:tavLst>
                                        <p:tav tm="0">
                                          <p:val>
                                            <p:strVal val="#ppt_x"/>
                                          </p:val>
                                        </p:tav>
                                        <p:tav tm="100000">
                                          <p:val>
                                            <p:strVal val="#ppt_x"/>
                                          </p:val>
                                        </p:tav>
                                      </p:tavLst>
                                    </p:anim>
                                    <p:anim calcmode="lin" valueType="num">
                                      <p:cBhvr>
                                        <p:cTn id="24"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1000"/>
                                        <p:tgtEl>
                                          <p:spTgt spid="25"/>
                                        </p:tgtEl>
                                      </p:cBhvr>
                                    </p:animEffect>
                                    <p:anim calcmode="lin" valueType="num">
                                      <p:cBhvr>
                                        <p:cTn id="30" dur="1000" fill="hold"/>
                                        <p:tgtEl>
                                          <p:spTgt spid="25"/>
                                        </p:tgtEl>
                                        <p:attrNameLst>
                                          <p:attrName>ppt_x</p:attrName>
                                        </p:attrNameLst>
                                      </p:cBhvr>
                                      <p:tavLst>
                                        <p:tav tm="0">
                                          <p:val>
                                            <p:strVal val="#ppt_x"/>
                                          </p:val>
                                        </p:tav>
                                        <p:tav tm="100000">
                                          <p:val>
                                            <p:strVal val="#ppt_x"/>
                                          </p:val>
                                        </p:tav>
                                      </p:tavLst>
                                    </p:anim>
                                    <p:anim calcmode="lin" valueType="num">
                                      <p:cBhvr>
                                        <p:cTn id="3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1000"/>
                                        <p:tgtEl>
                                          <p:spTgt spid="27"/>
                                        </p:tgtEl>
                                      </p:cBhvr>
                                    </p:animEffect>
                                    <p:anim calcmode="lin" valueType="num">
                                      <p:cBhvr>
                                        <p:cTn id="37" dur="1000" fill="hold"/>
                                        <p:tgtEl>
                                          <p:spTgt spid="27"/>
                                        </p:tgtEl>
                                        <p:attrNameLst>
                                          <p:attrName>ppt_x</p:attrName>
                                        </p:attrNameLst>
                                      </p:cBhvr>
                                      <p:tavLst>
                                        <p:tav tm="0">
                                          <p:val>
                                            <p:strVal val="#ppt_x"/>
                                          </p:val>
                                        </p:tav>
                                        <p:tav tm="100000">
                                          <p:val>
                                            <p:strVal val="#ppt_x"/>
                                          </p:val>
                                        </p:tav>
                                      </p:tavLst>
                                    </p:anim>
                                    <p:anim calcmode="lin" valueType="num">
                                      <p:cBhvr>
                                        <p:cTn id="38" dur="1000" fill="hold"/>
                                        <p:tgtEl>
                                          <p:spTgt spid="27"/>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1000"/>
                                        <p:tgtEl>
                                          <p:spTgt spid="44"/>
                                        </p:tgtEl>
                                      </p:cBhvr>
                                    </p:animEffect>
                                    <p:anim calcmode="lin" valueType="num">
                                      <p:cBhvr>
                                        <p:cTn id="42" dur="1000" fill="hold"/>
                                        <p:tgtEl>
                                          <p:spTgt spid="44"/>
                                        </p:tgtEl>
                                        <p:attrNameLst>
                                          <p:attrName>ppt_x</p:attrName>
                                        </p:attrNameLst>
                                      </p:cBhvr>
                                      <p:tavLst>
                                        <p:tav tm="0">
                                          <p:val>
                                            <p:strVal val="#ppt_x"/>
                                          </p:val>
                                        </p:tav>
                                        <p:tav tm="100000">
                                          <p:val>
                                            <p:strVal val="#ppt_x"/>
                                          </p:val>
                                        </p:tav>
                                      </p:tavLst>
                                    </p:anim>
                                    <p:anim calcmode="lin" valueType="num">
                                      <p:cBhvr>
                                        <p:cTn id="43" dur="1000" fill="hold"/>
                                        <p:tgtEl>
                                          <p:spTgt spid="4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1000"/>
                                        <p:tgtEl>
                                          <p:spTgt spid="46"/>
                                        </p:tgtEl>
                                      </p:cBhvr>
                                    </p:animEffect>
                                    <p:anim calcmode="lin" valueType="num">
                                      <p:cBhvr>
                                        <p:cTn id="47" dur="1000" fill="hold"/>
                                        <p:tgtEl>
                                          <p:spTgt spid="46"/>
                                        </p:tgtEl>
                                        <p:attrNameLst>
                                          <p:attrName>ppt_x</p:attrName>
                                        </p:attrNameLst>
                                      </p:cBhvr>
                                      <p:tavLst>
                                        <p:tav tm="0">
                                          <p:val>
                                            <p:strVal val="#ppt_x"/>
                                          </p:val>
                                        </p:tav>
                                        <p:tav tm="100000">
                                          <p:val>
                                            <p:strVal val="#ppt_x"/>
                                          </p:val>
                                        </p:tav>
                                      </p:tavLst>
                                    </p:anim>
                                    <p:anim calcmode="lin" valueType="num">
                                      <p:cBhvr>
                                        <p:cTn id="48"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1000"/>
                                        <p:tgtEl>
                                          <p:spTgt spid="36"/>
                                        </p:tgtEl>
                                      </p:cBhvr>
                                    </p:animEffect>
                                    <p:anim calcmode="lin" valueType="num">
                                      <p:cBhvr>
                                        <p:cTn id="54" dur="1000" fill="hold"/>
                                        <p:tgtEl>
                                          <p:spTgt spid="36"/>
                                        </p:tgtEl>
                                        <p:attrNameLst>
                                          <p:attrName>ppt_x</p:attrName>
                                        </p:attrNameLst>
                                      </p:cBhvr>
                                      <p:tavLst>
                                        <p:tav tm="0">
                                          <p:val>
                                            <p:strVal val="#ppt_x"/>
                                          </p:val>
                                        </p:tav>
                                        <p:tav tm="100000">
                                          <p:val>
                                            <p:strVal val="#ppt_x"/>
                                          </p:val>
                                        </p:tav>
                                      </p:tavLst>
                                    </p:anim>
                                    <p:anim calcmode="lin" valueType="num">
                                      <p:cBhvr>
                                        <p:cTn id="55" dur="1000" fill="hold"/>
                                        <p:tgtEl>
                                          <p:spTgt spid="36"/>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1000"/>
                                        <p:tgtEl>
                                          <p:spTgt spid="30"/>
                                        </p:tgtEl>
                                      </p:cBhvr>
                                    </p:animEffect>
                                    <p:anim calcmode="lin" valueType="num">
                                      <p:cBhvr>
                                        <p:cTn id="59" dur="1000" fill="hold"/>
                                        <p:tgtEl>
                                          <p:spTgt spid="30"/>
                                        </p:tgtEl>
                                        <p:attrNameLst>
                                          <p:attrName>ppt_x</p:attrName>
                                        </p:attrNameLst>
                                      </p:cBhvr>
                                      <p:tavLst>
                                        <p:tav tm="0">
                                          <p:val>
                                            <p:strVal val="#ppt_x"/>
                                          </p:val>
                                        </p:tav>
                                        <p:tav tm="100000">
                                          <p:val>
                                            <p:strVal val="#ppt_x"/>
                                          </p:val>
                                        </p:tav>
                                      </p:tavLst>
                                    </p:anim>
                                    <p:anim calcmode="lin" valueType="num">
                                      <p:cBhvr>
                                        <p:cTn id="60" dur="1000" fill="hold"/>
                                        <p:tgtEl>
                                          <p:spTgt spid="30"/>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fade">
                                      <p:cBhvr>
                                        <p:cTn id="63" dur="1000"/>
                                        <p:tgtEl>
                                          <p:spTgt spid="48"/>
                                        </p:tgtEl>
                                      </p:cBhvr>
                                    </p:animEffect>
                                    <p:anim calcmode="lin" valueType="num">
                                      <p:cBhvr>
                                        <p:cTn id="64" dur="1000" fill="hold"/>
                                        <p:tgtEl>
                                          <p:spTgt spid="48"/>
                                        </p:tgtEl>
                                        <p:attrNameLst>
                                          <p:attrName>ppt_x</p:attrName>
                                        </p:attrNameLst>
                                      </p:cBhvr>
                                      <p:tavLst>
                                        <p:tav tm="0">
                                          <p:val>
                                            <p:strVal val="#ppt_x"/>
                                          </p:val>
                                        </p:tav>
                                        <p:tav tm="100000">
                                          <p:val>
                                            <p:strVal val="#ppt_x"/>
                                          </p:val>
                                        </p:tav>
                                      </p:tavLst>
                                    </p:anim>
                                    <p:anim calcmode="lin" valueType="num">
                                      <p:cBhvr>
                                        <p:cTn id="65" dur="1000" fill="hold"/>
                                        <p:tgtEl>
                                          <p:spTgt spid="4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fade">
                                      <p:cBhvr>
                                        <p:cTn id="68" dur="1000"/>
                                        <p:tgtEl>
                                          <p:spTgt spid="50"/>
                                        </p:tgtEl>
                                      </p:cBhvr>
                                    </p:animEffect>
                                    <p:anim calcmode="lin" valueType="num">
                                      <p:cBhvr>
                                        <p:cTn id="69" dur="1000" fill="hold"/>
                                        <p:tgtEl>
                                          <p:spTgt spid="50"/>
                                        </p:tgtEl>
                                        <p:attrNameLst>
                                          <p:attrName>ppt_x</p:attrName>
                                        </p:attrNameLst>
                                      </p:cBhvr>
                                      <p:tavLst>
                                        <p:tav tm="0">
                                          <p:val>
                                            <p:strVal val="#ppt_x"/>
                                          </p:val>
                                        </p:tav>
                                        <p:tav tm="100000">
                                          <p:val>
                                            <p:strVal val="#ppt_x"/>
                                          </p:val>
                                        </p:tav>
                                      </p:tavLst>
                                    </p:anim>
                                    <p:anim calcmode="lin" valueType="num">
                                      <p:cBhvr>
                                        <p:cTn id="70"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wrap="square">
            <a:normAutofit/>
          </a:bodyPr>
          <a:lstStyle/>
          <a:p>
            <a:pPr lvl="0"/>
            <a:r>
              <a:rPr lang="en-US" dirty="0"/>
              <a:t>03.</a:t>
            </a:r>
            <a:r>
              <a:rPr lang="zh-CN" altLang="en-US" dirty="0"/>
              <a:t>作品创意</a:t>
            </a:r>
          </a:p>
        </p:txBody>
      </p:sp>
    </p:spTree>
    <p:custDataLst>
      <p:tags r:id="rId1"/>
    </p:custDataLst>
    <p:extLst>
      <p:ext uri="{BB962C8B-B14F-4D97-AF65-F5344CB8AC3E}">
        <p14:creationId xmlns:p14="http://schemas.microsoft.com/office/powerpoint/2010/main" val="141127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IMG_256">
            <a:extLst>
              <a:ext uri="{FF2B5EF4-FFF2-40B4-BE49-F238E27FC236}">
                <a16:creationId xmlns:a16="http://schemas.microsoft.com/office/drawing/2014/main" id="{00A5C8D3-E4A9-1258-C84E-F0B924FE3B53}"/>
              </a:ext>
            </a:extLst>
          </p:cNvPr>
          <p:cNvPicPr>
            <a:picLocks noChangeAspect="1"/>
          </p:cNvPicPr>
          <p:nvPr/>
        </p:nvPicPr>
        <p:blipFill>
          <a:blip r:embed="rId3"/>
          <a:srcRect t="8768"/>
          <a:stretch>
            <a:fillRect/>
          </a:stretch>
        </p:blipFill>
        <p:spPr>
          <a:xfrm>
            <a:off x="728291" y="1108075"/>
            <a:ext cx="2543175" cy="2320925"/>
          </a:xfrm>
          <a:prstGeom prst="rect">
            <a:avLst/>
          </a:prstGeom>
          <a:noFill/>
          <a:ln w="9525">
            <a:noFill/>
          </a:ln>
        </p:spPr>
      </p:pic>
      <p:sp>
        <p:nvSpPr>
          <p:cNvPr id="44" name="任意多边形: 形状 43">
            <a:extLst>
              <a:ext uri="{FF2B5EF4-FFF2-40B4-BE49-F238E27FC236}">
                <a16:creationId xmlns:a16="http://schemas.microsoft.com/office/drawing/2014/main" id="{1270FC6B-0A15-40DE-B69B-0C5778A23DE1}"/>
              </a:ext>
            </a:extLst>
          </p:cNvPr>
          <p:cNvSpPr/>
          <p:nvPr/>
        </p:nvSpPr>
        <p:spPr>
          <a:xfrm>
            <a:off x="1768345" y="2854704"/>
            <a:ext cx="7928658" cy="1277840"/>
          </a:xfrm>
          <a:custGeom>
            <a:avLst/>
            <a:gdLst>
              <a:gd name="connsiteX0" fmla="*/ 0 w 7928658"/>
              <a:gd name="connsiteY0" fmla="*/ 1145913 h 1277840"/>
              <a:gd name="connsiteX1" fmla="*/ 2639028 w 7928658"/>
              <a:gd name="connsiteY1" fmla="*/ 19 h 1277840"/>
              <a:gd name="connsiteX2" fmla="*/ 5289630 w 7928658"/>
              <a:gd name="connsiteY2" fmla="*/ 1169062 h 1277840"/>
              <a:gd name="connsiteX3" fmla="*/ 7928658 w 7928658"/>
              <a:gd name="connsiteY3" fmla="*/ 1157488 h 1277840"/>
            </a:gdLst>
            <a:ahLst/>
            <a:cxnLst>
              <a:cxn ang="0">
                <a:pos x="connsiteX0" y="connsiteY0"/>
              </a:cxn>
              <a:cxn ang="0">
                <a:pos x="connsiteX1" y="connsiteY1"/>
              </a:cxn>
              <a:cxn ang="0">
                <a:pos x="connsiteX2" y="connsiteY2"/>
              </a:cxn>
              <a:cxn ang="0">
                <a:pos x="connsiteX3" y="connsiteY3"/>
              </a:cxn>
            </a:cxnLst>
            <a:rect l="l" t="t" r="r" b="b"/>
            <a:pathLst>
              <a:path w="7928658" h="1277840">
                <a:moveTo>
                  <a:pt x="0" y="1145913"/>
                </a:moveTo>
                <a:cubicBezTo>
                  <a:pt x="878711" y="571037"/>
                  <a:pt x="1757423" y="-3839"/>
                  <a:pt x="2639028" y="19"/>
                </a:cubicBezTo>
                <a:cubicBezTo>
                  <a:pt x="3520633" y="3877"/>
                  <a:pt x="4408025" y="976150"/>
                  <a:pt x="5289630" y="1169062"/>
                </a:cubicBezTo>
                <a:cubicBezTo>
                  <a:pt x="6171235" y="1361974"/>
                  <a:pt x="7049946" y="1259731"/>
                  <a:pt x="7928658" y="1157488"/>
                </a:cubicBezTo>
              </a:path>
            </a:pathLst>
          </a:custGeom>
          <a:ln w="76200" cap="rnd">
            <a:gradFill>
              <a:gsLst>
                <a:gs pos="100000">
                  <a:schemeClr val="tx1">
                    <a:lumMod val="50000"/>
                    <a:lumOff val="50000"/>
                    <a:alpha val="10000"/>
                  </a:schemeClr>
                </a:gs>
                <a:gs pos="20000">
                  <a:schemeClr val="tx1">
                    <a:lumMod val="50000"/>
                    <a:lumOff val="50000"/>
                    <a:alpha val="10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39" name="组合 38">
            <a:extLst>
              <a:ext uri="{FF2B5EF4-FFF2-40B4-BE49-F238E27FC236}">
                <a16:creationId xmlns:a16="http://schemas.microsoft.com/office/drawing/2014/main" id="{EEEEC09B-1435-44A1-8FAE-13944583F574}"/>
              </a:ext>
            </a:extLst>
          </p:cNvPr>
          <p:cNvGrpSpPr/>
          <p:nvPr/>
        </p:nvGrpSpPr>
        <p:grpSpPr>
          <a:xfrm>
            <a:off x="788829" y="3793035"/>
            <a:ext cx="2381251" cy="1740250"/>
            <a:chOff x="177953" y="3405851"/>
            <a:chExt cx="2381251" cy="1740250"/>
          </a:xfrm>
        </p:grpSpPr>
        <p:grpSp>
          <p:nvGrpSpPr>
            <p:cNvPr id="11" name="组合 10">
              <a:extLst>
                <a:ext uri="{FF2B5EF4-FFF2-40B4-BE49-F238E27FC236}">
                  <a16:creationId xmlns:a16="http://schemas.microsoft.com/office/drawing/2014/main" id="{88EB54F7-39DA-4496-90AE-8F9FD17F9B06}"/>
                </a:ext>
              </a:extLst>
            </p:cNvPr>
            <p:cNvGrpSpPr>
              <a:grpSpLocks/>
            </p:cNvGrpSpPr>
            <p:nvPr/>
          </p:nvGrpSpPr>
          <p:grpSpPr>
            <a:xfrm>
              <a:off x="958379" y="3405851"/>
              <a:ext cx="410200" cy="410198"/>
              <a:chOff x="8192481" y="-1358828"/>
              <a:chExt cx="410200" cy="410198"/>
            </a:xfrm>
          </p:grpSpPr>
          <p:sp>
            <p:nvSpPr>
              <p:cNvPr id="12" name="椭圆 11">
                <a:extLst>
                  <a:ext uri="{FF2B5EF4-FFF2-40B4-BE49-F238E27FC236}">
                    <a16:creationId xmlns:a16="http://schemas.microsoft.com/office/drawing/2014/main" id="{385EF0D1-6C2A-4702-ABFB-DA4F1DE2742F}"/>
                  </a:ext>
                </a:extLst>
              </p:cNvPr>
              <p:cNvSpPr/>
              <p:nvPr/>
            </p:nvSpPr>
            <p:spPr>
              <a:xfrm>
                <a:off x="8192481" y="-1358828"/>
                <a:ext cx="410200" cy="410198"/>
              </a:xfrm>
              <a:prstGeom prst="ellipse">
                <a:avLst/>
              </a:prstGeom>
              <a:solidFill>
                <a:srgbClr val="948516"/>
              </a:solidFill>
              <a:ln w="57150" cap="rnd">
                <a:noFill/>
                <a:prstDash val="solid"/>
                <a:round/>
              </a:ln>
              <a:effectLst>
                <a:outerShdw blurRad="76200" dist="50800" dir="5400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13" name="任意多边形: 形状 12">
                <a:extLst>
                  <a:ext uri="{FF2B5EF4-FFF2-40B4-BE49-F238E27FC236}">
                    <a16:creationId xmlns:a16="http://schemas.microsoft.com/office/drawing/2014/main" id="{A1803266-E35E-4AFC-89E0-DA54E4974DAE}"/>
                  </a:ext>
                </a:extLst>
              </p:cNvPr>
              <p:cNvSpPr/>
              <p:nvPr/>
            </p:nvSpPr>
            <p:spPr>
              <a:xfrm>
                <a:off x="8308581" y="-1224599"/>
                <a:ext cx="178001" cy="141741"/>
              </a:xfrm>
              <a:custGeom>
                <a:avLst/>
                <a:gdLst>
                  <a:gd name="connsiteX0" fmla="*/ 486767 w 514350"/>
                  <a:gd name="connsiteY0" fmla="*/ 621 h 409575"/>
                  <a:gd name="connsiteX1" fmla="*/ 515342 w 514350"/>
                  <a:gd name="connsiteY1" fmla="*/ 29196 h 409575"/>
                  <a:gd name="connsiteX2" fmla="*/ 515342 w 514350"/>
                  <a:gd name="connsiteY2" fmla="*/ 324471 h 409575"/>
                  <a:gd name="connsiteX3" fmla="*/ 486767 w 514350"/>
                  <a:gd name="connsiteY3" fmla="*/ 353046 h 409575"/>
                  <a:gd name="connsiteX4" fmla="*/ 192159 w 514350"/>
                  <a:gd name="connsiteY4" fmla="*/ 353046 h 409575"/>
                  <a:gd name="connsiteX5" fmla="*/ 115387 w 514350"/>
                  <a:gd name="connsiteY5" fmla="*/ 410196 h 409575"/>
                  <a:gd name="connsiteX6" fmla="*/ 115387 w 514350"/>
                  <a:gd name="connsiteY6" fmla="*/ 353046 h 409575"/>
                  <a:gd name="connsiteX7" fmla="*/ 29567 w 514350"/>
                  <a:gd name="connsiteY7" fmla="*/ 353046 h 409575"/>
                  <a:gd name="connsiteX8" fmla="*/ 992 w 514350"/>
                  <a:gd name="connsiteY8" fmla="*/ 324471 h 409575"/>
                  <a:gd name="connsiteX9" fmla="*/ 992 w 514350"/>
                  <a:gd name="connsiteY9" fmla="*/ 29196 h 409575"/>
                  <a:gd name="connsiteX10" fmla="*/ 29567 w 514350"/>
                  <a:gd name="connsiteY10" fmla="*/ 621 h 409575"/>
                  <a:gd name="connsiteX11" fmla="*/ 486767 w 514350"/>
                  <a:gd name="connsiteY11" fmla="*/ 621 h 409575"/>
                  <a:gd name="connsiteX12" fmla="*/ 124817 w 514350"/>
                  <a:gd name="connsiteY12" fmla="*/ 143496 h 409575"/>
                  <a:gd name="connsiteX13" fmla="*/ 91480 w 514350"/>
                  <a:gd name="connsiteY13" fmla="*/ 176834 h 409575"/>
                  <a:gd name="connsiteX14" fmla="*/ 124817 w 514350"/>
                  <a:gd name="connsiteY14" fmla="*/ 210171 h 409575"/>
                  <a:gd name="connsiteX15" fmla="*/ 158155 w 514350"/>
                  <a:gd name="connsiteY15" fmla="*/ 176834 h 409575"/>
                  <a:gd name="connsiteX16" fmla="*/ 124817 w 514350"/>
                  <a:gd name="connsiteY16" fmla="*/ 143496 h 409575"/>
                  <a:gd name="connsiteX17" fmla="*/ 258167 w 514350"/>
                  <a:gd name="connsiteY17" fmla="*/ 143496 h 409575"/>
                  <a:gd name="connsiteX18" fmla="*/ 224830 w 514350"/>
                  <a:gd name="connsiteY18" fmla="*/ 176834 h 409575"/>
                  <a:gd name="connsiteX19" fmla="*/ 258167 w 514350"/>
                  <a:gd name="connsiteY19" fmla="*/ 210171 h 409575"/>
                  <a:gd name="connsiteX20" fmla="*/ 291505 w 514350"/>
                  <a:gd name="connsiteY20" fmla="*/ 176834 h 409575"/>
                  <a:gd name="connsiteX21" fmla="*/ 258167 w 514350"/>
                  <a:gd name="connsiteY21" fmla="*/ 143496 h 409575"/>
                  <a:gd name="connsiteX22" fmla="*/ 391517 w 514350"/>
                  <a:gd name="connsiteY22" fmla="*/ 143496 h 409575"/>
                  <a:gd name="connsiteX23" fmla="*/ 358180 w 514350"/>
                  <a:gd name="connsiteY23" fmla="*/ 176834 h 409575"/>
                  <a:gd name="connsiteX24" fmla="*/ 391517 w 514350"/>
                  <a:gd name="connsiteY24" fmla="*/ 210171 h 409575"/>
                  <a:gd name="connsiteX25" fmla="*/ 424855 w 514350"/>
                  <a:gd name="connsiteY25" fmla="*/ 176834 h 409575"/>
                  <a:gd name="connsiteX26" fmla="*/ 391517 w 514350"/>
                  <a:gd name="connsiteY26" fmla="*/ 143496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14350" h="409575">
                    <a:moveTo>
                      <a:pt x="486767" y="621"/>
                    </a:moveTo>
                    <a:cubicBezTo>
                      <a:pt x="502579" y="621"/>
                      <a:pt x="515342" y="13385"/>
                      <a:pt x="515342" y="29196"/>
                    </a:cubicBezTo>
                    <a:lnTo>
                      <a:pt x="515342" y="324471"/>
                    </a:lnTo>
                    <a:cubicBezTo>
                      <a:pt x="515342" y="340282"/>
                      <a:pt x="502579" y="353046"/>
                      <a:pt x="486767" y="353046"/>
                    </a:cubicBezTo>
                    <a:lnTo>
                      <a:pt x="192159" y="353046"/>
                    </a:lnTo>
                    <a:lnTo>
                      <a:pt x="115387" y="410196"/>
                    </a:lnTo>
                    <a:lnTo>
                      <a:pt x="115387" y="353046"/>
                    </a:lnTo>
                    <a:lnTo>
                      <a:pt x="29567" y="353046"/>
                    </a:lnTo>
                    <a:cubicBezTo>
                      <a:pt x="13755" y="353046"/>
                      <a:pt x="992" y="340282"/>
                      <a:pt x="992" y="324471"/>
                    </a:cubicBezTo>
                    <a:lnTo>
                      <a:pt x="992" y="29196"/>
                    </a:lnTo>
                    <a:cubicBezTo>
                      <a:pt x="992" y="13385"/>
                      <a:pt x="13755" y="621"/>
                      <a:pt x="29567" y="621"/>
                    </a:cubicBezTo>
                    <a:lnTo>
                      <a:pt x="486767"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sp>
          <p:nvSpPr>
            <p:cNvPr id="15" name="文本框 14">
              <a:extLst>
                <a:ext uri="{FF2B5EF4-FFF2-40B4-BE49-F238E27FC236}">
                  <a16:creationId xmlns:a16="http://schemas.microsoft.com/office/drawing/2014/main" id="{426AF59A-C221-4B09-AC0D-971F792FE7E7}"/>
                </a:ext>
              </a:extLst>
            </p:cNvPr>
            <p:cNvSpPr txBox="1"/>
            <p:nvPr/>
          </p:nvSpPr>
          <p:spPr>
            <a:xfrm flipH="1">
              <a:off x="177953" y="3954285"/>
              <a:ext cx="2381251" cy="1191816"/>
            </a:xfrm>
            <a:prstGeom prst="roundRect">
              <a:avLst/>
            </a:prstGeom>
            <a:noFill/>
            <a:effectLst/>
          </p:spPr>
          <p:txBody>
            <a:bodyPr wrap="square" rtlCol="0">
              <a:spAutoFit/>
            </a:bodyPr>
            <a:lstStyle>
              <a:defPPr>
                <a:defRPr lang="zh-CN"/>
              </a:defPPr>
              <a:lvl1pPr>
                <a:defRPr sz="3200" b="1" i="1">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600" i="0" dirty="0">
                  <a:solidFill>
                    <a:schemeClr val="tx1"/>
                  </a:solidFill>
                  <a:effectLst/>
                  <a:latin typeface="Arial" panose="020B0604020202020204" pitchFamily="34" charset="0"/>
                  <a:ea typeface="微软雅黑" panose="020B0503020204020204" pitchFamily="34" charset="-122"/>
                </a:rPr>
                <a:t>从</a:t>
              </a:r>
              <a:r>
                <a:rPr lang="zh-CN" altLang="en-US" sz="1600" i="0" dirty="0">
                  <a:solidFill>
                    <a:srgbClr val="948516"/>
                  </a:solidFill>
                  <a:effectLst/>
                  <a:latin typeface="Arial" panose="020B0604020202020204" pitchFamily="34" charset="0"/>
                  <a:ea typeface="微软雅黑" panose="020B0503020204020204" pitchFamily="34" charset="-122"/>
                </a:rPr>
                <a:t>自然特征</a:t>
              </a:r>
              <a:r>
                <a:rPr lang="zh-CN" altLang="en-US" sz="1600" i="0" dirty="0">
                  <a:solidFill>
                    <a:schemeClr val="tx1"/>
                  </a:solidFill>
                  <a:effectLst/>
                  <a:latin typeface="Arial" panose="020B0604020202020204" pitchFamily="34" charset="0"/>
                  <a:ea typeface="微软雅黑" panose="020B0503020204020204" pitchFamily="34" charset="-122"/>
                </a:rPr>
                <a:t>到</a:t>
              </a:r>
              <a:r>
                <a:rPr lang="zh-CN" altLang="en-US" sz="1600" i="0" dirty="0">
                  <a:solidFill>
                    <a:srgbClr val="948516"/>
                  </a:solidFill>
                  <a:effectLst/>
                  <a:latin typeface="Arial" panose="020B0604020202020204" pitchFamily="34" charset="0"/>
                  <a:ea typeface="微软雅黑" panose="020B0503020204020204" pitchFamily="34" charset="-122"/>
                </a:rPr>
                <a:t>内在联系</a:t>
              </a:r>
              <a:r>
                <a:rPr lang="zh-CN" altLang="en-US" sz="1600" i="0" dirty="0">
                  <a:solidFill>
                    <a:schemeClr val="tx1"/>
                  </a:solidFill>
                  <a:effectLst/>
                  <a:latin typeface="Arial" panose="020B0604020202020204" pitchFamily="34" charset="0"/>
                  <a:ea typeface="微软雅黑" panose="020B0503020204020204" pitchFamily="34" charset="-122"/>
                </a:rPr>
                <a:t>层层深入，并结合政策对其关联性进行解读</a:t>
              </a:r>
            </a:p>
            <a:p>
              <a:endParaRPr lang="en-US" altLang="zh-CN" sz="1600" i="0" dirty="0">
                <a:solidFill>
                  <a:schemeClr val="tx1"/>
                </a:solidFill>
                <a:effectLst/>
                <a:latin typeface="Arial" panose="020B0604020202020204" pitchFamily="34" charset="0"/>
                <a:ea typeface="微软雅黑" panose="020B0503020204020204" pitchFamily="34" charset="-122"/>
              </a:endParaRPr>
            </a:p>
          </p:txBody>
        </p:sp>
      </p:grpSp>
      <p:grpSp>
        <p:nvGrpSpPr>
          <p:cNvPr id="40" name="组合 39">
            <a:extLst>
              <a:ext uri="{FF2B5EF4-FFF2-40B4-BE49-F238E27FC236}">
                <a16:creationId xmlns:a16="http://schemas.microsoft.com/office/drawing/2014/main" id="{71E69278-4402-488F-866C-FFCC97119D22}"/>
              </a:ext>
            </a:extLst>
          </p:cNvPr>
          <p:cNvGrpSpPr/>
          <p:nvPr/>
        </p:nvGrpSpPr>
        <p:grpSpPr>
          <a:xfrm>
            <a:off x="3523027" y="870697"/>
            <a:ext cx="2163959" cy="2204893"/>
            <a:chOff x="2908494" y="349517"/>
            <a:chExt cx="2163959" cy="2204893"/>
          </a:xfrm>
        </p:grpSpPr>
        <p:grpSp>
          <p:nvGrpSpPr>
            <p:cNvPr id="5" name="组合 4">
              <a:extLst>
                <a:ext uri="{FF2B5EF4-FFF2-40B4-BE49-F238E27FC236}">
                  <a16:creationId xmlns:a16="http://schemas.microsoft.com/office/drawing/2014/main" id="{176D75C8-6B8F-4A13-A80E-ACA0B6E2D249}"/>
                </a:ext>
              </a:extLst>
            </p:cNvPr>
            <p:cNvGrpSpPr>
              <a:grpSpLocks/>
            </p:cNvGrpSpPr>
            <p:nvPr/>
          </p:nvGrpSpPr>
          <p:grpSpPr>
            <a:xfrm>
              <a:off x="3580274" y="2144212"/>
              <a:ext cx="410200" cy="410198"/>
              <a:chOff x="5196297" y="2338133"/>
              <a:chExt cx="410200" cy="410198"/>
            </a:xfrm>
          </p:grpSpPr>
          <p:sp>
            <p:nvSpPr>
              <p:cNvPr id="6" name="椭圆 5">
                <a:extLst>
                  <a:ext uri="{FF2B5EF4-FFF2-40B4-BE49-F238E27FC236}">
                    <a16:creationId xmlns:a16="http://schemas.microsoft.com/office/drawing/2014/main" id="{264D94F9-A165-4ED1-B202-98702304386A}"/>
                  </a:ext>
                </a:extLst>
              </p:cNvPr>
              <p:cNvSpPr/>
              <p:nvPr/>
            </p:nvSpPr>
            <p:spPr>
              <a:xfrm>
                <a:off x="5196297" y="2338133"/>
                <a:ext cx="410200" cy="410198"/>
              </a:xfrm>
              <a:prstGeom prst="ellipse">
                <a:avLst/>
              </a:prstGeom>
              <a:solidFill>
                <a:srgbClr val="51A1BA"/>
              </a:solidFill>
              <a:ln w="57150" cap="rnd">
                <a:noFill/>
                <a:prstDash val="solid"/>
                <a:round/>
              </a:ln>
              <a:effectLst>
                <a:outerShdw blurRad="762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7" name="任意多边形: 形状 6">
                <a:extLst>
                  <a:ext uri="{FF2B5EF4-FFF2-40B4-BE49-F238E27FC236}">
                    <a16:creationId xmlns:a16="http://schemas.microsoft.com/office/drawing/2014/main" id="{D8F01328-19D6-4CD5-910B-574E165065B1}"/>
                  </a:ext>
                </a:extLst>
              </p:cNvPr>
              <p:cNvSpPr/>
              <p:nvPr/>
            </p:nvSpPr>
            <p:spPr>
              <a:xfrm>
                <a:off x="5320204" y="2454232"/>
                <a:ext cx="162386" cy="178001"/>
              </a:xfrm>
              <a:custGeom>
                <a:avLst/>
                <a:gdLst>
                  <a:gd name="connsiteX0" fmla="*/ 248770 w 495300"/>
                  <a:gd name="connsiteY0" fmla="*/ 621 h 542925"/>
                  <a:gd name="connsiteX1" fmla="*/ 496420 w 495300"/>
                  <a:gd name="connsiteY1" fmla="*/ 248271 h 542925"/>
                  <a:gd name="connsiteX2" fmla="*/ 323827 w 495300"/>
                  <a:gd name="connsiteY2" fmla="*/ 484396 h 542925"/>
                  <a:gd name="connsiteX3" fmla="*/ 346973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567 w 495300"/>
                  <a:gd name="connsiteY8" fmla="*/ 524496 h 542925"/>
                  <a:gd name="connsiteX9" fmla="*/ 173713 w 495300"/>
                  <a:gd name="connsiteY9" fmla="*/ 484396 h 542925"/>
                  <a:gd name="connsiteX10" fmla="*/ 1120 w 495300"/>
                  <a:gd name="connsiteY10" fmla="*/ 248271 h 542925"/>
                  <a:gd name="connsiteX11" fmla="*/ 248770 w 495300"/>
                  <a:gd name="connsiteY11" fmla="*/ 621 h 542925"/>
                  <a:gd name="connsiteX12" fmla="*/ 192763 w 495300"/>
                  <a:gd name="connsiteY12" fmla="*/ 489539 h 542925"/>
                  <a:gd name="connsiteX13" fmla="*/ 172570 w 495300"/>
                  <a:gd name="connsiteY13" fmla="*/ 524496 h 542925"/>
                  <a:gd name="connsiteX14" fmla="*/ 324970 w 495300"/>
                  <a:gd name="connsiteY14" fmla="*/ 524496 h 542925"/>
                  <a:gd name="connsiteX15" fmla="*/ 304777 w 495300"/>
                  <a:gd name="connsiteY15" fmla="*/ 489539 h 542925"/>
                  <a:gd name="connsiteX16" fmla="*/ 248770 w 495300"/>
                  <a:gd name="connsiteY16" fmla="*/ 495921 h 542925"/>
                  <a:gd name="connsiteX17" fmla="*/ 192763 w 495300"/>
                  <a:gd name="connsiteY17" fmla="*/ 489539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3605" y="452582"/>
                      <a:pt x="1120" y="358856"/>
                      <a:pt x="1120" y="248271"/>
                    </a:cubicBezTo>
                    <a:cubicBezTo>
                      <a:pt x="1120" y="111492"/>
                      <a:pt x="111991" y="621"/>
                      <a:pt x="248770" y="621"/>
                    </a:cubicBezTo>
                    <a:close/>
                    <a:moveTo>
                      <a:pt x="192763" y="489539"/>
                    </a:moveTo>
                    <a:lnTo>
                      <a:pt x="172570" y="524496"/>
                    </a:lnTo>
                    <a:lnTo>
                      <a:pt x="324970" y="524496"/>
                    </a:lnTo>
                    <a:lnTo>
                      <a:pt x="304777" y="489539"/>
                    </a:lnTo>
                    <a:cubicBezTo>
                      <a:pt x="286775" y="493730"/>
                      <a:pt x="268010" y="495921"/>
                      <a:pt x="248770" y="495921"/>
                    </a:cubicBezTo>
                    <a:cubicBezTo>
                      <a:pt x="229530" y="495921"/>
                      <a:pt x="210765" y="493730"/>
                      <a:pt x="192763" y="489539"/>
                    </a:cubicBezTo>
                    <a:close/>
                    <a:moveTo>
                      <a:pt x="248770" y="143496"/>
                    </a:moveTo>
                    <a:cubicBezTo>
                      <a:pt x="190858" y="143496"/>
                      <a:pt x="143995" y="190359"/>
                      <a:pt x="143995" y="248271"/>
                    </a:cubicBezTo>
                    <a:cubicBezTo>
                      <a:pt x="143995" y="306183"/>
                      <a:pt x="190858" y="353046"/>
                      <a:pt x="248770" y="353046"/>
                    </a:cubicBezTo>
                    <a:cubicBezTo>
                      <a:pt x="306682" y="353046"/>
                      <a:pt x="353545" y="306183"/>
                      <a:pt x="353545" y="248271"/>
                    </a:cubicBezTo>
                    <a:cubicBezTo>
                      <a:pt x="353545" y="190359"/>
                      <a:pt x="306682" y="143496"/>
                      <a:pt x="248770" y="143496"/>
                    </a:cubicBezTo>
                    <a:close/>
                    <a:moveTo>
                      <a:pt x="367833" y="114921"/>
                    </a:moveTo>
                    <a:cubicBezTo>
                      <a:pt x="359927" y="114921"/>
                      <a:pt x="353545" y="121303"/>
                      <a:pt x="353545" y="129209"/>
                    </a:cubicBezTo>
                    <a:cubicBezTo>
                      <a:pt x="353545" y="137114"/>
                      <a:pt x="359927" y="143496"/>
                      <a:pt x="367833" y="143496"/>
                    </a:cubicBezTo>
                    <a:cubicBezTo>
                      <a:pt x="375738" y="143496"/>
                      <a:pt x="382120" y="137114"/>
                      <a:pt x="382120" y="129209"/>
                    </a:cubicBezTo>
                    <a:cubicBezTo>
                      <a:pt x="382120" y="121303"/>
                      <a:pt x="375738" y="114921"/>
                      <a:pt x="367833" y="114921"/>
                    </a:cubicBez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3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sp>
          <p:nvSpPr>
            <p:cNvPr id="21" name="文本框 20">
              <a:extLst>
                <a:ext uri="{FF2B5EF4-FFF2-40B4-BE49-F238E27FC236}">
                  <a16:creationId xmlns:a16="http://schemas.microsoft.com/office/drawing/2014/main" id="{B7A5E3AA-0B0C-41E0-B962-0BE47A51598D}"/>
                </a:ext>
              </a:extLst>
            </p:cNvPr>
            <p:cNvSpPr txBox="1"/>
            <p:nvPr/>
          </p:nvSpPr>
          <p:spPr>
            <a:xfrm flipH="1">
              <a:off x="2908494" y="349517"/>
              <a:ext cx="2163959" cy="2009061"/>
            </a:xfrm>
            <a:prstGeom prst="roundRect">
              <a:avLst/>
            </a:prstGeom>
            <a:noFill/>
            <a:effectLst/>
          </p:spPr>
          <p:txBody>
            <a:bodyPr wrap="square" rtlCol="0">
              <a:spAutoFit/>
            </a:bodyPr>
            <a:lstStyle>
              <a:defPPr>
                <a:defRPr lang="zh-CN"/>
              </a:defPPr>
              <a:lvl1pPr>
                <a:defRPr sz="3200" b="1" i="1">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600" i="0" dirty="0">
                  <a:solidFill>
                    <a:schemeClr val="tx1"/>
                  </a:solidFill>
                  <a:effectLst/>
                  <a:latin typeface="Arial" panose="020B0604020202020204" pitchFamily="34" charset="0"/>
                  <a:ea typeface="微软雅黑" panose="020B0503020204020204" pitchFamily="34" charset="-122"/>
                </a:rPr>
                <a:t>使用</a:t>
              </a:r>
              <a:r>
                <a:rPr lang="zh-CN" altLang="en-US" sz="1600" i="0" dirty="0">
                  <a:solidFill>
                    <a:srgbClr val="51A1BA"/>
                  </a:solidFill>
                  <a:effectLst/>
                  <a:latin typeface="Arial" panose="020B0604020202020204" pitchFamily="34" charset="0"/>
                  <a:ea typeface="微软雅黑" panose="020B0503020204020204" pitchFamily="34" charset="-122"/>
                </a:rPr>
                <a:t>回归模型</a:t>
              </a:r>
              <a:r>
                <a:rPr lang="zh-CN" altLang="en-US" sz="1600" i="0" dirty="0">
                  <a:solidFill>
                    <a:schemeClr val="tx1"/>
                  </a:solidFill>
                  <a:effectLst/>
                  <a:latin typeface="Arial" panose="020B0604020202020204" pitchFamily="34" charset="0"/>
                  <a:ea typeface="微软雅黑" panose="020B0503020204020204" pitchFamily="34" charset="-122"/>
                </a:rPr>
                <a:t>拟合不同作物产量，并从不同区域，不同种类，不同省份多个角度分析种植结构的变化</a:t>
              </a:r>
            </a:p>
            <a:p>
              <a:endParaRPr lang="en-US" altLang="zh-CN" sz="1600" i="0" dirty="0">
                <a:solidFill>
                  <a:schemeClr val="tx1"/>
                </a:solidFill>
                <a:effectLst/>
                <a:latin typeface="Arial" panose="020B0604020202020204" pitchFamily="34" charset="0"/>
                <a:ea typeface="微软雅黑" panose="020B0503020204020204" pitchFamily="34" charset="-122"/>
              </a:endParaRPr>
            </a:p>
          </p:txBody>
        </p:sp>
      </p:grpSp>
      <p:grpSp>
        <p:nvGrpSpPr>
          <p:cNvPr id="41" name="组合 40">
            <a:extLst>
              <a:ext uri="{FF2B5EF4-FFF2-40B4-BE49-F238E27FC236}">
                <a16:creationId xmlns:a16="http://schemas.microsoft.com/office/drawing/2014/main" id="{0337AA39-D4C1-4F3B-B263-F7FC6C20A1CC}"/>
              </a:ext>
            </a:extLst>
          </p:cNvPr>
          <p:cNvGrpSpPr/>
          <p:nvPr/>
        </p:nvGrpSpPr>
        <p:grpSpPr>
          <a:xfrm>
            <a:off x="6123860" y="3795671"/>
            <a:ext cx="1981200" cy="1733606"/>
            <a:chOff x="5515251" y="3405851"/>
            <a:chExt cx="1981200" cy="1733606"/>
          </a:xfrm>
        </p:grpSpPr>
        <p:grpSp>
          <p:nvGrpSpPr>
            <p:cNvPr id="8" name="组合 7">
              <a:extLst>
                <a:ext uri="{FF2B5EF4-FFF2-40B4-BE49-F238E27FC236}">
                  <a16:creationId xmlns:a16="http://schemas.microsoft.com/office/drawing/2014/main" id="{4ADFD99A-ED48-476D-B45C-9C577FB87760}"/>
                </a:ext>
              </a:extLst>
            </p:cNvPr>
            <p:cNvGrpSpPr>
              <a:grpSpLocks/>
            </p:cNvGrpSpPr>
            <p:nvPr/>
          </p:nvGrpSpPr>
          <p:grpSpPr>
            <a:xfrm>
              <a:off x="6211750" y="3405851"/>
              <a:ext cx="410200" cy="410198"/>
              <a:chOff x="8195609" y="3018802"/>
              <a:chExt cx="410200" cy="410198"/>
            </a:xfrm>
          </p:grpSpPr>
          <p:sp>
            <p:nvSpPr>
              <p:cNvPr id="9" name="椭圆 8">
                <a:extLst>
                  <a:ext uri="{FF2B5EF4-FFF2-40B4-BE49-F238E27FC236}">
                    <a16:creationId xmlns:a16="http://schemas.microsoft.com/office/drawing/2014/main" id="{4432674F-D995-4EDB-8C79-9328A7D3CA0C}"/>
                  </a:ext>
                </a:extLst>
              </p:cNvPr>
              <p:cNvSpPr/>
              <p:nvPr/>
            </p:nvSpPr>
            <p:spPr>
              <a:xfrm>
                <a:off x="8195609" y="3018802"/>
                <a:ext cx="410200" cy="410198"/>
              </a:xfrm>
              <a:prstGeom prst="ellipse">
                <a:avLst/>
              </a:prstGeom>
              <a:solidFill>
                <a:srgbClr val="6DA990"/>
              </a:solidFill>
              <a:ln w="57150" cap="rnd">
                <a:noFill/>
                <a:prstDash val="solid"/>
                <a:round/>
              </a:ln>
              <a:effectLst>
                <a:outerShdw blurRad="76200" dist="50800" dir="5400000" algn="ctr" rotWithShape="0">
                  <a:schemeClr val="accent5">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10" name="任意多边形: 形状 9">
                <a:extLst>
                  <a:ext uri="{FF2B5EF4-FFF2-40B4-BE49-F238E27FC236}">
                    <a16:creationId xmlns:a16="http://schemas.microsoft.com/office/drawing/2014/main" id="{D4ED7A2C-5636-41CB-821F-963730108F23}"/>
                  </a:ext>
                </a:extLst>
              </p:cNvPr>
              <p:cNvSpPr/>
              <p:nvPr/>
            </p:nvSpPr>
            <p:spPr>
              <a:xfrm>
                <a:off x="8311709" y="3136490"/>
                <a:ext cx="178001" cy="174822"/>
              </a:xfrm>
              <a:custGeom>
                <a:avLst/>
                <a:gdLst>
                  <a:gd name="connsiteX0" fmla="*/ 343764 w 533400"/>
                  <a:gd name="connsiteY0" fmla="*/ 276846 h 523875"/>
                  <a:gd name="connsiteX1" fmla="*/ 372339 w 533400"/>
                  <a:gd name="connsiteY1" fmla="*/ 305421 h 523875"/>
                  <a:gd name="connsiteX2" fmla="*/ 372339 w 533400"/>
                  <a:gd name="connsiteY2" fmla="*/ 495921 h 523875"/>
                  <a:gd name="connsiteX3" fmla="*/ 343764 w 533400"/>
                  <a:gd name="connsiteY3" fmla="*/ 524496 h 523875"/>
                  <a:gd name="connsiteX4" fmla="*/ 191364 w 533400"/>
                  <a:gd name="connsiteY4" fmla="*/ 524496 h 523875"/>
                  <a:gd name="connsiteX5" fmla="*/ 162789 w 533400"/>
                  <a:gd name="connsiteY5" fmla="*/ 495921 h 523875"/>
                  <a:gd name="connsiteX6" fmla="*/ 162789 w 533400"/>
                  <a:gd name="connsiteY6" fmla="*/ 305421 h 523875"/>
                  <a:gd name="connsiteX7" fmla="*/ 191364 w 533400"/>
                  <a:gd name="connsiteY7" fmla="*/ 276846 h 523875"/>
                  <a:gd name="connsiteX8" fmla="*/ 343764 w 533400"/>
                  <a:gd name="connsiteY8" fmla="*/ 276846 h 523875"/>
                  <a:gd name="connsiteX9" fmla="*/ 143739 w 533400"/>
                  <a:gd name="connsiteY9" fmla="*/ 114921 h 523875"/>
                  <a:gd name="connsiteX10" fmla="*/ 179934 w 533400"/>
                  <a:gd name="connsiteY10" fmla="*/ 153021 h 523875"/>
                  <a:gd name="connsiteX11" fmla="*/ 181839 w 533400"/>
                  <a:gd name="connsiteY11" fmla="*/ 153021 h 523875"/>
                  <a:gd name="connsiteX12" fmla="*/ 353289 w 533400"/>
                  <a:gd name="connsiteY12" fmla="*/ 153021 h 523875"/>
                  <a:gd name="connsiteX13" fmla="*/ 391389 w 533400"/>
                  <a:gd name="connsiteY13" fmla="*/ 116826 h 523875"/>
                  <a:gd name="connsiteX14" fmla="*/ 391389 w 533400"/>
                  <a:gd name="connsiteY14" fmla="*/ 114921 h 523875"/>
                  <a:gd name="connsiteX15" fmla="*/ 505689 w 533400"/>
                  <a:gd name="connsiteY15" fmla="*/ 114921 h 523875"/>
                  <a:gd name="connsiteX16" fmla="*/ 534264 w 533400"/>
                  <a:gd name="connsiteY16" fmla="*/ 143496 h 523875"/>
                  <a:gd name="connsiteX17" fmla="*/ 534264 w 533400"/>
                  <a:gd name="connsiteY17" fmla="*/ 381621 h 523875"/>
                  <a:gd name="connsiteX18" fmla="*/ 505689 w 533400"/>
                  <a:gd name="connsiteY18" fmla="*/ 410196 h 523875"/>
                  <a:gd name="connsiteX19" fmla="*/ 391389 w 533400"/>
                  <a:gd name="connsiteY19" fmla="*/ 410196 h 523875"/>
                  <a:gd name="connsiteX20" fmla="*/ 391389 w 533400"/>
                  <a:gd name="connsiteY20" fmla="*/ 295896 h 523875"/>
                  <a:gd name="connsiteX21" fmla="*/ 355194 w 533400"/>
                  <a:gd name="connsiteY21" fmla="*/ 257796 h 523875"/>
                  <a:gd name="connsiteX22" fmla="*/ 353289 w 533400"/>
                  <a:gd name="connsiteY22" fmla="*/ 257796 h 523875"/>
                  <a:gd name="connsiteX23" fmla="*/ 181839 w 533400"/>
                  <a:gd name="connsiteY23" fmla="*/ 257796 h 523875"/>
                  <a:gd name="connsiteX24" fmla="*/ 143739 w 533400"/>
                  <a:gd name="connsiteY24" fmla="*/ 293991 h 523875"/>
                  <a:gd name="connsiteX25" fmla="*/ 143739 w 533400"/>
                  <a:gd name="connsiteY25" fmla="*/ 295896 h 523875"/>
                  <a:gd name="connsiteX26" fmla="*/ 143739 w 533400"/>
                  <a:gd name="connsiteY26" fmla="*/ 410196 h 523875"/>
                  <a:gd name="connsiteX27" fmla="*/ 29439 w 533400"/>
                  <a:gd name="connsiteY27" fmla="*/ 410196 h 523875"/>
                  <a:gd name="connsiteX28" fmla="*/ 864 w 533400"/>
                  <a:gd name="connsiteY28" fmla="*/ 381621 h 523875"/>
                  <a:gd name="connsiteX29" fmla="*/ 864 w 533400"/>
                  <a:gd name="connsiteY29" fmla="*/ 201408 h 523875"/>
                  <a:gd name="connsiteX30" fmla="*/ 11151 w 533400"/>
                  <a:gd name="connsiteY30" fmla="*/ 175405 h 523875"/>
                  <a:gd name="connsiteX31" fmla="*/ 56300 w 533400"/>
                  <a:gd name="connsiteY31" fmla="*/ 127018 h 523875"/>
                  <a:gd name="connsiteX32" fmla="*/ 84112 w 533400"/>
                  <a:gd name="connsiteY32" fmla="*/ 114921 h 523875"/>
                  <a:gd name="connsiteX33" fmla="*/ 143739 w 533400"/>
                  <a:gd name="connsiteY33" fmla="*/ 114921 h 523875"/>
                  <a:gd name="connsiteX34" fmla="*/ 462827 w 533400"/>
                  <a:gd name="connsiteY34" fmla="*/ 172071 h 523875"/>
                  <a:gd name="connsiteX35" fmla="*/ 448539 w 533400"/>
                  <a:gd name="connsiteY35" fmla="*/ 186359 h 523875"/>
                  <a:gd name="connsiteX36" fmla="*/ 462827 w 533400"/>
                  <a:gd name="connsiteY36" fmla="*/ 200646 h 523875"/>
                  <a:gd name="connsiteX37" fmla="*/ 477114 w 533400"/>
                  <a:gd name="connsiteY37" fmla="*/ 186359 h 523875"/>
                  <a:gd name="connsiteX38" fmla="*/ 462827 w 533400"/>
                  <a:gd name="connsiteY38" fmla="*/ 172071 h 523875"/>
                  <a:gd name="connsiteX39" fmla="*/ 343764 w 533400"/>
                  <a:gd name="connsiteY39" fmla="*/ 621 h 523875"/>
                  <a:gd name="connsiteX40" fmla="*/ 372339 w 533400"/>
                  <a:gd name="connsiteY40" fmla="*/ 29196 h 523875"/>
                  <a:gd name="connsiteX41" fmla="*/ 372339 w 533400"/>
                  <a:gd name="connsiteY41" fmla="*/ 105396 h 523875"/>
                  <a:gd name="connsiteX42" fmla="*/ 343764 w 533400"/>
                  <a:gd name="connsiteY42" fmla="*/ 133971 h 523875"/>
                  <a:gd name="connsiteX43" fmla="*/ 191364 w 533400"/>
                  <a:gd name="connsiteY43" fmla="*/ 133971 h 523875"/>
                  <a:gd name="connsiteX44" fmla="*/ 162789 w 533400"/>
                  <a:gd name="connsiteY44" fmla="*/ 105396 h 523875"/>
                  <a:gd name="connsiteX45" fmla="*/ 162789 w 533400"/>
                  <a:gd name="connsiteY45" fmla="*/ 29196 h 523875"/>
                  <a:gd name="connsiteX46" fmla="*/ 191364 w 533400"/>
                  <a:gd name="connsiteY46" fmla="*/ 621 h 523875"/>
                  <a:gd name="connsiteX47" fmla="*/ 343764 w 533400"/>
                  <a:gd name="connsiteY47" fmla="*/ 621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3400" h="523875">
                    <a:moveTo>
                      <a:pt x="343764" y="276846"/>
                    </a:moveTo>
                    <a:cubicBezTo>
                      <a:pt x="359576" y="276846"/>
                      <a:pt x="372339" y="289610"/>
                      <a:pt x="372339" y="305421"/>
                    </a:cubicBezTo>
                    <a:lnTo>
                      <a:pt x="372339" y="495921"/>
                    </a:lnTo>
                    <a:cubicBezTo>
                      <a:pt x="372339" y="511732"/>
                      <a:pt x="359576" y="524496"/>
                      <a:pt x="343764" y="524496"/>
                    </a:cubicBezTo>
                    <a:lnTo>
                      <a:pt x="191364" y="524496"/>
                    </a:lnTo>
                    <a:cubicBezTo>
                      <a:pt x="175552" y="524496"/>
                      <a:pt x="162789" y="511732"/>
                      <a:pt x="162789" y="495921"/>
                    </a:cubicBezTo>
                    <a:lnTo>
                      <a:pt x="162789" y="305421"/>
                    </a:lnTo>
                    <a:cubicBezTo>
                      <a:pt x="162789" y="289610"/>
                      <a:pt x="175552" y="276846"/>
                      <a:pt x="191364" y="276846"/>
                    </a:cubicBezTo>
                    <a:lnTo>
                      <a:pt x="343764" y="276846"/>
                    </a:lnTo>
                    <a:close/>
                    <a:moveTo>
                      <a:pt x="143739" y="114921"/>
                    </a:moveTo>
                    <a:cubicBezTo>
                      <a:pt x="143739" y="135305"/>
                      <a:pt x="159741" y="151973"/>
                      <a:pt x="179934" y="153021"/>
                    </a:cubicBezTo>
                    <a:lnTo>
                      <a:pt x="181839" y="153021"/>
                    </a:lnTo>
                    <a:lnTo>
                      <a:pt x="353289" y="153021"/>
                    </a:lnTo>
                    <a:cubicBezTo>
                      <a:pt x="373673" y="153021"/>
                      <a:pt x="390341" y="137019"/>
                      <a:pt x="391389" y="116826"/>
                    </a:cubicBezTo>
                    <a:lnTo>
                      <a:pt x="391389" y="114921"/>
                    </a:lnTo>
                    <a:lnTo>
                      <a:pt x="505689" y="114921"/>
                    </a:lnTo>
                    <a:cubicBezTo>
                      <a:pt x="521501" y="114921"/>
                      <a:pt x="534264" y="127685"/>
                      <a:pt x="534264" y="143496"/>
                    </a:cubicBezTo>
                    <a:lnTo>
                      <a:pt x="534264" y="381621"/>
                    </a:lnTo>
                    <a:cubicBezTo>
                      <a:pt x="534264" y="397432"/>
                      <a:pt x="521501" y="410196"/>
                      <a:pt x="505689" y="410196"/>
                    </a:cubicBezTo>
                    <a:lnTo>
                      <a:pt x="391389" y="410196"/>
                    </a:lnTo>
                    <a:lnTo>
                      <a:pt x="391389" y="295896"/>
                    </a:lnTo>
                    <a:cubicBezTo>
                      <a:pt x="391389" y="275512"/>
                      <a:pt x="375387" y="258844"/>
                      <a:pt x="355194" y="257796"/>
                    </a:cubicBezTo>
                    <a:lnTo>
                      <a:pt x="353289" y="257796"/>
                    </a:lnTo>
                    <a:lnTo>
                      <a:pt x="181839" y="257796"/>
                    </a:lnTo>
                    <a:cubicBezTo>
                      <a:pt x="161455" y="257796"/>
                      <a:pt x="144787" y="273798"/>
                      <a:pt x="143739" y="293991"/>
                    </a:cubicBezTo>
                    <a:lnTo>
                      <a:pt x="143739" y="295896"/>
                    </a:lnTo>
                    <a:lnTo>
                      <a:pt x="143739" y="410196"/>
                    </a:lnTo>
                    <a:lnTo>
                      <a:pt x="29439" y="410196"/>
                    </a:lnTo>
                    <a:cubicBezTo>
                      <a:pt x="13627" y="410196"/>
                      <a:pt x="864" y="397432"/>
                      <a:pt x="864" y="381621"/>
                    </a:cubicBezTo>
                    <a:lnTo>
                      <a:pt x="864" y="201408"/>
                    </a:lnTo>
                    <a:cubicBezTo>
                      <a:pt x="864" y="191788"/>
                      <a:pt x="4484" y="182454"/>
                      <a:pt x="11151" y="175405"/>
                    </a:cubicBezTo>
                    <a:lnTo>
                      <a:pt x="56300" y="127018"/>
                    </a:lnTo>
                    <a:cubicBezTo>
                      <a:pt x="63538" y="119303"/>
                      <a:pt x="73635" y="114921"/>
                      <a:pt x="84112" y="114921"/>
                    </a:cubicBezTo>
                    <a:lnTo>
                      <a:pt x="143739" y="114921"/>
                    </a:lnTo>
                    <a:close/>
                    <a:moveTo>
                      <a:pt x="462827" y="172071"/>
                    </a:moveTo>
                    <a:cubicBezTo>
                      <a:pt x="454921" y="172071"/>
                      <a:pt x="448539" y="178453"/>
                      <a:pt x="448539" y="186359"/>
                    </a:cubicBezTo>
                    <a:cubicBezTo>
                      <a:pt x="448539" y="194264"/>
                      <a:pt x="454921" y="200646"/>
                      <a:pt x="462827" y="200646"/>
                    </a:cubicBezTo>
                    <a:cubicBezTo>
                      <a:pt x="470732" y="200646"/>
                      <a:pt x="477114" y="194264"/>
                      <a:pt x="477114" y="186359"/>
                    </a:cubicBezTo>
                    <a:cubicBezTo>
                      <a:pt x="477114" y="178453"/>
                      <a:pt x="470732" y="172071"/>
                      <a:pt x="462827" y="172071"/>
                    </a:cubicBezTo>
                    <a:close/>
                    <a:moveTo>
                      <a:pt x="343764" y="621"/>
                    </a:moveTo>
                    <a:cubicBezTo>
                      <a:pt x="359576" y="621"/>
                      <a:pt x="372339" y="13385"/>
                      <a:pt x="372339" y="29196"/>
                    </a:cubicBezTo>
                    <a:lnTo>
                      <a:pt x="372339" y="105396"/>
                    </a:lnTo>
                    <a:cubicBezTo>
                      <a:pt x="372339" y="121207"/>
                      <a:pt x="359576" y="133971"/>
                      <a:pt x="343764" y="133971"/>
                    </a:cubicBezTo>
                    <a:lnTo>
                      <a:pt x="191364" y="133971"/>
                    </a:lnTo>
                    <a:cubicBezTo>
                      <a:pt x="175552" y="133971"/>
                      <a:pt x="162789" y="121207"/>
                      <a:pt x="162789" y="105396"/>
                    </a:cubicBezTo>
                    <a:lnTo>
                      <a:pt x="162789" y="29196"/>
                    </a:lnTo>
                    <a:cubicBezTo>
                      <a:pt x="162789" y="13385"/>
                      <a:pt x="175552" y="621"/>
                      <a:pt x="191364" y="621"/>
                    </a:cubicBezTo>
                    <a:lnTo>
                      <a:pt x="343764" y="621"/>
                    </a:ln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sp>
          <p:nvSpPr>
            <p:cNvPr id="28" name="文本框 27">
              <a:extLst>
                <a:ext uri="{FF2B5EF4-FFF2-40B4-BE49-F238E27FC236}">
                  <a16:creationId xmlns:a16="http://schemas.microsoft.com/office/drawing/2014/main" id="{161D7223-2033-4706-AD95-FAEA415908DC}"/>
                </a:ext>
              </a:extLst>
            </p:cNvPr>
            <p:cNvSpPr txBox="1"/>
            <p:nvPr/>
          </p:nvSpPr>
          <p:spPr>
            <a:xfrm flipH="1">
              <a:off x="5515251" y="3947641"/>
              <a:ext cx="1981200" cy="1191816"/>
            </a:xfrm>
            <a:prstGeom prst="roundRect">
              <a:avLst/>
            </a:prstGeom>
            <a:noFill/>
            <a:effectLst/>
          </p:spPr>
          <p:txBody>
            <a:bodyPr wrap="square" rtlCol="0">
              <a:spAutoFit/>
            </a:bodyPr>
            <a:lstStyle>
              <a:defPPr>
                <a:defRPr lang="zh-CN"/>
              </a:defPPr>
              <a:lvl1pPr>
                <a:defRPr sz="3200" b="1" i="1">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600" i="0" dirty="0">
                  <a:solidFill>
                    <a:schemeClr val="tx1"/>
                  </a:solidFill>
                  <a:effectLst/>
                  <a:latin typeface="Arial" panose="020B0604020202020204" pitchFamily="34" charset="0"/>
                  <a:ea typeface="微软雅黑" panose="020B0503020204020204" pitchFamily="34" charset="-122"/>
                </a:rPr>
                <a:t>使用</a:t>
              </a:r>
              <a:r>
                <a:rPr lang="en-US" altLang="zh-CN" sz="1600" i="0" dirty="0">
                  <a:solidFill>
                    <a:srgbClr val="6DA990"/>
                  </a:solidFill>
                  <a:effectLst/>
                  <a:latin typeface="Arial" panose="020B0604020202020204" pitchFamily="34" charset="0"/>
                  <a:ea typeface="微软雅黑" panose="020B0503020204020204" pitchFamily="34" charset="-122"/>
                </a:rPr>
                <a:t>SARIMA</a:t>
              </a:r>
              <a:r>
                <a:rPr lang="zh-CN" altLang="en-US" sz="1600" i="0" dirty="0">
                  <a:solidFill>
                    <a:srgbClr val="6DA990"/>
                  </a:solidFill>
                  <a:effectLst/>
                  <a:latin typeface="Arial" panose="020B0604020202020204" pitchFamily="34" charset="0"/>
                  <a:ea typeface="微软雅黑" panose="020B0503020204020204" pitchFamily="34" charset="-122"/>
                </a:rPr>
                <a:t>模型</a:t>
              </a:r>
              <a:r>
                <a:rPr lang="zh-CN" altLang="en-US" sz="1600" i="0" dirty="0">
                  <a:solidFill>
                    <a:schemeClr val="tx1"/>
                  </a:solidFill>
                  <a:effectLst/>
                  <a:latin typeface="Arial" panose="020B0604020202020204" pitchFamily="34" charset="0"/>
                  <a:ea typeface="微软雅黑" panose="020B0503020204020204" pitchFamily="34" charset="-122"/>
                </a:rPr>
                <a:t>对农作物的播种面积及产量进行预测</a:t>
              </a:r>
            </a:p>
            <a:p>
              <a:endParaRPr lang="en-US" altLang="zh-CN" sz="1600" i="0" dirty="0">
                <a:solidFill>
                  <a:schemeClr val="tx1"/>
                </a:solidFill>
                <a:effectLst/>
                <a:latin typeface="Arial" panose="020B0604020202020204" pitchFamily="34" charset="0"/>
                <a:ea typeface="微软雅黑" panose="020B0503020204020204" pitchFamily="34" charset="-122"/>
              </a:endParaRPr>
            </a:p>
          </p:txBody>
        </p:sp>
      </p:grpSp>
      <p:grpSp>
        <p:nvGrpSpPr>
          <p:cNvPr id="42" name="组合 41">
            <a:extLst>
              <a:ext uri="{FF2B5EF4-FFF2-40B4-BE49-F238E27FC236}">
                <a16:creationId xmlns:a16="http://schemas.microsoft.com/office/drawing/2014/main" id="{6B37BA8D-9F30-47C4-BA1B-BEB2494D8D8F}"/>
              </a:ext>
            </a:extLst>
          </p:cNvPr>
          <p:cNvGrpSpPr/>
          <p:nvPr/>
        </p:nvGrpSpPr>
        <p:grpSpPr>
          <a:xfrm>
            <a:off x="8382594" y="2753840"/>
            <a:ext cx="2752726" cy="1445738"/>
            <a:chOff x="7771718" y="2370311"/>
            <a:chExt cx="2752726" cy="1445738"/>
          </a:xfrm>
        </p:grpSpPr>
        <p:grpSp>
          <p:nvGrpSpPr>
            <p:cNvPr id="2" name="组合 1">
              <a:extLst>
                <a:ext uri="{FF2B5EF4-FFF2-40B4-BE49-F238E27FC236}">
                  <a16:creationId xmlns:a16="http://schemas.microsoft.com/office/drawing/2014/main" id="{FA91578F-59A8-4019-8290-A5CBE629C308}"/>
                </a:ext>
              </a:extLst>
            </p:cNvPr>
            <p:cNvGrpSpPr/>
            <p:nvPr/>
          </p:nvGrpSpPr>
          <p:grpSpPr>
            <a:xfrm>
              <a:off x="8835034" y="3405851"/>
              <a:ext cx="414650" cy="410198"/>
              <a:chOff x="9139026" y="3018802"/>
              <a:chExt cx="414650" cy="410198"/>
            </a:xfrm>
          </p:grpSpPr>
          <p:sp>
            <p:nvSpPr>
              <p:cNvPr id="3" name="椭圆 2">
                <a:extLst>
                  <a:ext uri="{FF2B5EF4-FFF2-40B4-BE49-F238E27FC236}">
                    <a16:creationId xmlns:a16="http://schemas.microsoft.com/office/drawing/2014/main" id="{440862FF-2C12-44EE-BD56-10F5B85F4414}"/>
                  </a:ext>
                </a:extLst>
              </p:cNvPr>
              <p:cNvSpPr/>
              <p:nvPr/>
            </p:nvSpPr>
            <p:spPr>
              <a:xfrm>
                <a:off x="9139026" y="3018802"/>
                <a:ext cx="414650" cy="410198"/>
              </a:xfrm>
              <a:prstGeom prst="ellipse">
                <a:avLst/>
              </a:prstGeom>
              <a:gradFill>
                <a:gsLst>
                  <a:gs pos="0">
                    <a:schemeClr val="accent6">
                      <a:lumMod val="60000"/>
                      <a:lumOff val="40000"/>
                    </a:schemeClr>
                  </a:gs>
                  <a:gs pos="60000">
                    <a:schemeClr val="accent6"/>
                  </a:gs>
                </a:gsLst>
                <a:lin ang="2700000" scaled="0"/>
              </a:gra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3765"/>
                <a:endParaRPr lang="zh-CN" altLang="en-US" sz="2000" b="1" dirty="0">
                  <a:solidFill>
                    <a:schemeClr val="bg1"/>
                  </a:solidFill>
                </a:endParaRPr>
              </a:p>
            </p:txBody>
          </p:sp>
          <p:sp>
            <p:nvSpPr>
              <p:cNvPr id="4" name="任意多边形: 形状 3">
                <a:extLst>
                  <a:ext uri="{FF2B5EF4-FFF2-40B4-BE49-F238E27FC236}">
                    <a16:creationId xmlns:a16="http://schemas.microsoft.com/office/drawing/2014/main" id="{7F5A71D4-589B-4CE5-9D6E-E30FDECAD69B}"/>
                  </a:ext>
                </a:extLst>
              </p:cNvPr>
              <p:cNvSpPr/>
              <p:nvPr/>
            </p:nvSpPr>
            <p:spPr>
              <a:xfrm>
                <a:off x="9257351" y="3142847"/>
                <a:ext cx="178001" cy="162108"/>
              </a:xfrm>
              <a:custGeom>
                <a:avLst/>
                <a:gdLst>
                  <a:gd name="connsiteX0" fmla="*/ 125329 w 533400"/>
                  <a:gd name="connsiteY0" fmla="*/ 229221 h 485775"/>
                  <a:gd name="connsiteX1" fmla="*/ 125329 w 533400"/>
                  <a:gd name="connsiteY1" fmla="*/ 276846 h 485775"/>
                  <a:gd name="connsiteX2" fmla="*/ 144379 w 533400"/>
                  <a:gd name="connsiteY2" fmla="*/ 276846 h 485775"/>
                  <a:gd name="connsiteX3" fmla="*/ 144379 w 533400"/>
                  <a:gd name="connsiteY3" fmla="*/ 229221 h 485775"/>
                  <a:gd name="connsiteX4" fmla="*/ 392029 w 533400"/>
                  <a:gd name="connsiteY4" fmla="*/ 229221 h 485775"/>
                  <a:gd name="connsiteX5" fmla="*/ 392029 w 533400"/>
                  <a:gd name="connsiteY5" fmla="*/ 276846 h 485775"/>
                  <a:gd name="connsiteX6" fmla="*/ 411079 w 533400"/>
                  <a:gd name="connsiteY6" fmla="*/ 276846 h 485775"/>
                  <a:gd name="connsiteX7" fmla="*/ 411079 w 533400"/>
                  <a:gd name="connsiteY7" fmla="*/ 229221 h 485775"/>
                  <a:gd name="connsiteX8" fmla="*/ 534904 w 533400"/>
                  <a:gd name="connsiteY8" fmla="*/ 229221 h 485775"/>
                  <a:gd name="connsiteX9" fmla="*/ 534904 w 533400"/>
                  <a:gd name="connsiteY9" fmla="*/ 457821 h 485775"/>
                  <a:gd name="connsiteX10" fmla="*/ 506329 w 533400"/>
                  <a:gd name="connsiteY10" fmla="*/ 486396 h 485775"/>
                  <a:gd name="connsiteX11" fmla="*/ 30079 w 533400"/>
                  <a:gd name="connsiteY11" fmla="*/ 486396 h 485775"/>
                  <a:gd name="connsiteX12" fmla="*/ 1504 w 533400"/>
                  <a:gd name="connsiteY12" fmla="*/ 457821 h 485775"/>
                  <a:gd name="connsiteX13" fmla="*/ 1504 w 533400"/>
                  <a:gd name="connsiteY13" fmla="*/ 229221 h 485775"/>
                  <a:gd name="connsiteX14" fmla="*/ 125329 w 533400"/>
                  <a:gd name="connsiteY14" fmla="*/ 229221 h 485775"/>
                  <a:gd name="connsiteX15" fmla="*/ 372979 w 533400"/>
                  <a:gd name="connsiteY15" fmla="*/ 621 h 485775"/>
                  <a:gd name="connsiteX16" fmla="*/ 411079 w 533400"/>
                  <a:gd name="connsiteY16" fmla="*/ 36816 h 485775"/>
                  <a:gd name="connsiteX17" fmla="*/ 411079 w 533400"/>
                  <a:gd name="connsiteY17" fmla="*/ 38721 h 485775"/>
                  <a:gd name="connsiteX18" fmla="*/ 411079 w 533400"/>
                  <a:gd name="connsiteY18" fmla="*/ 114921 h 485775"/>
                  <a:gd name="connsiteX19" fmla="*/ 506329 w 533400"/>
                  <a:gd name="connsiteY19" fmla="*/ 114921 h 485775"/>
                  <a:gd name="connsiteX20" fmla="*/ 534904 w 533400"/>
                  <a:gd name="connsiteY20" fmla="*/ 143496 h 485775"/>
                  <a:gd name="connsiteX21" fmla="*/ 534904 w 533400"/>
                  <a:gd name="connsiteY21" fmla="*/ 210171 h 485775"/>
                  <a:gd name="connsiteX22" fmla="*/ 1504 w 533400"/>
                  <a:gd name="connsiteY22" fmla="*/ 210171 h 485775"/>
                  <a:gd name="connsiteX23" fmla="*/ 1504 w 533400"/>
                  <a:gd name="connsiteY23" fmla="*/ 143496 h 485775"/>
                  <a:gd name="connsiteX24" fmla="*/ 30079 w 533400"/>
                  <a:gd name="connsiteY24" fmla="*/ 114921 h 485775"/>
                  <a:gd name="connsiteX25" fmla="*/ 125329 w 533400"/>
                  <a:gd name="connsiteY25" fmla="*/ 114921 h 485775"/>
                  <a:gd name="connsiteX26" fmla="*/ 125329 w 533400"/>
                  <a:gd name="connsiteY26" fmla="*/ 38721 h 485775"/>
                  <a:gd name="connsiteX27" fmla="*/ 161524 w 533400"/>
                  <a:gd name="connsiteY27" fmla="*/ 621 h 485775"/>
                  <a:gd name="connsiteX28" fmla="*/ 163429 w 533400"/>
                  <a:gd name="connsiteY28" fmla="*/ 621 h 485775"/>
                  <a:gd name="connsiteX29" fmla="*/ 372979 w 533400"/>
                  <a:gd name="connsiteY29" fmla="*/ 621 h 485775"/>
                  <a:gd name="connsiteX30" fmla="*/ 372979 w 533400"/>
                  <a:gd name="connsiteY30" fmla="*/ 19671 h 485775"/>
                  <a:gd name="connsiteX31" fmla="*/ 163429 w 533400"/>
                  <a:gd name="connsiteY31" fmla="*/ 19671 h 485775"/>
                  <a:gd name="connsiteX32" fmla="*/ 144474 w 533400"/>
                  <a:gd name="connsiteY32" fmla="*/ 37292 h 485775"/>
                  <a:gd name="connsiteX33" fmla="*/ 144379 w 533400"/>
                  <a:gd name="connsiteY33" fmla="*/ 38721 h 485775"/>
                  <a:gd name="connsiteX34" fmla="*/ 144379 w 533400"/>
                  <a:gd name="connsiteY34" fmla="*/ 114921 h 485775"/>
                  <a:gd name="connsiteX35" fmla="*/ 392029 w 533400"/>
                  <a:gd name="connsiteY35" fmla="*/ 114921 h 485775"/>
                  <a:gd name="connsiteX36" fmla="*/ 392029 w 533400"/>
                  <a:gd name="connsiteY36" fmla="*/ 38721 h 485775"/>
                  <a:gd name="connsiteX37" fmla="*/ 375836 w 533400"/>
                  <a:gd name="connsiteY37" fmla="*/ 19862 h 485775"/>
                  <a:gd name="connsiteX38" fmla="*/ 374408 w 533400"/>
                  <a:gd name="connsiteY38" fmla="*/ 19671 h 485775"/>
                  <a:gd name="connsiteX39" fmla="*/ 372979 w 533400"/>
                  <a:gd name="connsiteY39" fmla="*/ 196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57821"/>
                    </a:lnTo>
                    <a:cubicBezTo>
                      <a:pt x="534904" y="473632"/>
                      <a:pt x="522141" y="486396"/>
                      <a:pt x="506329" y="486396"/>
                    </a:cubicBezTo>
                    <a:lnTo>
                      <a:pt x="30079" y="486396"/>
                    </a:lnTo>
                    <a:cubicBezTo>
                      <a:pt x="14267" y="486396"/>
                      <a:pt x="1504" y="473632"/>
                      <a:pt x="1504" y="457821"/>
                    </a:cubicBezTo>
                    <a:lnTo>
                      <a:pt x="1504" y="229221"/>
                    </a:lnTo>
                    <a:lnTo>
                      <a:pt x="125329" y="229221"/>
                    </a:lnTo>
                    <a:close/>
                    <a:moveTo>
                      <a:pt x="372979" y="621"/>
                    </a:moveTo>
                    <a:cubicBezTo>
                      <a:pt x="393363" y="621"/>
                      <a:pt x="410031" y="16623"/>
                      <a:pt x="411079" y="36816"/>
                    </a:cubicBezTo>
                    <a:lnTo>
                      <a:pt x="411079" y="38721"/>
                    </a:lnTo>
                    <a:lnTo>
                      <a:pt x="411079" y="114921"/>
                    </a:lnTo>
                    <a:lnTo>
                      <a:pt x="506329" y="114921"/>
                    </a:lnTo>
                    <a:cubicBezTo>
                      <a:pt x="522141" y="114921"/>
                      <a:pt x="534904" y="127685"/>
                      <a:pt x="534904" y="143496"/>
                    </a:cubicBezTo>
                    <a:lnTo>
                      <a:pt x="534904" y="210171"/>
                    </a:lnTo>
                    <a:lnTo>
                      <a:pt x="1504" y="210171"/>
                    </a:lnTo>
                    <a:lnTo>
                      <a:pt x="1504" y="143496"/>
                    </a:lnTo>
                    <a:cubicBezTo>
                      <a:pt x="1504" y="127685"/>
                      <a:pt x="14267" y="114921"/>
                      <a:pt x="30079" y="114921"/>
                    </a:cubicBezTo>
                    <a:lnTo>
                      <a:pt x="125329" y="114921"/>
                    </a:lnTo>
                    <a:lnTo>
                      <a:pt x="125329" y="38721"/>
                    </a:lnTo>
                    <a:cubicBezTo>
                      <a:pt x="125329" y="18337"/>
                      <a:pt x="141331" y="1669"/>
                      <a:pt x="161524" y="621"/>
                    </a:cubicBezTo>
                    <a:lnTo>
                      <a:pt x="163429" y="621"/>
                    </a:lnTo>
                    <a:lnTo>
                      <a:pt x="372979" y="621"/>
                    </a:lnTo>
                    <a:close/>
                    <a:moveTo>
                      <a:pt x="372979" y="19671"/>
                    </a:moveTo>
                    <a:lnTo>
                      <a:pt x="163429" y="19671"/>
                    </a:lnTo>
                    <a:cubicBezTo>
                      <a:pt x="153428" y="19671"/>
                      <a:pt x="145141" y="27482"/>
                      <a:pt x="144474" y="37292"/>
                    </a:cubicBezTo>
                    <a:lnTo>
                      <a:pt x="144379" y="38721"/>
                    </a:lnTo>
                    <a:lnTo>
                      <a:pt x="144379" y="114921"/>
                    </a:lnTo>
                    <a:lnTo>
                      <a:pt x="392029" y="114921"/>
                    </a:lnTo>
                    <a:lnTo>
                      <a:pt x="392029" y="38721"/>
                    </a:lnTo>
                    <a:cubicBezTo>
                      <a:pt x="392029" y="29196"/>
                      <a:pt x="384981" y="21290"/>
                      <a:pt x="375836" y="19862"/>
                    </a:cubicBezTo>
                    <a:lnTo>
                      <a:pt x="374408" y="19671"/>
                    </a:lnTo>
                    <a:lnTo>
                      <a:pt x="372979" y="19671"/>
                    </a:ln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sp>
          <p:nvSpPr>
            <p:cNvPr id="35" name="文本框 34">
              <a:extLst>
                <a:ext uri="{FF2B5EF4-FFF2-40B4-BE49-F238E27FC236}">
                  <a16:creationId xmlns:a16="http://schemas.microsoft.com/office/drawing/2014/main" id="{E9913ECD-D438-4CCA-B2F1-AD762B26017A}"/>
                </a:ext>
              </a:extLst>
            </p:cNvPr>
            <p:cNvSpPr txBox="1"/>
            <p:nvPr/>
          </p:nvSpPr>
          <p:spPr>
            <a:xfrm flipH="1">
              <a:off x="7771718" y="2370311"/>
              <a:ext cx="2752726" cy="1191816"/>
            </a:xfrm>
            <a:prstGeom prst="roundRect">
              <a:avLst/>
            </a:prstGeom>
            <a:noFill/>
            <a:effectLst/>
          </p:spPr>
          <p:txBody>
            <a:bodyPr wrap="square" rtlCol="0">
              <a:spAutoFit/>
            </a:bodyPr>
            <a:lstStyle>
              <a:defPPr>
                <a:defRPr lang="zh-CN"/>
              </a:defPPr>
              <a:lvl1pPr>
                <a:defRPr sz="3200" b="1" i="1">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zh-CN" altLang="en-US" sz="1600" i="0" dirty="0">
                  <a:solidFill>
                    <a:schemeClr val="tx1"/>
                  </a:solidFill>
                  <a:effectLst/>
                  <a:latin typeface="Arial" panose="020B0604020202020204" pitchFamily="34" charset="0"/>
                  <a:ea typeface="微软雅黑" panose="020B0503020204020204" pitchFamily="34" charset="-122"/>
                </a:rPr>
                <a:t>使用</a:t>
              </a:r>
              <a:r>
                <a:rPr lang="zh-CN" altLang="en-US" sz="1600" i="0" dirty="0">
                  <a:solidFill>
                    <a:srgbClr val="F2C900"/>
                  </a:solidFill>
                  <a:effectLst/>
                  <a:latin typeface="Arial" panose="020B0604020202020204" pitchFamily="34" charset="0"/>
                  <a:ea typeface="微软雅黑" panose="020B0503020204020204" pitchFamily="34" charset="-122"/>
                </a:rPr>
                <a:t>多种可视化表现形式</a:t>
              </a:r>
              <a:r>
                <a:rPr lang="zh-CN" altLang="en-US" sz="1600" i="0" dirty="0">
                  <a:solidFill>
                    <a:schemeClr val="tx1"/>
                  </a:solidFill>
                  <a:effectLst/>
                  <a:latin typeface="Arial" panose="020B0604020202020204" pitchFamily="34" charset="0"/>
                  <a:ea typeface="微软雅黑" panose="020B0503020204020204" pitchFamily="34" charset="-122"/>
                </a:rPr>
                <a:t>，例如雷达图、性别年龄金字塔图、文本挖掘词云图等</a:t>
              </a:r>
            </a:p>
            <a:p>
              <a:endParaRPr lang="en-US" altLang="zh-CN" sz="1600" i="0" dirty="0">
                <a:solidFill>
                  <a:schemeClr val="tx1"/>
                </a:solidFill>
                <a:effectLst/>
                <a:latin typeface="Arial" panose="020B0604020202020204" pitchFamily="34" charset="0"/>
                <a:ea typeface="微软雅黑" panose="020B0503020204020204" pitchFamily="34" charset="-122"/>
              </a:endParaRPr>
            </a:p>
          </p:txBody>
        </p:sp>
      </p:grpSp>
      <p:sp>
        <p:nvSpPr>
          <p:cNvPr id="23" name="Title 34">
            <a:extLst>
              <a:ext uri="{FF2B5EF4-FFF2-40B4-BE49-F238E27FC236}">
                <a16:creationId xmlns:a16="http://schemas.microsoft.com/office/drawing/2014/main" id="{F3764A6F-3674-D4E6-7454-7EA98F70A64D}"/>
              </a:ext>
            </a:extLst>
          </p:cNvPr>
          <p:cNvSpPr txBox="1">
            <a:spLocks/>
          </p:cNvSpPr>
          <p:nvPr/>
        </p:nvSpPr>
        <p:spPr>
          <a:xfrm>
            <a:off x="666750" y="476250"/>
            <a:ext cx="10858500" cy="1028700"/>
          </a:xfrm>
          <a:prstGeom prst="rect">
            <a:avLst/>
          </a:prstGeom>
        </p:spPr>
        <p:txBody>
          <a:bodyPr wrap="square">
            <a:normAutofit/>
          </a:bodyPr>
          <a:lst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a:lstStyle>
          <a:p>
            <a:r>
              <a:rPr lang="zh-CN" altLang="en-US"/>
              <a:t>作品创意</a:t>
            </a:r>
            <a:endParaRPr lang="zh-CN" altLang="en-US" dirty="0"/>
          </a:p>
        </p:txBody>
      </p:sp>
      <p:pic>
        <p:nvPicPr>
          <p:cNvPr id="16" name="图片 15" descr="IMG_256">
            <a:extLst>
              <a:ext uri="{FF2B5EF4-FFF2-40B4-BE49-F238E27FC236}">
                <a16:creationId xmlns:a16="http://schemas.microsoft.com/office/drawing/2014/main" id="{15DBB716-748B-0321-86D3-0BD4D0A35081}"/>
              </a:ext>
            </a:extLst>
          </p:cNvPr>
          <p:cNvPicPr>
            <a:picLocks noChangeAspect="1"/>
          </p:cNvPicPr>
          <p:nvPr/>
        </p:nvPicPr>
        <p:blipFill>
          <a:blip r:embed="rId4"/>
          <a:srcRect l="5699" t="10816" r="4462" b="5548"/>
          <a:stretch>
            <a:fillRect/>
          </a:stretch>
        </p:blipFill>
        <p:spPr>
          <a:xfrm>
            <a:off x="5782970" y="5295410"/>
            <a:ext cx="2757221" cy="1460652"/>
          </a:xfrm>
          <a:prstGeom prst="rect">
            <a:avLst/>
          </a:prstGeom>
          <a:noFill/>
          <a:ln w="9525">
            <a:noFill/>
          </a:ln>
        </p:spPr>
      </p:pic>
      <p:pic>
        <p:nvPicPr>
          <p:cNvPr id="18" name="图片 17">
            <a:extLst>
              <a:ext uri="{FF2B5EF4-FFF2-40B4-BE49-F238E27FC236}">
                <a16:creationId xmlns:a16="http://schemas.microsoft.com/office/drawing/2014/main" id="{74FCA2E4-26CF-A0AB-CEC0-A841CDB29BD9}"/>
              </a:ext>
            </a:extLst>
          </p:cNvPr>
          <p:cNvPicPr>
            <a:picLocks noChangeAspect="1"/>
          </p:cNvPicPr>
          <p:nvPr/>
        </p:nvPicPr>
        <p:blipFill>
          <a:blip r:embed="rId5"/>
          <a:stretch>
            <a:fillRect/>
          </a:stretch>
        </p:blipFill>
        <p:spPr>
          <a:xfrm>
            <a:off x="7562720" y="983089"/>
            <a:ext cx="3766379" cy="1594431"/>
          </a:xfrm>
          <a:prstGeom prst="rect">
            <a:avLst/>
          </a:prstGeom>
          <a:noFill/>
          <a:ln>
            <a:noFill/>
          </a:ln>
        </p:spPr>
      </p:pic>
    </p:spTree>
    <p:extLst>
      <p:ext uri="{BB962C8B-B14F-4D97-AF65-F5344CB8AC3E}">
        <p14:creationId xmlns:p14="http://schemas.microsoft.com/office/powerpoint/2010/main" val="202674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anim calcmode="lin" valueType="num">
                                      <p:cBhvr additive="base">
                                        <p:cTn id="17" dur="500" fill="hold"/>
                                        <p:tgtEl>
                                          <p:spTgt spid="40"/>
                                        </p:tgtEl>
                                        <p:attrNameLst>
                                          <p:attrName>ppt_x</p:attrName>
                                        </p:attrNameLst>
                                      </p:cBhvr>
                                      <p:tavLst>
                                        <p:tav tm="0">
                                          <p:val>
                                            <p:strVal val="#ppt_x"/>
                                          </p:val>
                                        </p:tav>
                                        <p:tav tm="100000">
                                          <p:val>
                                            <p:strVal val="#ppt_x"/>
                                          </p:val>
                                        </p:tav>
                                      </p:tavLst>
                                    </p:anim>
                                    <p:anim calcmode="lin" valueType="num">
                                      <p:cBhvr additive="base">
                                        <p:cTn id="1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fill="hold"/>
                                        <p:tgtEl>
                                          <p:spTgt spid="41"/>
                                        </p:tgtEl>
                                        <p:attrNameLst>
                                          <p:attrName>ppt_x</p:attrName>
                                        </p:attrNameLst>
                                      </p:cBhvr>
                                      <p:tavLst>
                                        <p:tav tm="0">
                                          <p:val>
                                            <p:strVal val="#ppt_x"/>
                                          </p:val>
                                        </p:tav>
                                        <p:tav tm="100000">
                                          <p:val>
                                            <p:strVal val="#ppt_x"/>
                                          </p:val>
                                        </p:tav>
                                      </p:tavLst>
                                    </p:anim>
                                    <p:anim calcmode="lin" valueType="num">
                                      <p:cBhvr additive="base">
                                        <p:cTn id="24" dur="500" fill="hold"/>
                                        <p:tgtEl>
                                          <p:spTgt spid="4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additive="base">
                                        <p:cTn id="37" dur="500" fill="hold"/>
                                        <p:tgtEl>
                                          <p:spTgt spid="42"/>
                                        </p:tgtEl>
                                        <p:attrNameLst>
                                          <p:attrName>ppt_x</p:attrName>
                                        </p:attrNameLst>
                                      </p:cBhvr>
                                      <p:tavLst>
                                        <p:tav tm="0">
                                          <p:val>
                                            <p:strVal val="#ppt_x"/>
                                          </p:val>
                                        </p:tav>
                                        <p:tav tm="100000">
                                          <p:val>
                                            <p:strVal val="#ppt_x"/>
                                          </p:val>
                                        </p:tav>
                                      </p:tavLst>
                                    </p:anim>
                                    <p:anim calcmode="lin" valueType="num">
                                      <p:cBhvr additive="base">
                                        <p:cTn id="3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wrap="square">
            <a:normAutofit/>
          </a:bodyPr>
          <a:lstStyle/>
          <a:p>
            <a:pPr lvl="0"/>
            <a:r>
              <a:rPr lang="en-US" dirty="0"/>
              <a:t>04.</a:t>
            </a:r>
            <a:r>
              <a:rPr lang="zh-CN" altLang="en-US" dirty="0"/>
              <a:t>研究方法及结果</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IMG_256"/>
          <p:cNvPicPr>
            <a:picLocks noChangeAspect="1"/>
          </p:cNvPicPr>
          <p:nvPr/>
        </p:nvPicPr>
        <p:blipFill>
          <a:blip r:embed="rId2"/>
          <a:srcRect l="2601" t="8086" r="1610" b="1801"/>
          <a:stretch>
            <a:fillRect/>
          </a:stretch>
        </p:blipFill>
        <p:spPr>
          <a:xfrm>
            <a:off x="0" y="1299119"/>
            <a:ext cx="5610765" cy="3959280"/>
          </a:xfrm>
          <a:prstGeom prst="rect">
            <a:avLst/>
          </a:prstGeom>
          <a:noFill/>
          <a:ln w="9525">
            <a:noFill/>
          </a:ln>
        </p:spPr>
      </p:pic>
      <p:pic>
        <p:nvPicPr>
          <p:cNvPr id="2" name="图片 1" descr="IMG_256"/>
          <p:cNvPicPr>
            <a:picLocks noChangeAspect="1"/>
          </p:cNvPicPr>
          <p:nvPr/>
        </p:nvPicPr>
        <p:blipFill>
          <a:blip r:embed="rId3"/>
          <a:srcRect b="1064"/>
          <a:stretch>
            <a:fillRect/>
          </a:stretch>
        </p:blipFill>
        <p:spPr>
          <a:xfrm>
            <a:off x="5553335" y="1390259"/>
            <a:ext cx="6360760" cy="3777001"/>
          </a:xfrm>
          <a:prstGeom prst="rect">
            <a:avLst/>
          </a:prstGeom>
          <a:noFill/>
          <a:ln w="9525">
            <a:noFill/>
          </a:ln>
        </p:spPr>
      </p:pic>
      <p:sp>
        <p:nvSpPr>
          <p:cNvPr id="10" name="文本框 9"/>
          <p:cNvSpPr txBox="1"/>
          <p:nvPr/>
        </p:nvSpPr>
        <p:spPr>
          <a:xfrm>
            <a:off x="7715302" y="5467741"/>
            <a:ext cx="2036826" cy="369332"/>
          </a:xfrm>
          <a:prstGeom prst="rect">
            <a:avLst/>
          </a:prstGeom>
          <a:noFill/>
        </p:spPr>
        <p:txBody>
          <a:bodyPr wrap="square">
            <a:spAutoFit/>
          </a:bodyPr>
          <a:lstStyle/>
          <a:p>
            <a:pPr marL="0" marR="0" algn="just">
              <a:spcBef>
                <a:spcPts val="0"/>
              </a:spcBef>
              <a:spcAft>
                <a:spcPts val="0"/>
              </a:spcAft>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劳动力人口增长率</a:t>
            </a:r>
          </a:p>
        </p:txBody>
      </p:sp>
      <p:sp>
        <p:nvSpPr>
          <p:cNvPr id="12" name="文本框 11"/>
          <p:cNvSpPr txBox="1"/>
          <p:nvPr/>
        </p:nvSpPr>
        <p:spPr>
          <a:xfrm>
            <a:off x="1281001" y="5344152"/>
            <a:ext cx="3048762" cy="369332"/>
          </a:xfrm>
          <a:prstGeom prst="rect">
            <a:avLst/>
          </a:prstGeom>
          <a:noFill/>
        </p:spPr>
        <p:txBody>
          <a:bodyPr wrap="square">
            <a:spAutoFit/>
          </a:bodyPr>
          <a:lstStyle/>
          <a:p>
            <a:pPr marL="0" marR="0" algn="just">
              <a:spcBef>
                <a:spcPts val="0"/>
              </a:spcBef>
              <a:spcAft>
                <a:spcPts val="0"/>
              </a:spcAft>
            </a:pPr>
            <a:r>
              <a:rPr lang="zh-CN" altLang="en-US" sz="1800" kern="1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劳动力转移率及环比增长率</a:t>
            </a:r>
            <a:endParaRPr lang="zh-CN" altLang="en-US"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对角圆角 14"/>
          <p:cNvSpPr/>
          <p:nvPr/>
        </p:nvSpPr>
        <p:spPr>
          <a:xfrm>
            <a:off x="324211" y="347214"/>
            <a:ext cx="4005552" cy="521466"/>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100" dirty="0">
                <a:effectLst/>
                <a:latin typeface="宋体" panose="02010600030101010101" pitchFamily="2" charset="-122"/>
                <a:ea typeface="宋体" panose="02010600030101010101" pitchFamily="2" charset="-122"/>
              </a:rPr>
              <a:t>劳动力转移的区域、阶段特征</a:t>
            </a:r>
            <a:endParaRPr lang="zh-CN" altLang="en-US" sz="2000" kern="100" dirty="0">
              <a:effectLst/>
              <a:latin typeface="Times New Roman" panose="02020603050405020304" pitchFamily="18"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0" y="997922"/>
            <a:ext cx="7396576" cy="5635486"/>
          </a:xfrm>
          <a:prstGeom prst="rect">
            <a:avLst/>
          </a:prstGeom>
        </p:spPr>
      </p:pic>
      <p:pic>
        <p:nvPicPr>
          <p:cNvPr id="6" name="图片 5"/>
          <p:cNvPicPr>
            <a:picLocks noChangeAspect="1"/>
          </p:cNvPicPr>
          <p:nvPr/>
        </p:nvPicPr>
        <p:blipFill>
          <a:blip r:embed="rId4"/>
          <a:stretch>
            <a:fillRect/>
          </a:stretch>
        </p:blipFill>
        <p:spPr>
          <a:xfrm>
            <a:off x="7109609" y="1658176"/>
            <a:ext cx="4725059" cy="3867690"/>
          </a:xfrm>
          <a:prstGeom prst="rect">
            <a:avLst/>
          </a:prstGeom>
        </p:spPr>
      </p:pic>
      <p:sp>
        <p:nvSpPr>
          <p:cNvPr id="40" name="矩形: 对角圆角 39"/>
          <p:cNvSpPr/>
          <p:nvPr/>
        </p:nvSpPr>
        <p:spPr>
          <a:xfrm>
            <a:off x="324211" y="347214"/>
            <a:ext cx="4005552" cy="521466"/>
          </a:xfrm>
          <a:prstGeom prst="round2DiagRect">
            <a:avLst>
              <a:gd name="adj1" fmla="val 50000"/>
              <a:gd name="adj2" fmla="val 0"/>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100" dirty="0">
                <a:latin typeface="宋体" panose="02010600030101010101" pitchFamily="2" charset="-122"/>
                <a:ea typeface="宋体" panose="02010600030101010101" pitchFamily="2" charset="-122"/>
              </a:rPr>
              <a:t>劳动力成本组成与变化趋势分析</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ïŝḻíḑè"/>
          <p:cNvSpPr txBox="1"/>
          <p:nvPr/>
        </p:nvSpPr>
        <p:spPr>
          <a:xfrm>
            <a:off x="7035799" y="1145287"/>
            <a:ext cx="3948517" cy="461665"/>
          </a:xfrm>
          <a:prstGeom prst="rect">
            <a:avLst/>
          </a:prstGeom>
          <a:noFill/>
        </p:spPr>
        <p:txBody>
          <a:bodyPr wrap="none" rtlCol="0">
            <a:spAutoFit/>
          </a:bodyPr>
          <a:lstStyle/>
          <a:p>
            <a:r>
              <a:rPr lang="en-US" altLang="zh-CN" sz="2400" b="1" dirty="0"/>
              <a:t>2000</a:t>
            </a:r>
            <a:r>
              <a:rPr lang="zh-CN" altLang="en-US" sz="2400" b="1" dirty="0"/>
              <a:t>年农村劳动力素质分析</a:t>
            </a:r>
          </a:p>
        </p:txBody>
      </p:sp>
      <p:grpSp>
        <p:nvGrpSpPr>
          <p:cNvPr id="9" name="组合 8"/>
          <p:cNvGrpSpPr/>
          <p:nvPr/>
        </p:nvGrpSpPr>
        <p:grpSpPr>
          <a:xfrm>
            <a:off x="7035799" y="1872873"/>
            <a:ext cx="4041530" cy="988455"/>
            <a:chOff x="7477370" y="3843665"/>
            <a:chExt cx="4041530" cy="988455"/>
          </a:xfrm>
        </p:grpSpPr>
        <p:sp>
          <p:nvSpPr>
            <p:cNvPr id="10" name="圆角矩形 10"/>
            <p:cNvSpPr/>
            <p:nvPr/>
          </p:nvSpPr>
          <p:spPr>
            <a:xfrm>
              <a:off x="7477370" y="3843665"/>
              <a:ext cx="4041530" cy="903462"/>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p>
          </p:txBody>
        </p:sp>
        <p:sp>
          <p:nvSpPr>
            <p:cNvPr id="11" name="文本框 10"/>
            <p:cNvSpPr txBox="1"/>
            <p:nvPr/>
          </p:nvSpPr>
          <p:spPr>
            <a:xfrm>
              <a:off x="7705797" y="3947582"/>
              <a:ext cx="2000863" cy="369332"/>
            </a:xfrm>
            <a:prstGeom prst="rect">
              <a:avLst/>
            </a:prstGeom>
            <a:noFill/>
          </p:spPr>
          <p:txBody>
            <a:bodyPr wrap="none" rtlCol="0" anchor="b">
              <a:normAutofit/>
            </a:bodyPr>
            <a:lstStyle/>
            <a:p>
              <a:pPr>
                <a:lnSpc>
                  <a:spcPct val="100000"/>
                </a:lnSpc>
              </a:pPr>
              <a:r>
                <a:rPr lang="zh-CN" altLang="en-US" sz="1600" b="1" dirty="0">
                  <a:solidFill>
                    <a:schemeClr val="accent6"/>
                  </a:solidFill>
                </a:rPr>
                <a:t>高等教育人口比例偏低</a:t>
              </a:r>
            </a:p>
          </p:txBody>
        </p:sp>
        <p:sp>
          <p:nvSpPr>
            <p:cNvPr id="12" name="文本框 11"/>
            <p:cNvSpPr txBox="1"/>
            <p:nvPr/>
          </p:nvSpPr>
          <p:spPr>
            <a:xfrm>
              <a:off x="7705798" y="4316914"/>
              <a:ext cx="3631110" cy="515206"/>
            </a:xfrm>
            <a:prstGeom prst="rect">
              <a:avLst/>
            </a:prstGeom>
            <a:noFill/>
          </p:spPr>
          <p:txBody>
            <a:bodyPr wrap="square" rtlCol="0">
              <a:spAutoFit/>
            </a:bodyPr>
            <a:lstStyle/>
            <a:p>
              <a:pPr defTabSz="913765">
                <a:lnSpc>
                  <a:spcPct val="120000"/>
                </a:lnSpc>
                <a:buSzPct val="25000"/>
                <a:defRPr/>
              </a:pPr>
              <a:r>
                <a:rPr lang="zh-CN" altLang="en-US" sz="1200" dirty="0">
                  <a:solidFill>
                    <a:schemeClr val="accent6"/>
                  </a:solidFill>
                </a:rPr>
                <a:t>教育资源有限，劳动力整体素质的提升受阻</a:t>
              </a:r>
            </a:p>
            <a:p>
              <a:pPr lvl="0" defTabSz="913765">
                <a:lnSpc>
                  <a:spcPct val="120000"/>
                </a:lnSpc>
                <a:buSzPct val="25000"/>
                <a:defRPr/>
              </a:pPr>
              <a:endParaRPr lang="zh-CN" altLang="en-US" sz="1200" dirty="0">
                <a:solidFill>
                  <a:schemeClr val="accent6"/>
                </a:solidFill>
              </a:endParaRPr>
            </a:p>
          </p:txBody>
        </p:sp>
      </p:grpSp>
      <p:grpSp>
        <p:nvGrpSpPr>
          <p:cNvPr id="13" name="组合 12"/>
          <p:cNvGrpSpPr/>
          <p:nvPr/>
        </p:nvGrpSpPr>
        <p:grpSpPr>
          <a:xfrm>
            <a:off x="7035799" y="5218885"/>
            <a:ext cx="4041530" cy="988455"/>
            <a:chOff x="2943096" y="4979398"/>
            <a:chExt cx="4041530" cy="988455"/>
          </a:xfrm>
        </p:grpSpPr>
        <p:sp>
          <p:nvSpPr>
            <p:cNvPr id="14" name="圆角矩形 1"/>
            <p:cNvSpPr/>
            <p:nvPr/>
          </p:nvSpPr>
          <p:spPr>
            <a:xfrm>
              <a:off x="2943096" y="4979398"/>
              <a:ext cx="4041530" cy="903462"/>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p>
          </p:txBody>
        </p:sp>
        <p:sp>
          <p:nvSpPr>
            <p:cNvPr id="15" name="文本框 14"/>
            <p:cNvSpPr txBox="1"/>
            <p:nvPr/>
          </p:nvSpPr>
          <p:spPr>
            <a:xfrm>
              <a:off x="3171523" y="5083315"/>
              <a:ext cx="2000863" cy="369332"/>
            </a:xfrm>
            <a:prstGeom prst="rect">
              <a:avLst/>
            </a:prstGeom>
            <a:noFill/>
          </p:spPr>
          <p:txBody>
            <a:bodyPr wrap="none" rtlCol="0" anchor="b">
              <a:normAutofit/>
            </a:bodyPr>
            <a:lstStyle/>
            <a:p>
              <a:r>
                <a:rPr lang="zh-CN" altLang="en-US" sz="1600" b="1" dirty="0">
                  <a:solidFill>
                    <a:schemeClr val="accent2"/>
                  </a:solidFill>
                </a:rPr>
                <a:t>性别差异明显</a:t>
              </a:r>
            </a:p>
          </p:txBody>
        </p:sp>
        <p:sp>
          <p:nvSpPr>
            <p:cNvPr id="16" name="文本框 15"/>
            <p:cNvSpPr txBox="1"/>
            <p:nvPr/>
          </p:nvSpPr>
          <p:spPr>
            <a:xfrm>
              <a:off x="3171524" y="5452647"/>
              <a:ext cx="3631110" cy="515206"/>
            </a:xfrm>
            <a:prstGeom prst="rect">
              <a:avLst/>
            </a:prstGeom>
            <a:noFill/>
          </p:spPr>
          <p:txBody>
            <a:bodyPr wrap="square" rtlCol="0">
              <a:spAutoFit/>
            </a:bodyPr>
            <a:lstStyle/>
            <a:p>
              <a:pPr defTabSz="913765">
                <a:lnSpc>
                  <a:spcPct val="120000"/>
                </a:lnSpc>
                <a:buSzPct val="25000"/>
                <a:defRPr/>
              </a:pPr>
              <a:r>
                <a:rPr lang="zh-CN" altLang="en-US" sz="1200" dirty="0">
                  <a:solidFill>
                    <a:schemeClr val="accent2"/>
                  </a:solidFill>
                </a:rPr>
                <a:t>男性的教育水平普遍高于女性</a:t>
              </a:r>
            </a:p>
            <a:p>
              <a:pPr lvl="0" defTabSz="913765">
                <a:lnSpc>
                  <a:spcPct val="120000"/>
                </a:lnSpc>
                <a:buSzPct val="25000"/>
                <a:defRPr/>
              </a:pPr>
              <a:endParaRPr lang="zh-CN" altLang="en-US" sz="1200" dirty="0">
                <a:solidFill>
                  <a:schemeClr val="accent2"/>
                </a:solidFill>
              </a:endParaRPr>
            </a:p>
          </p:txBody>
        </p:sp>
      </p:grpSp>
      <p:grpSp>
        <p:nvGrpSpPr>
          <p:cNvPr id="17" name="组合 16"/>
          <p:cNvGrpSpPr/>
          <p:nvPr/>
        </p:nvGrpSpPr>
        <p:grpSpPr>
          <a:xfrm>
            <a:off x="7035799" y="4071993"/>
            <a:ext cx="4041530" cy="903462"/>
            <a:chOff x="7477370" y="4979398"/>
            <a:chExt cx="4041530" cy="903462"/>
          </a:xfrm>
        </p:grpSpPr>
        <p:sp>
          <p:nvSpPr>
            <p:cNvPr id="18" name="圆角矩形 4"/>
            <p:cNvSpPr/>
            <p:nvPr/>
          </p:nvSpPr>
          <p:spPr>
            <a:xfrm>
              <a:off x="7477370" y="4979398"/>
              <a:ext cx="4041530" cy="903462"/>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p>
          </p:txBody>
        </p:sp>
        <p:sp>
          <p:nvSpPr>
            <p:cNvPr id="19" name="文本框 18"/>
            <p:cNvSpPr txBox="1"/>
            <p:nvPr/>
          </p:nvSpPr>
          <p:spPr>
            <a:xfrm>
              <a:off x="7705797" y="5083315"/>
              <a:ext cx="2000863" cy="369332"/>
            </a:xfrm>
            <a:prstGeom prst="rect">
              <a:avLst/>
            </a:prstGeom>
            <a:noFill/>
          </p:spPr>
          <p:txBody>
            <a:bodyPr wrap="none" rtlCol="0" anchor="b">
              <a:normAutofit/>
            </a:bodyPr>
            <a:lstStyle/>
            <a:p>
              <a:r>
                <a:rPr lang="zh-CN" altLang="en-US" sz="1600" b="1" dirty="0">
                  <a:solidFill>
                    <a:schemeClr val="accent4"/>
                  </a:solidFill>
                </a:rPr>
                <a:t>金字塔结构失衡</a:t>
              </a:r>
            </a:p>
          </p:txBody>
        </p:sp>
        <p:sp>
          <p:nvSpPr>
            <p:cNvPr id="20" name="文本框 19"/>
            <p:cNvSpPr txBox="1"/>
            <p:nvPr/>
          </p:nvSpPr>
          <p:spPr>
            <a:xfrm>
              <a:off x="7705798" y="5452647"/>
              <a:ext cx="3631110" cy="294824"/>
            </a:xfrm>
            <a:prstGeom prst="rect">
              <a:avLst/>
            </a:prstGeom>
            <a:noFill/>
          </p:spPr>
          <p:txBody>
            <a:bodyPr wrap="square" rtlCol="0">
              <a:spAutoFit/>
            </a:bodyPr>
            <a:lstStyle/>
            <a:p>
              <a:pPr defTabSz="913765">
                <a:lnSpc>
                  <a:spcPct val="120000"/>
                </a:lnSpc>
                <a:buSzPct val="25000"/>
                <a:defRPr/>
              </a:pPr>
              <a:r>
                <a:rPr lang="zh-CN" altLang="en-US" sz="1200" dirty="0">
                  <a:solidFill>
                    <a:schemeClr val="accent4"/>
                  </a:solidFill>
                </a:rPr>
                <a:t>较早的年代，教育机会不平等现象更为突出</a:t>
              </a:r>
            </a:p>
          </p:txBody>
        </p:sp>
      </p:grpSp>
      <p:grpSp>
        <p:nvGrpSpPr>
          <p:cNvPr id="21" name="组合 20"/>
          <p:cNvGrpSpPr/>
          <p:nvPr/>
        </p:nvGrpSpPr>
        <p:grpSpPr>
          <a:xfrm>
            <a:off x="6989292" y="2934772"/>
            <a:ext cx="4041530" cy="988455"/>
            <a:chOff x="2943096" y="3843665"/>
            <a:chExt cx="4041530" cy="988455"/>
          </a:xfrm>
        </p:grpSpPr>
        <p:sp>
          <p:nvSpPr>
            <p:cNvPr id="22" name="圆角矩形 7"/>
            <p:cNvSpPr/>
            <p:nvPr/>
          </p:nvSpPr>
          <p:spPr>
            <a:xfrm>
              <a:off x="2943096" y="3843665"/>
              <a:ext cx="4041530" cy="903462"/>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p>
          </p:txBody>
        </p:sp>
        <p:sp>
          <p:nvSpPr>
            <p:cNvPr id="23" name="文本框 22"/>
            <p:cNvSpPr txBox="1"/>
            <p:nvPr/>
          </p:nvSpPr>
          <p:spPr>
            <a:xfrm>
              <a:off x="3171523" y="3947582"/>
              <a:ext cx="2000863" cy="369332"/>
            </a:xfrm>
            <a:prstGeom prst="rect">
              <a:avLst/>
            </a:prstGeom>
            <a:noFill/>
          </p:spPr>
          <p:txBody>
            <a:bodyPr wrap="none" rtlCol="0" anchor="b">
              <a:normAutofit/>
            </a:bodyPr>
            <a:lstStyle/>
            <a:p>
              <a:pPr>
                <a:lnSpc>
                  <a:spcPct val="100000"/>
                </a:lnSpc>
              </a:pPr>
              <a:r>
                <a:rPr lang="zh-CN" altLang="en-US" sz="1600" b="1" dirty="0">
                  <a:solidFill>
                    <a:schemeClr val="accent1"/>
                  </a:solidFill>
                </a:rPr>
                <a:t>低教育水平群体占比较大</a:t>
              </a:r>
            </a:p>
          </p:txBody>
        </p:sp>
        <p:sp>
          <p:nvSpPr>
            <p:cNvPr id="24" name="文本框 23"/>
            <p:cNvSpPr txBox="1"/>
            <p:nvPr/>
          </p:nvSpPr>
          <p:spPr>
            <a:xfrm>
              <a:off x="3171524" y="4316914"/>
              <a:ext cx="3631110" cy="515206"/>
            </a:xfrm>
            <a:prstGeom prst="rect">
              <a:avLst/>
            </a:prstGeom>
            <a:noFill/>
          </p:spPr>
          <p:txBody>
            <a:bodyPr wrap="square" rtlCol="0">
              <a:spAutoFit/>
            </a:bodyPr>
            <a:lstStyle/>
            <a:p>
              <a:pPr defTabSz="913765">
                <a:lnSpc>
                  <a:spcPct val="120000"/>
                </a:lnSpc>
                <a:buSzPct val="25000"/>
                <a:defRPr/>
              </a:pPr>
              <a:r>
                <a:rPr lang="zh-CN" altLang="en-US" sz="1200" dirty="0">
                  <a:solidFill>
                    <a:schemeClr val="accent1"/>
                  </a:solidFill>
                </a:rPr>
                <a:t>大部分人仅接受了基础教育</a:t>
              </a:r>
            </a:p>
            <a:p>
              <a:pPr lvl="0" defTabSz="913765">
                <a:lnSpc>
                  <a:spcPct val="120000"/>
                </a:lnSpc>
                <a:buSzPct val="25000"/>
                <a:defRPr/>
              </a:pPr>
              <a:endParaRPr lang="zh-CN" altLang="en-US" sz="1200" dirty="0">
                <a:solidFill>
                  <a:schemeClr val="accent1"/>
                </a:solidFill>
              </a:endParaRPr>
            </a:p>
          </p:txBody>
        </p:sp>
      </p:gr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2942" t="11450" r="7258" b="4055"/>
          <a:stretch>
            <a:fillRect/>
          </a:stretch>
        </p:blipFill>
        <p:spPr>
          <a:xfrm>
            <a:off x="0" y="1008404"/>
            <a:ext cx="7060016" cy="5314439"/>
          </a:xfrm>
          <a:prstGeom prst="rect">
            <a:avLst/>
          </a:prstGeom>
        </p:spPr>
      </p:pic>
      <p:pic>
        <p:nvPicPr>
          <p:cNvPr id="25" name="图片 24"/>
          <p:cNvPicPr>
            <a:picLocks noChangeAspect="1"/>
          </p:cNvPicPr>
          <p:nvPr/>
        </p:nvPicPr>
        <p:blipFill>
          <a:blip r:embed="rId3"/>
          <a:stretch>
            <a:fillRect/>
          </a:stretch>
        </p:blipFill>
        <p:spPr>
          <a:xfrm>
            <a:off x="528387" y="914191"/>
            <a:ext cx="6256694" cy="5408652"/>
          </a:xfrm>
          <a:prstGeom prst="rect">
            <a:avLst/>
          </a:prstGeom>
        </p:spPr>
      </p:pic>
      <p:sp>
        <p:nvSpPr>
          <p:cNvPr id="27" name="矩形: 对角圆角 26"/>
          <p:cNvSpPr/>
          <p:nvPr/>
        </p:nvSpPr>
        <p:spPr>
          <a:xfrm>
            <a:off x="324211" y="347214"/>
            <a:ext cx="4005552" cy="521466"/>
          </a:xfrm>
          <a:prstGeom prst="round2DiagRect">
            <a:avLst>
              <a:gd name="adj1" fmla="val 50000"/>
              <a:gd name="adj2"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100" dirty="0">
                <a:latin typeface="宋体" panose="02010600030101010101" pitchFamily="2" charset="-122"/>
                <a:ea typeface="宋体" panose="02010600030101010101" pitchFamily="2" charset="-122"/>
              </a:rPr>
              <a:t>劳动力素质特征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anim calcmode="lin" valueType="num">
                                      <p:cBhvr>
                                        <p:cTn id="19" dur="1000" fill="hold"/>
                                        <p:tgtEl>
                                          <p:spTgt spid="9"/>
                                        </p:tgtEl>
                                        <p:attrNameLst>
                                          <p:attrName>ppt_x</p:attrName>
                                        </p:attrNameLst>
                                      </p:cBhvr>
                                      <p:tavLst>
                                        <p:tav tm="0">
                                          <p:val>
                                            <p:strVal val="#ppt_x"/>
                                          </p:val>
                                        </p:tav>
                                        <p:tav tm="100000">
                                          <p:val>
                                            <p:strVal val="#ppt_x"/>
                                          </p:val>
                                        </p:tav>
                                      </p:tavLst>
                                    </p:anim>
                                    <p:anim calcmode="lin" valueType="num">
                                      <p:cBhvr>
                                        <p:cTn id="2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1000"/>
                                        <p:tgtEl>
                                          <p:spTgt spid="21"/>
                                        </p:tgtEl>
                                      </p:cBhvr>
                                    </p:animEffect>
                                    <p:anim calcmode="lin" valueType="num">
                                      <p:cBhvr>
                                        <p:cTn id="26" dur="1000" fill="hold"/>
                                        <p:tgtEl>
                                          <p:spTgt spid="21"/>
                                        </p:tgtEl>
                                        <p:attrNameLst>
                                          <p:attrName>ppt_x</p:attrName>
                                        </p:attrNameLst>
                                      </p:cBhvr>
                                      <p:tavLst>
                                        <p:tav tm="0">
                                          <p:val>
                                            <p:strVal val="#ppt_x"/>
                                          </p:val>
                                        </p:tav>
                                        <p:tav tm="100000">
                                          <p:val>
                                            <p:strVal val="#ppt_x"/>
                                          </p:val>
                                        </p:tav>
                                      </p:tavLst>
                                    </p:anim>
                                    <p:anim calcmode="lin" valueType="num">
                                      <p:cBhvr>
                                        <p:cTn id="2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6"/>
                                        </p:tgtEl>
                                      </p:cBhvr>
                                    </p:animEffect>
                                    <p:set>
                                      <p:cBhvr>
                                        <p:cTn id="39" dur="1" fill="hold">
                                          <p:stCondLst>
                                            <p:cond delay="499"/>
                                          </p:stCondLst>
                                        </p:cTn>
                                        <p:tgtEl>
                                          <p:spTgt spid="6"/>
                                        </p:tgtEl>
                                        <p:attrNameLst>
                                          <p:attrName>style.visibility</p:attrName>
                                        </p:attrNameLst>
                                      </p:cBhvr>
                                      <p:to>
                                        <p:strVal val="hidden"/>
                                      </p:to>
                                    </p:set>
                                  </p:childTnLst>
                                </p:cTn>
                              </p:par>
                              <p:par>
                                <p:cTn id="40" presetID="53" presetClass="entr" presetSubtype="16"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1000"/>
                                        <p:tgtEl>
                                          <p:spTgt spid="13"/>
                                        </p:tgtEl>
                                      </p:cBhvr>
                                    </p:animEffect>
                                    <p:anim calcmode="lin" valueType="num">
                                      <p:cBhvr>
                                        <p:cTn id="50" dur="1000" fill="hold"/>
                                        <p:tgtEl>
                                          <p:spTgt spid="13"/>
                                        </p:tgtEl>
                                        <p:attrNameLst>
                                          <p:attrName>ppt_x</p:attrName>
                                        </p:attrNameLst>
                                      </p:cBhvr>
                                      <p:tavLst>
                                        <p:tav tm="0">
                                          <p:val>
                                            <p:strVal val="#ppt_x"/>
                                          </p:val>
                                        </p:tav>
                                        <p:tav tm="100000">
                                          <p:val>
                                            <p:strVal val="#ppt_x"/>
                                          </p:val>
                                        </p:tav>
                                      </p:tavLst>
                                    </p:anim>
                                    <p:anim calcmode="lin" valueType="num">
                                      <p:cBhvr>
                                        <p:cTn id="5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l="3328" t="10970" r="8503" b="4979"/>
          <a:stretch>
            <a:fillRect/>
          </a:stretch>
        </p:blipFill>
        <p:spPr>
          <a:xfrm>
            <a:off x="0" y="1145287"/>
            <a:ext cx="6769054" cy="5162310"/>
          </a:xfrm>
          <a:prstGeom prst="rect">
            <a:avLst/>
          </a:prstGeom>
        </p:spPr>
      </p:pic>
      <p:grpSp>
        <p:nvGrpSpPr>
          <p:cNvPr id="6" name="组合 5"/>
          <p:cNvGrpSpPr/>
          <p:nvPr/>
        </p:nvGrpSpPr>
        <p:grpSpPr>
          <a:xfrm>
            <a:off x="7035799" y="1872873"/>
            <a:ext cx="4041530" cy="903462"/>
            <a:chOff x="7477370" y="3843665"/>
            <a:chExt cx="4041530" cy="903462"/>
          </a:xfrm>
        </p:grpSpPr>
        <p:sp>
          <p:nvSpPr>
            <p:cNvPr id="7" name="圆角矩形 10"/>
            <p:cNvSpPr/>
            <p:nvPr/>
          </p:nvSpPr>
          <p:spPr>
            <a:xfrm>
              <a:off x="7477370" y="3843665"/>
              <a:ext cx="4041530" cy="903462"/>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p>
          </p:txBody>
        </p:sp>
        <p:sp>
          <p:nvSpPr>
            <p:cNvPr id="8" name="文本框 7"/>
            <p:cNvSpPr txBox="1"/>
            <p:nvPr/>
          </p:nvSpPr>
          <p:spPr>
            <a:xfrm>
              <a:off x="7705797" y="3947582"/>
              <a:ext cx="2000863" cy="369332"/>
            </a:xfrm>
            <a:prstGeom prst="rect">
              <a:avLst/>
            </a:prstGeom>
            <a:noFill/>
          </p:spPr>
          <p:txBody>
            <a:bodyPr wrap="none" rtlCol="0" anchor="b">
              <a:normAutofit/>
            </a:bodyPr>
            <a:lstStyle/>
            <a:p>
              <a:r>
                <a:rPr lang="zh-CN" altLang="en-US" sz="1600" b="1" dirty="0">
                  <a:solidFill>
                    <a:schemeClr val="accent6"/>
                  </a:solidFill>
                </a:rPr>
                <a:t>高等教育人口比例增加</a:t>
              </a:r>
            </a:p>
          </p:txBody>
        </p:sp>
        <p:sp>
          <p:nvSpPr>
            <p:cNvPr id="9" name="文本框 8"/>
            <p:cNvSpPr txBox="1"/>
            <p:nvPr/>
          </p:nvSpPr>
          <p:spPr>
            <a:xfrm>
              <a:off x="7705798" y="4316914"/>
              <a:ext cx="3631110" cy="327077"/>
            </a:xfrm>
            <a:prstGeom prst="rect">
              <a:avLst/>
            </a:prstGeom>
            <a:noFill/>
          </p:spPr>
          <p:txBody>
            <a:bodyPr wrap="square" rtlCol="0">
              <a:spAutoFit/>
            </a:bodyPr>
            <a:lstStyle/>
            <a:p>
              <a:pPr defTabSz="913765">
                <a:lnSpc>
                  <a:spcPct val="120000"/>
                </a:lnSpc>
                <a:buSzPct val="25000"/>
                <a:defRPr/>
              </a:pPr>
              <a:r>
                <a:rPr lang="zh-CN" altLang="en-US" sz="1200" dirty="0">
                  <a:solidFill>
                    <a:schemeClr val="accent6"/>
                  </a:solidFill>
                </a:rPr>
                <a:t>高等教育人口占比翻倍，达到总人数的</a:t>
              </a:r>
              <a:r>
                <a:rPr lang="en-US" altLang="zh-CN" sz="1400" b="1" dirty="0">
                  <a:solidFill>
                    <a:schemeClr val="accent6"/>
                  </a:solidFill>
                </a:rPr>
                <a:t>19.92%</a:t>
              </a:r>
              <a:endParaRPr lang="zh-CN" altLang="en-US" sz="1200" b="1" dirty="0">
                <a:solidFill>
                  <a:schemeClr val="accent6"/>
                </a:solidFill>
              </a:endParaRPr>
            </a:p>
          </p:txBody>
        </p:sp>
      </p:grpSp>
      <p:grpSp>
        <p:nvGrpSpPr>
          <p:cNvPr id="10" name="组合 9"/>
          <p:cNvGrpSpPr/>
          <p:nvPr/>
        </p:nvGrpSpPr>
        <p:grpSpPr>
          <a:xfrm>
            <a:off x="7035799" y="5218885"/>
            <a:ext cx="4041530" cy="903462"/>
            <a:chOff x="2943096" y="4979398"/>
            <a:chExt cx="4041530" cy="903462"/>
          </a:xfrm>
        </p:grpSpPr>
        <p:sp>
          <p:nvSpPr>
            <p:cNvPr id="11" name="圆角矩形 1"/>
            <p:cNvSpPr/>
            <p:nvPr/>
          </p:nvSpPr>
          <p:spPr>
            <a:xfrm>
              <a:off x="2943096" y="4979398"/>
              <a:ext cx="4041530" cy="903462"/>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p>
          </p:txBody>
        </p:sp>
        <p:sp>
          <p:nvSpPr>
            <p:cNvPr id="12" name="文本框 11"/>
            <p:cNvSpPr txBox="1"/>
            <p:nvPr/>
          </p:nvSpPr>
          <p:spPr>
            <a:xfrm>
              <a:off x="3171523" y="5083315"/>
              <a:ext cx="2000863" cy="369332"/>
            </a:xfrm>
            <a:prstGeom prst="rect">
              <a:avLst/>
            </a:prstGeom>
            <a:noFill/>
          </p:spPr>
          <p:txBody>
            <a:bodyPr wrap="none" rtlCol="0" anchor="b">
              <a:normAutofit/>
            </a:bodyPr>
            <a:lstStyle/>
            <a:p>
              <a:r>
                <a:rPr lang="zh-CN" altLang="en-US" sz="1600" b="1" dirty="0">
                  <a:solidFill>
                    <a:schemeClr val="accent2"/>
                  </a:solidFill>
                </a:rPr>
                <a:t>性别差异逐渐缩小</a:t>
              </a:r>
            </a:p>
          </p:txBody>
        </p:sp>
        <p:sp>
          <p:nvSpPr>
            <p:cNvPr id="13" name="文本框 12"/>
            <p:cNvSpPr txBox="1"/>
            <p:nvPr/>
          </p:nvSpPr>
          <p:spPr>
            <a:xfrm>
              <a:off x="3171524" y="5452647"/>
              <a:ext cx="3631110" cy="307777"/>
            </a:xfrm>
            <a:prstGeom prst="rect">
              <a:avLst/>
            </a:prstGeom>
            <a:noFill/>
          </p:spPr>
          <p:txBody>
            <a:bodyPr wrap="square" rtlCol="0">
              <a:spAutoFit/>
            </a:bodyPr>
            <a:lstStyle/>
            <a:p>
              <a:pPr algn="just"/>
              <a:r>
                <a:rPr lang="zh-CN" altLang="en-US" sz="1200" dirty="0">
                  <a:solidFill>
                    <a:schemeClr val="accent2"/>
                  </a:solidFill>
                </a:rPr>
                <a:t>高等教育男女比例由</a:t>
              </a:r>
              <a:r>
                <a:rPr lang="en-US" altLang="zh-CN" sz="1400" b="1" dirty="0">
                  <a:solidFill>
                    <a:schemeClr val="accent2"/>
                  </a:solidFill>
                </a:rPr>
                <a:t>1.67</a:t>
              </a:r>
              <a:r>
                <a:rPr lang="zh-CN" altLang="en-US" sz="1200" dirty="0">
                  <a:solidFill>
                    <a:schemeClr val="accent2"/>
                  </a:solidFill>
                </a:rPr>
                <a:t>变为</a:t>
              </a:r>
              <a:r>
                <a:rPr lang="en-US" altLang="zh-CN" sz="1400" b="1" dirty="0">
                  <a:solidFill>
                    <a:schemeClr val="accent2"/>
                  </a:solidFill>
                </a:rPr>
                <a:t>0.86</a:t>
              </a:r>
              <a:endParaRPr lang="zh-CN" altLang="en-US" sz="1200" b="1" dirty="0">
                <a:solidFill>
                  <a:schemeClr val="accent2"/>
                </a:solidFill>
              </a:endParaRPr>
            </a:p>
          </p:txBody>
        </p:sp>
      </p:grpSp>
      <p:grpSp>
        <p:nvGrpSpPr>
          <p:cNvPr id="14" name="组合 13"/>
          <p:cNvGrpSpPr/>
          <p:nvPr/>
        </p:nvGrpSpPr>
        <p:grpSpPr>
          <a:xfrm>
            <a:off x="7035799" y="4071993"/>
            <a:ext cx="4041530" cy="903462"/>
            <a:chOff x="7477370" y="4979398"/>
            <a:chExt cx="4041530" cy="903462"/>
          </a:xfrm>
        </p:grpSpPr>
        <p:sp>
          <p:nvSpPr>
            <p:cNvPr id="15" name="圆角矩形 4"/>
            <p:cNvSpPr/>
            <p:nvPr/>
          </p:nvSpPr>
          <p:spPr>
            <a:xfrm>
              <a:off x="7477370" y="4979398"/>
              <a:ext cx="4041530" cy="903462"/>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p>
          </p:txBody>
        </p:sp>
        <p:sp>
          <p:nvSpPr>
            <p:cNvPr id="16" name="文本框 15"/>
            <p:cNvSpPr txBox="1"/>
            <p:nvPr/>
          </p:nvSpPr>
          <p:spPr>
            <a:xfrm>
              <a:off x="7705797" y="5083315"/>
              <a:ext cx="2000863" cy="369332"/>
            </a:xfrm>
            <a:prstGeom prst="rect">
              <a:avLst/>
            </a:prstGeom>
            <a:noFill/>
          </p:spPr>
          <p:txBody>
            <a:bodyPr wrap="none" rtlCol="0" anchor="b">
              <a:normAutofit/>
            </a:bodyPr>
            <a:lstStyle/>
            <a:p>
              <a:r>
                <a:rPr lang="zh-CN" altLang="en-US" sz="1600" b="1" dirty="0">
                  <a:solidFill>
                    <a:schemeClr val="accent4"/>
                  </a:solidFill>
                </a:rPr>
                <a:t>金字塔结构趋于平衡</a:t>
              </a:r>
            </a:p>
          </p:txBody>
        </p:sp>
        <p:sp>
          <p:nvSpPr>
            <p:cNvPr id="17" name="文本框 16"/>
            <p:cNvSpPr txBox="1"/>
            <p:nvPr/>
          </p:nvSpPr>
          <p:spPr>
            <a:xfrm>
              <a:off x="7705798" y="5452647"/>
              <a:ext cx="3631110" cy="294824"/>
            </a:xfrm>
            <a:prstGeom prst="rect">
              <a:avLst/>
            </a:prstGeom>
            <a:noFill/>
          </p:spPr>
          <p:txBody>
            <a:bodyPr wrap="square" rtlCol="0">
              <a:spAutoFit/>
            </a:bodyPr>
            <a:lstStyle/>
            <a:p>
              <a:pPr defTabSz="913765">
                <a:lnSpc>
                  <a:spcPct val="120000"/>
                </a:lnSpc>
                <a:buSzPct val="25000"/>
                <a:defRPr/>
              </a:pPr>
              <a:r>
                <a:rPr lang="zh-CN" altLang="en-US" sz="1200" dirty="0">
                  <a:solidFill>
                    <a:schemeClr val="accent4"/>
                  </a:solidFill>
                </a:rPr>
                <a:t>不同年龄段劳动力都有机会接受到更高层次的教育</a:t>
              </a:r>
            </a:p>
          </p:txBody>
        </p:sp>
      </p:grpSp>
      <p:grpSp>
        <p:nvGrpSpPr>
          <p:cNvPr id="18" name="组合 17"/>
          <p:cNvGrpSpPr/>
          <p:nvPr/>
        </p:nvGrpSpPr>
        <p:grpSpPr>
          <a:xfrm>
            <a:off x="6989292" y="2934772"/>
            <a:ext cx="4041530" cy="903462"/>
            <a:chOff x="2943096" y="3843665"/>
            <a:chExt cx="4041530" cy="903462"/>
          </a:xfrm>
        </p:grpSpPr>
        <p:sp>
          <p:nvSpPr>
            <p:cNvPr id="19" name="圆角矩形 7"/>
            <p:cNvSpPr/>
            <p:nvPr/>
          </p:nvSpPr>
          <p:spPr>
            <a:xfrm>
              <a:off x="2943096" y="3843665"/>
              <a:ext cx="4041530" cy="903462"/>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p>
          </p:txBody>
        </p:sp>
        <p:sp>
          <p:nvSpPr>
            <p:cNvPr id="20" name="文本框 19"/>
            <p:cNvSpPr txBox="1"/>
            <p:nvPr/>
          </p:nvSpPr>
          <p:spPr>
            <a:xfrm>
              <a:off x="3171523" y="3947582"/>
              <a:ext cx="2000863" cy="369332"/>
            </a:xfrm>
            <a:prstGeom prst="rect">
              <a:avLst/>
            </a:prstGeom>
            <a:noFill/>
          </p:spPr>
          <p:txBody>
            <a:bodyPr wrap="none" rtlCol="0" anchor="b">
              <a:normAutofit/>
            </a:bodyPr>
            <a:lstStyle/>
            <a:p>
              <a:r>
                <a:rPr lang="zh-CN" altLang="en-US" sz="1600" b="1" dirty="0">
                  <a:solidFill>
                    <a:schemeClr val="accent1"/>
                  </a:solidFill>
                </a:rPr>
                <a:t>低教育水平群体占比有所下降</a:t>
              </a:r>
            </a:p>
          </p:txBody>
        </p:sp>
        <p:sp>
          <p:nvSpPr>
            <p:cNvPr id="21" name="文本框 20"/>
            <p:cNvSpPr txBox="1"/>
            <p:nvPr/>
          </p:nvSpPr>
          <p:spPr>
            <a:xfrm>
              <a:off x="3171524" y="4316914"/>
              <a:ext cx="3631110" cy="327077"/>
            </a:xfrm>
            <a:prstGeom prst="rect">
              <a:avLst/>
            </a:prstGeom>
            <a:noFill/>
          </p:spPr>
          <p:txBody>
            <a:bodyPr wrap="square" rtlCol="0">
              <a:spAutoFit/>
            </a:bodyPr>
            <a:lstStyle/>
            <a:p>
              <a:pPr defTabSz="913765">
                <a:lnSpc>
                  <a:spcPct val="120000"/>
                </a:lnSpc>
                <a:buSzPct val="25000"/>
                <a:defRPr/>
              </a:pPr>
              <a:r>
                <a:rPr lang="zh-CN" altLang="en-US" sz="1200" dirty="0">
                  <a:solidFill>
                    <a:schemeClr val="accent1"/>
                  </a:solidFill>
                </a:rPr>
                <a:t>低等教育水平占比仅有</a:t>
              </a:r>
              <a:r>
                <a:rPr lang="en-US" altLang="zh-CN" sz="1400" b="1" dirty="0">
                  <a:solidFill>
                    <a:schemeClr val="accent1"/>
                  </a:solidFill>
                </a:rPr>
                <a:t>2.84%</a:t>
              </a:r>
              <a:endParaRPr lang="zh-CN" altLang="en-US" sz="1200" dirty="0">
                <a:solidFill>
                  <a:schemeClr val="accent1"/>
                </a:solidFill>
              </a:endParaRPr>
            </a:p>
          </p:txBody>
        </p:sp>
      </p:grpSp>
      <p:sp>
        <p:nvSpPr>
          <p:cNvPr id="22" name="ïŝḻíḑè"/>
          <p:cNvSpPr txBox="1"/>
          <p:nvPr/>
        </p:nvSpPr>
        <p:spPr>
          <a:xfrm>
            <a:off x="7035799" y="1145287"/>
            <a:ext cx="3948517" cy="461665"/>
          </a:xfrm>
          <a:prstGeom prst="rect">
            <a:avLst/>
          </a:prstGeom>
          <a:noFill/>
        </p:spPr>
        <p:txBody>
          <a:bodyPr wrap="none" rtlCol="0">
            <a:spAutoFit/>
          </a:bodyPr>
          <a:lstStyle/>
          <a:p>
            <a:r>
              <a:rPr lang="en-US" altLang="zh-CN" sz="2400" b="1" dirty="0"/>
              <a:t>2020</a:t>
            </a:r>
            <a:r>
              <a:rPr lang="zh-CN" altLang="en-US" sz="2400" b="1" dirty="0"/>
              <a:t>年农村劳动力素质分析</a:t>
            </a:r>
          </a:p>
        </p:txBody>
      </p:sp>
      <p:pic>
        <p:nvPicPr>
          <p:cNvPr id="23" name="图片 22"/>
          <p:cNvPicPr>
            <a:picLocks noChangeAspect="1"/>
          </p:cNvPicPr>
          <p:nvPr/>
        </p:nvPicPr>
        <p:blipFill>
          <a:blip r:embed="rId3"/>
          <a:stretch>
            <a:fillRect/>
          </a:stretch>
        </p:blipFill>
        <p:spPr>
          <a:xfrm>
            <a:off x="555811" y="916431"/>
            <a:ext cx="6106321" cy="5391166"/>
          </a:xfrm>
          <a:prstGeom prst="rect">
            <a:avLst/>
          </a:prstGeom>
        </p:spPr>
      </p:pic>
      <p:sp>
        <p:nvSpPr>
          <p:cNvPr id="24" name="矩形: 对角圆角 23"/>
          <p:cNvSpPr/>
          <p:nvPr/>
        </p:nvSpPr>
        <p:spPr>
          <a:xfrm>
            <a:off x="324211" y="347214"/>
            <a:ext cx="4005552" cy="521466"/>
          </a:xfrm>
          <a:prstGeom prst="round2DiagRect">
            <a:avLst>
              <a:gd name="adj1" fmla="val 50000"/>
              <a:gd name="adj2"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100" dirty="0">
                <a:latin typeface="宋体" panose="02010600030101010101" pitchFamily="2" charset="-122"/>
                <a:ea typeface="宋体" panose="02010600030101010101" pitchFamily="2" charset="-122"/>
              </a:rPr>
              <a:t>劳动力素质特征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1000"/>
                                        <p:tgtEl>
                                          <p:spTgt spid="18"/>
                                        </p:tgtEl>
                                      </p:cBhvr>
                                    </p:animEffect>
                                    <p:anim calcmode="lin" valueType="num">
                                      <p:cBhvr>
                                        <p:cTn id="26" dur="1000" fill="hold"/>
                                        <p:tgtEl>
                                          <p:spTgt spid="18"/>
                                        </p:tgtEl>
                                        <p:attrNameLst>
                                          <p:attrName>ppt_x</p:attrName>
                                        </p:attrNameLst>
                                      </p:cBhvr>
                                      <p:tavLst>
                                        <p:tav tm="0">
                                          <p:val>
                                            <p:strVal val="#ppt_x"/>
                                          </p:val>
                                        </p:tav>
                                        <p:tav tm="100000">
                                          <p:val>
                                            <p:strVal val="#ppt_x"/>
                                          </p:val>
                                        </p:tav>
                                      </p:tavLst>
                                    </p:anim>
                                    <p:anim calcmode="lin" valueType="num">
                                      <p:cBhvr>
                                        <p:cTn id="2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1000"/>
                                        <p:tgtEl>
                                          <p:spTgt spid="14"/>
                                        </p:tgtEl>
                                      </p:cBhvr>
                                    </p:animEffect>
                                    <p:anim calcmode="lin" valueType="num">
                                      <p:cBhvr>
                                        <p:cTn id="33" dur="1000" fill="hold"/>
                                        <p:tgtEl>
                                          <p:spTgt spid="14"/>
                                        </p:tgtEl>
                                        <p:attrNameLst>
                                          <p:attrName>ppt_x</p:attrName>
                                        </p:attrNameLst>
                                      </p:cBhvr>
                                      <p:tavLst>
                                        <p:tav tm="0">
                                          <p:val>
                                            <p:strVal val="#ppt_x"/>
                                          </p:val>
                                        </p:tav>
                                        <p:tav tm="100000">
                                          <p:val>
                                            <p:strVal val="#ppt_x"/>
                                          </p:val>
                                        </p:tav>
                                      </p:tavLst>
                                    </p:anim>
                                    <p:anim calcmode="lin" valueType="num">
                                      <p:cBhvr>
                                        <p:cTn id="3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p:cTn id="39" dur="500" fill="hold"/>
                                        <p:tgtEl>
                                          <p:spTgt spid="23"/>
                                        </p:tgtEl>
                                        <p:attrNameLst>
                                          <p:attrName>ppt_w</p:attrName>
                                        </p:attrNameLst>
                                      </p:cBhvr>
                                      <p:tavLst>
                                        <p:tav tm="0">
                                          <p:val>
                                            <p:fltVal val="0"/>
                                          </p:val>
                                        </p:tav>
                                        <p:tav tm="100000">
                                          <p:val>
                                            <p:strVal val="#ppt_w"/>
                                          </p:val>
                                        </p:tav>
                                      </p:tavLst>
                                    </p:anim>
                                    <p:anim calcmode="lin" valueType="num">
                                      <p:cBhvr>
                                        <p:cTn id="40" dur="500" fill="hold"/>
                                        <p:tgtEl>
                                          <p:spTgt spid="23"/>
                                        </p:tgtEl>
                                        <p:attrNameLst>
                                          <p:attrName>ppt_h</p:attrName>
                                        </p:attrNameLst>
                                      </p:cBhvr>
                                      <p:tavLst>
                                        <p:tav tm="0">
                                          <p:val>
                                            <p:fltVal val="0"/>
                                          </p:val>
                                        </p:tav>
                                        <p:tav tm="100000">
                                          <p:val>
                                            <p:strVal val="#ppt_h"/>
                                          </p:val>
                                        </p:tav>
                                      </p:tavLst>
                                    </p:anim>
                                    <p:animEffect transition="in" filter="fade">
                                      <p:cBhvr>
                                        <p:cTn id="41" dur="500"/>
                                        <p:tgtEl>
                                          <p:spTgt spid="23"/>
                                        </p:tgtEl>
                                      </p:cBhvr>
                                    </p:animEffect>
                                  </p:childTnLst>
                                </p:cTn>
                              </p:par>
                              <p:par>
                                <p:cTn id="42" presetID="10" presetClass="exit" presetSubtype="0" fill="hold" nodeType="withEffect">
                                  <p:stCondLst>
                                    <p:cond delay="0"/>
                                  </p:stCondLst>
                                  <p:childTnLst>
                                    <p:animEffect transition="out" filter="fade">
                                      <p:cBhvr>
                                        <p:cTn id="43" dur="500"/>
                                        <p:tgtEl>
                                          <p:spTgt spid="3"/>
                                        </p:tgtEl>
                                      </p:cBhvr>
                                    </p:animEffect>
                                    <p:set>
                                      <p:cBhvr>
                                        <p:cTn id="44" dur="1" fill="hold">
                                          <p:stCondLst>
                                            <p:cond delay="499"/>
                                          </p:stCondLst>
                                        </p:cTn>
                                        <p:tgtEl>
                                          <p:spTgt spid="3"/>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t="9540" b="5236"/>
          <a:stretch/>
        </p:blipFill>
        <p:spPr>
          <a:xfrm>
            <a:off x="0" y="1004047"/>
            <a:ext cx="6660039" cy="3783976"/>
          </a:xfrm>
          <a:prstGeom prst="rect">
            <a:avLst/>
          </a:prstGeom>
        </p:spPr>
      </p:pic>
      <p:sp>
        <p:nvSpPr>
          <p:cNvPr id="2" name="矩形: 对角圆角 1"/>
          <p:cNvSpPr/>
          <p:nvPr/>
        </p:nvSpPr>
        <p:spPr>
          <a:xfrm>
            <a:off x="324211" y="347214"/>
            <a:ext cx="4005552" cy="521466"/>
          </a:xfrm>
          <a:prstGeom prst="round2DiagRect">
            <a:avLst>
              <a:gd name="adj1" fmla="val 50000"/>
              <a:gd name="adj2" fmla="val 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100" dirty="0">
                <a:latin typeface="宋体" panose="02010600030101010101" pitchFamily="2" charset="-122"/>
                <a:ea typeface="宋体" panose="02010600030101010101" pitchFamily="2" charset="-122"/>
              </a:rPr>
              <a:t>农作物增长率拟合分析</a:t>
            </a:r>
          </a:p>
        </p:txBody>
      </p:sp>
      <p:pic>
        <p:nvPicPr>
          <p:cNvPr id="4" name="图片 3"/>
          <p:cNvPicPr>
            <a:picLocks noChangeAspect="1"/>
          </p:cNvPicPr>
          <p:nvPr/>
        </p:nvPicPr>
        <p:blipFill>
          <a:blip r:embed="rId3"/>
          <a:stretch>
            <a:fillRect/>
          </a:stretch>
        </p:blipFill>
        <p:spPr>
          <a:xfrm>
            <a:off x="6757233" y="1209365"/>
            <a:ext cx="5258534" cy="4439270"/>
          </a:xfrm>
          <a:prstGeom prst="rect">
            <a:avLst/>
          </a:prstGeom>
        </p:spPr>
      </p:pic>
      <p:pic>
        <p:nvPicPr>
          <p:cNvPr id="3" name="图片 2">
            <a:extLst>
              <a:ext uri="{FF2B5EF4-FFF2-40B4-BE49-F238E27FC236}">
                <a16:creationId xmlns:a16="http://schemas.microsoft.com/office/drawing/2014/main" id="{54A9B13C-6DAC-94AD-BC10-65C3ED7B2675}"/>
              </a:ext>
            </a:extLst>
          </p:cNvPr>
          <p:cNvPicPr>
            <a:picLocks noChangeAspect="1"/>
          </p:cNvPicPr>
          <p:nvPr/>
        </p:nvPicPr>
        <p:blipFill rotWithShape="1">
          <a:blip r:embed="rId4"/>
          <a:srcRect r="5012"/>
          <a:stretch>
            <a:fillRect/>
          </a:stretch>
        </p:blipFill>
        <p:spPr>
          <a:xfrm>
            <a:off x="858520" y="4779058"/>
            <a:ext cx="5389880" cy="1989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42548" y="1033862"/>
            <a:ext cx="4679315" cy="4679315"/>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6838" y="1798198"/>
            <a:ext cx="4226616" cy="4226616"/>
          </a:xfrm>
          <a:prstGeom prst="rect">
            <a:avLst/>
          </a:prstGeom>
        </p:spPr>
      </p:pic>
      <p:sp>
        <p:nvSpPr>
          <p:cNvPr id="3" name="文本框 2"/>
          <p:cNvSpPr txBox="1"/>
          <p:nvPr/>
        </p:nvSpPr>
        <p:spPr>
          <a:xfrm>
            <a:off x="1617894" y="1617027"/>
            <a:ext cx="3194626" cy="362343"/>
          </a:xfrm>
          <a:prstGeom prst="rect">
            <a:avLst/>
          </a:prstGeom>
          <a:noFill/>
        </p:spPr>
        <p:txBody>
          <a:bodyPr wrap="square">
            <a:spAutoFit/>
          </a:bodyPr>
          <a:lstStyle/>
          <a:p>
            <a:pPr indent="279400" algn="just">
              <a:lnSpc>
                <a:spcPct val="120000"/>
              </a:lnSpc>
              <a:spcBef>
                <a:spcPts val="250"/>
              </a:spcBef>
              <a:spcAft>
                <a:spcPts val="250"/>
              </a:spcAft>
            </a:pPr>
            <a:r>
              <a:rPr lang="zh-CN" altLang="en-US" sz="1600" dirty="0"/>
              <a:t>粮食作物种植面积增长率</a:t>
            </a:r>
          </a:p>
        </p:txBody>
      </p:sp>
      <p:sp>
        <p:nvSpPr>
          <p:cNvPr id="2" name="矩形: 对角圆角 1"/>
          <p:cNvSpPr/>
          <p:nvPr/>
        </p:nvSpPr>
        <p:spPr>
          <a:xfrm>
            <a:off x="324211" y="347214"/>
            <a:ext cx="4005552" cy="521466"/>
          </a:xfrm>
          <a:prstGeom prst="round2DiagRect">
            <a:avLst>
              <a:gd name="adj1" fmla="val 50000"/>
              <a:gd name="adj2" fmla="val 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100" dirty="0">
                <a:latin typeface="宋体" panose="02010600030101010101" pitchFamily="2" charset="-122"/>
                <a:ea typeface="宋体" panose="02010600030101010101" pitchFamily="2" charset="-122"/>
              </a:rPr>
              <a:t>农作物播种面积与产量预测分析</a:t>
            </a:r>
          </a:p>
        </p:txBody>
      </p:sp>
      <p:sp>
        <p:nvSpPr>
          <p:cNvPr id="9" name="文本框 8"/>
          <p:cNvSpPr txBox="1"/>
          <p:nvPr/>
        </p:nvSpPr>
        <p:spPr>
          <a:xfrm>
            <a:off x="7572893" y="5662471"/>
            <a:ext cx="4064000" cy="362343"/>
          </a:xfrm>
          <a:prstGeom prst="rect">
            <a:avLst/>
          </a:prstGeom>
          <a:noFill/>
        </p:spPr>
        <p:txBody>
          <a:bodyPr wrap="square" rtlCol="0">
            <a:spAutoFit/>
          </a:bodyPr>
          <a:lstStyle/>
          <a:p>
            <a:pPr indent="279400" algn="just">
              <a:lnSpc>
                <a:spcPct val="120000"/>
              </a:lnSpc>
              <a:spcBef>
                <a:spcPts val="250"/>
              </a:spcBef>
              <a:spcAft>
                <a:spcPts val="250"/>
              </a:spcAft>
            </a:pPr>
            <a:r>
              <a:rPr lang="zh-CN" altLang="en-US" sz="1600" dirty="0"/>
              <a:t>经济作物种植面积增长率</a:t>
            </a:r>
          </a:p>
        </p:txBody>
      </p:sp>
      <p:sp>
        <p:nvSpPr>
          <p:cNvPr id="4" name="文本框 3">
            <a:extLst>
              <a:ext uri="{FF2B5EF4-FFF2-40B4-BE49-F238E27FC236}">
                <a16:creationId xmlns:a16="http://schemas.microsoft.com/office/drawing/2014/main" id="{258381E8-9032-B203-7482-6288B442BA77}"/>
              </a:ext>
            </a:extLst>
          </p:cNvPr>
          <p:cNvSpPr txBox="1"/>
          <p:nvPr/>
        </p:nvSpPr>
        <p:spPr>
          <a:xfrm>
            <a:off x="4451928" y="530126"/>
            <a:ext cx="1921164" cy="338554"/>
          </a:xfrm>
          <a:prstGeom prst="rect">
            <a:avLst/>
          </a:prstGeom>
          <a:noFill/>
        </p:spPr>
        <p:txBody>
          <a:bodyPr wrap="square" rtlCol="0">
            <a:spAutoFit/>
          </a:bodyPr>
          <a:lstStyle/>
          <a:p>
            <a:r>
              <a:rPr lang="zh-CN" altLang="en-US" sz="1600" dirty="0"/>
              <a:t>以东部地区为例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íṡliḍe"/>
          <p:cNvGrpSpPr/>
          <p:nvPr/>
        </p:nvGrpSpPr>
        <p:grpSpPr>
          <a:xfrm>
            <a:off x="6139544" y="1407913"/>
            <a:ext cx="6052456" cy="4571825"/>
            <a:chOff x="6139544" y="1407913"/>
            <a:chExt cx="6052456" cy="3687818"/>
          </a:xfrm>
        </p:grpSpPr>
        <p:sp>
          <p:nvSpPr>
            <p:cNvPr id="22" name="í$ļîḋè"/>
            <p:cNvSpPr/>
            <p:nvPr/>
          </p:nvSpPr>
          <p:spPr>
            <a:xfrm>
              <a:off x="6139544" y="2341570"/>
              <a:ext cx="6052456" cy="736653"/>
            </a:xfrm>
            <a:prstGeom prst="rect">
              <a:avLst/>
            </a:prstGeom>
            <a:solidFill>
              <a:schemeClr val="accent1"/>
            </a:solidFill>
            <a:ln w="12700" cap="rnd">
              <a:noFill/>
              <a:prstDash val="solid"/>
              <a:rou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en-GB" sz="2000" b="1">
                <a:solidFill>
                  <a:schemeClr val="bg1"/>
                </a:solidFill>
              </a:endParaRPr>
            </a:p>
          </p:txBody>
        </p:sp>
        <p:cxnSp>
          <p:nvCxnSpPr>
            <p:cNvPr id="2" name="îṣlïḍé"/>
            <p:cNvCxnSpPr/>
            <p:nvPr/>
          </p:nvCxnSpPr>
          <p:spPr>
            <a:xfrm>
              <a:off x="6139544" y="1407913"/>
              <a:ext cx="0" cy="618671"/>
            </a:xfrm>
            <a:prstGeom prst="line">
              <a:avLst/>
            </a:prstGeom>
            <a:noFill/>
            <a:ln w="25400" cap="flat">
              <a:solidFill>
                <a:schemeClr val="accent3"/>
              </a:solidFill>
              <a:prstDash val="solid"/>
              <a:bevel/>
            </a:ln>
            <a:effectLst/>
          </p:spPr>
          <p:style>
            <a:lnRef idx="2">
              <a:schemeClr val="accent1">
                <a:shade val="50000"/>
              </a:schemeClr>
            </a:lnRef>
            <a:fillRef idx="1">
              <a:schemeClr val="accent1"/>
            </a:fillRef>
            <a:effectRef idx="0">
              <a:schemeClr val="accent1"/>
            </a:effectRef>
            <a:fontRef idx="minor">
              <a:schemeClr val="lt1"/>
            </a:fontRef>
          </p:style>
        </p:cxnSp>
        <p:sp>
          <p:nvSpPr>
            <p:cNvPr id="3" name="iṩ1îḋê"/>
            <p:cNvSpPr txBox="1"/>
            <p:nvPr/>
          </p:nvSpPr>
          <p:spPr>
            <a:xfrm>
              <a:off x="6262913" y="1407913"/>
              <a:ext cx="5609773" cy="369332"/>
            </a:xfrm>
            <a:prstGeom prst="rect">
              <a:avLst/>
            </a:prstGeom>
            <a:noFill/>
          </p:spPr>
          <p:txBody>
            <a:bodyPr wrap="none" rtlCol="0" anchor="b">
              <a:normAutofit/>
            </a:bodyPr>
            <a:lstStyle/>
            <a:p>
              <a:pPr>
                <a:lnSpc>
                  <a:spcPct val="100000"/>
                </a:lnSpc>
              </a:pPr>
              <a:r>
                <a:rPr lang="zh-CN" altLang="en-US" sz="1600" b="1" i="0" dirty="0">
                  <a:solidFill>
                    <a:srgbClr val="0D0D0D"/>
                  </a:solidFill>
                  <a:effectLst/>
                  <a:highlight>
                    <a:srgbClr val="FFFFFF"/>
                  </a:highlight>
                  <a:latin typeface="Noto Sans SC"/>
                </a:rPr>
                <a:t>农业和农村发展的重视</a:t>
              </a:r>
              <a:endParaRPr lang="zh-CN" altLang="en-US" sz="1600" b="1" dirty="0"/>
            </a:p>
          </p:txBody>
        </p:sp>
        <p:sp>
          <p:nvSpPr>
            <p:cNvPr id="4" name="ïṡľïdé"/>
            <p:cNvSpPr txBox="1"/>
            <p:nvPr/>
          </p:nvSpPr>
          <p:spPr>
            <a:xfrm>
              <a:off x="6262914" y="1777245"/>
              <a:ext cx="5609773" cy="240610"/>
            </a:xfrm>
            <a:prstGeom prst="rect">
              <a:avLst/>
            </a:prstGeom>
            <a:noFill/>
          </p:spPr>
          <p:txBody>
            <a:bodyPr wrap="square" rtlCol="0">
              <a:spAutoFit/>
            </a:bodyPr>
            <a:lstStyle/>
            <a:p>
              <a:pPr>
                <a:lnSpc>
                  <a:spcPct val="120000"/>
                </a:lnSpc>
              </a:pPr>
              <a:r>
                <a:rPr lang="zh-CN" altLang="en-US" sz="1200" b="0" i="0" dirty="0">
                  <a:solidFill>
                    <a:srgbClr val="0D0D0D"/>
                  </a:solidFill>
                  <a:effectLst/>
                  <a:highlight>
                    <a:srgbClr val="FFFFFF"/>
                  </a:highlight>
                  <a:latin typeface="Noto Sans SC"/>
                </a:rPr>
                <a:t>加强农业基础设施建设和现代化是当时的重点。</a:t>
              </a:r>
            </a:p>
          </p:txBody>
        </p:sp>
        <p:sp>
          <p:nvSpPr>
            <p:cNvPr id="6" name="işḷîḋe"/>
            <p:cNvSpPr txBox="1"/>
            <p:nvPr/>
          </p:nvSpPr>
          <p:spPr>
            <a:xfrm>
              <a:off x="6262913" y="2341570"/>
              <a:ext cx="5609773" cy="369332"/>
            </a:xfrm>
            <a:prstGeom prst="rect">
              <a:avLst/>
            </a:prstGeom>
            <a:noFill/>
          </p:spPr>
          <p:txBody>
            <a:bodyPr wrap="none" rtlCol="0" anchor="b">
              <a:normAutofit/>
            </a:bodyPr>
            <a:lstStyle/>
            <a:p>
              <a:pPr>
                <a:lnSpc>
                  <a:spcPct val="100000"/>
                </a:lnSpc>
              </a:pPr>
              <a:r>
                <a:rPr lang="zh-CN" altLang="en-US" sz="1600" b="1" dirty="0">
                  <a:solidFill>
                    <a:srgbClr val="FFFFFF"/>
                  </a:solidFill>
                </a:rPr>
                <a:t>制度和政策框架的强化</a:t>
              </a:r>
            </a:p>
          </p:txBody>
        </p:sp>
        <p:sp>
          <p:nvSpPr>
            <p:cNvPr id="7" name="îṡliḋè"/>
            <p:cNvSpPr txBox="1"/>
            <p:nvPr/>
          </p:nvSpPr>
          <p:spPr>
            <a:xfrm>
              <a:off x="6262914" y="2710902"/>
              <a:ext cx="5609773" cy="237817"/>
            </a:xfrm>
            <a:prstGeom prst="rect">
              <a:avLst/>
            </a:prstGeom>
            <a:noFill/>
          </p:spPr>
          <p:txBody>
            <a:bodyPr wrap="square" rtlCol="0">
              <a:spAutoFit/>
            </a:bodyPr>
            <a:lstStyle/>
            <a:p>
              <a:pPr>
                <a:lnSpc>
                  <a:spcPct val="120000"/>
                </a:lnSpc>
              </a:pPr>
              <a:r>
                <a:rPr lang="zh-CN" altLang="en-US" sz="1200" dirty="0">
                  <a:solidFill>
                    <a:srgbClr val="FFFFFF"/>
                  </a:solidFill>
                </a:rPr>
                <a:t>政策旨在通过完善相关制度来推动农村地区的发展。</a:t>
              </a:r>
            </a:p>
          </p:txBody>
        </p:sp>
        <p:cxnSp>
          <p:nvCxnSpPr>
            <p:cNvPr id="8" name="íşḷîdè"/>
            <p:cNvCxnSpPr/>
            <p:nvPr/>
          </p:nvCxnSpPr>
          <p:spPr>
            <a:xfrm>
              <a:off x="6139544" y="3454011"/>
              <a:ext cx="0" cy="618671"/>
            </a:xfrm>
            <a:prstGeom prst="line">
              <a:avLst/>
            </a:prstGeom>
            <a:noFill/>
            <a:ln w="25400" cap="flat">
              <a:solidFill>
                <a:schemeClr val="accent6"/>
              </a:solidFill>
              <a:prstDash val="solid"/>
              <a:bevel/>
            </a:ln>
            <a:effectLst/>
          </p:spPr>
          <p:style>
            <a:lnRef idx="2">
              <a:schemeClr val="accent1">
                <a:shade val="50000"/>
              </a:schemeClr>
            </a:lnRef>
            <a:fillRef idx="1">
              <a:schemeClr val="accent1"/>
            </a:fillRef>
            <a:effectRef idx="0">
              <a:schemeClr val="accent1"/>
            </a:effectRef>
            <a:fontRef idx="minor">
              <a:schemeClr val="lt1"/>
            </a:fontRef>
          </p:style>
        </p:cxnSp>
        <p:sp>
          <p:nvSpPr>
            <p:cNvPr id="9" name="iṥḻídè"/>
            <p:cNvSpPr txBox="1"/>
            <p:nvPr/>
          </p:nvSpPr>
          <p:spPr>
            <a:xfrm>
              <a:off x="6262913" y="3454011"/>
              <a:ext cx="5609773" cy="369332"/>
            </a:xfrm>
            <a:prstGeom prst="rect">
              <a:avLst/>
            </a:prstGeom>
            <a:noFill/>
          </p:spPr>
          <p:txBody>
            <a:bodyPr wrap="none" rtlCol="0" anchor="b">
              <a:normAutofit/>
            </a:bodyPr>
            <a:lstStyle/>
            <a:p>
              <a:pPr>
                <a:lnSpc>
                  <a:spcPct val="100000"/>
                </a:lnSpc>
              </a:pPr>
              <a:r>
                <a:rPr lang="zh-CN" altLang="en-US" sz="1600" b="1" i="0" dirty="0">
                  <a:solidFill>
                    <a:srgbClr val="0D0D0D"/>
                  </a:solidFill>
                  <a:effectLst/>
                  <a:highlight>
                    <a:srgbClr val="FFFFFF"/>
                  </a:highlight>
                  <a:latin typeface="Noto Sans SC"/>
                </a:rPr>
                <a:t>农民福利和权益改善</a:t>
              </a:r>
              <a:endParaRPr lang="zh-CN" altLang="en-US" sz="1600" b="1" dirty="0"/>
            </a:p>
          </p:txBody>
        </p:sp>
        <p:sp>
          <p:nvSpPr>
            <p:cNvPr id="10" name="îṩļîde"/>
            <p:cNvSpPr txBox="1"/>
            <p:nvPr/>
          </p:nvSpPr>
          <p:spPr>
            <a:xfrm>
              <a:off x="6262914" y="3823343"/>
              <a:ext cx="5609773" cy="237817"/>
            </a:xfrm>
            <a:prstGeom prst="rect">
              <a:avLst/>
            </a:prstGeom>
            <a:noFill/>
          </p:spPr>
          <p:txBody>
            <a:bodyPr wrap="square" rtlCol="0">
              <a:spAutoFit/>
            </a:bodyPr>
            <a:lstStyle/>
            <a:p>
              <a:pPr>
                <a:lnSpc>
                  <a:spcPct val="120000"/>
                </a:lnSpc>
              </a:pPr>
              <a:r>
                <a:rPr lang="zh-CN" altLang="en-US" sz="1200" b="0" i="0" dirty="0">
                  <a:solidFill>
                    <a:srgbClr val="0D0D0D"/>
                  </a:solidFill>
                  <a:effectLst/>
                  <a:highlight>
                    <a:srgbClr val="FFFFFF"/>
                  </a:highlight>
                  <a:latin typeface="Noto Sans SC"/>
                </a:rPr>
                <a:t>农民的地位和生活改善作为政策的核心</a:t>
              </a:r>
              <a:endParaRPr lang="zh-CN" altLang="en-US" sz="1200" dirty="0"/>
            </a:p>
          </p:txBody>
        </p:sp>
        <p:cxnSp>
          <p:nvCxnSpPr>
            <p:cNvPr id="11" name="ïṧlíḑê"/>
            <p:cNvCxnSpPr/>
            <p:nvPr/>
          </p:nvCxnSpPr>
          <p:spPr>
            <a:xfrm>
              <a:off x="6139544" y="4477060"/>
              <a:ext cx="0" cy="618671"/>
            </a:xfrm>
            <a:prstGeom prst="line">
              <a:avLst/>
            </a:prstGeom>
            <a:noFill/>
            <a:ln w="25400" cap="flat">
              <a:solidFill>
                <a:schemeClr val="accent5"/>
              </a:solidFill>
              <a:prstDash val="solid"/>
              <a:bevel/>
            </a:ln>
            <a:effectLst/>
          </p:spPr>
          <p:style>
            <a:lnRef idx="2">
              <a:schemeClr val="accent1">
                <a:shade val="50000"/>
              </a:schemeClr>
            </a:lnRef>
            <a:fillRef idx="1">
              <a:schemeClr val="accent1"/>
            </a:fillRef>
            <a:effectRef idx="0">
              <a:schemeClr val="accent1"/>
            </a:effectRef>
            <a:fontRef idx="minor">
              <a:schemeClr val="lt1"/>
            </a:fontRef>
          </p:style>
        </p:cxnSp>
        <p:sp>
          <p:nvSpPr>
            <p:cNvPr id="12" name="îs1îḓè"/>
            <p:cNvSpPr txBox="1"/>
            <p:nvPr/>
          </p:nvSpPr>
          <p:spPr>
            <a:xfrm>
              <a:off x="6262913" y="4477060"/>
              <a:ext cx="5609773" cy="369332"/>
            </a:xfrm>
            <a:prstGeom prst="rect">
              <a:avLst/>
            </a:prstGeom>
            <a:noFill/>
          </p:spPr>
          <p:txBody>
            <a:bodyPr wrap="none" rtlCol="0" anchor="b">
              <a:normAutofit/>
            </a:bodyPr>
            <a:lstStyle/>
            <a:p>
              <a:pPr>
                <a:lnSpc>
                  <a:spcPct val="100000"/>
                </a:lnSpc>
              </a:pPr>
              <a:r>
                <a:rPr lang="zh-CN" altLang="en-US" sz="1600" b="1" i="0" dirty="0">
                  <a:solidFill>
                    <a:srgbClr val="0D0D0D"/>
                  </a:solidFill>
                  <a:effectLst/>
                  <a:highlight>
                    <a:srgbClr val="FFFFFF"/>
                  </a:highlight>
                  <a:latin typeface="Noto Sans SC"/>
                </a:rPr>
                <a:t>社会服务和机制建设</a:t>
              </a:r>
              <a:endParaRPr lang="zh-CN" altLang="en-US" sz="1600" b="1" dirty="0"/>
            </a:p>
          </p:txBody>
        </p:sp>
        <p:sp>
          <p:nvSpPr>
            <p:cNvPr id="13" name="ïś1ïḋè"/>
            <p:cNvSpPr txBox="1"/>
            <p:nvPr/>
          </p:nvSpPr>
          <p:spPr>
            <a:xfrm>
              <a:off x="6262914" y="4846392"/>
              <a:ext cx="5609773" cy="223439"/>
            </a:xfrm>
            <a:prstGeom prst="rect">
              <a:avLst/>
            </a:prstGeom>
            <a:noFill/>
          </p:spPr>
          <p:txBody>
            <a:bodyPr wrap="square" rtlCol="0">
              <a:spAutoFit/>
            </a:bodyPr>
            <a:lstStyle/>
            <a:p>
              <a:pPr algn="l"/>
              <a:r>
                <a:rPr lang="zh-CN" altLang="en-US" sz="1200" b="0" i="0" dirty="0">
                  <a:solidFill>
                    <a:srgbClr val="0D0D0D"/>
                  </a:solidFill>
                  <a:effectLst/>
                  <a:highlight>
                    <a:srgbClr val="FFFFFF"/>
                  </a:highlight>
                  <a:latin typeface="Noto Sans SC"/>
                </a:rPr>
                <a:t>加强农村社会服务体系和发展机制，确保农村社会和经济的稳定发展。</a:t>
              </a:r>
            </a:p>
          </p:txBody>
        </p:sp>
      </p:grpSp>
      <p:sp>
        <p:nvSpPr>
          <p:cNvPr id="20" name="矩形: 对角圆角 19"/>
          <p:cNvSpPr/>
          <p:nvPr/>
        </p:nvSpPr>
        <p:spPr>
          <a:xfrm>
            <a:off x="324211" y="347214"/>
            <a:ext cx="4005552" cy="521466"/>
          </a:xfrm>
          <a:prstGeom prst="round2DiagRect">
            <a:avLst>
              <a:gd name="adj1" fmla="val 50000"/>
              <a:gd name="adj2" fmla="val 0"/>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100" dirty="0">
                <a:latin typeface="宋体" panose="02010600030101010101" pitchFamily="2" charset="-122"/>
                <a:ea typeface="宋体" panose="02010600030101010101" pitchFamily="2" charset="-122"/>
              </a:rPr>
              <a:t>政策支持与导向</a:t>
            </a:r>
          </a:p>
        </p:txBody>
      </p:sp>
      <p:sp>
        <p:nvSpPr>
          <p:cNvPr id="21" name="文本框 20"/>
          <p:cNvSpPr txBox="1"/>
          <p:nvPr/>
        </p:nvSpPr>
        <p:spPr>
          <a:xfrm>
            <a:off x="961394" y="5512505"/>
            <a:ext cx="3876675" cy="519886"/>
          </a:xfrm>
          <a:prstGeom prst="rect">
            <a:avLst/>
          </a:prstGeom>
          <a:noFill/>
        </p:spPr>
        <p:txBody>
          <a:bodyPr wrap="square">
            <a:spAutoFit/>
          </a:bodyPr>
          <a:lstStyle/>
          <a:p>
            <a:pPr indent="279400" algn="just">
              <a:lnSpc>
                <a:spcPct val="120000"/>
              </a:lnSpc>
              <a:spcBef>
                <a:spcPts val="250"/>
              </a:spcBef>
              <a:spcAft>
                <a:spcPts val="250"/>
              </a:spcAft>
            </a:pPr>
            <a:r>
              <a:rPr lang="zh-CN" altLang="en-US" sz="1200" dirty="0">
                <a:solidFill>
                  <a:srgbClr val="0D0D0D"/>
                </a:solidFill>
                <a:highlight>
                  <a:srgbClr val="FFFFFF"/>
                </a:highlight>
                <a:latin typeface="Noto Sans SC"/>
              </a:rPr>
              <a:t>注：</a:t>
            </a:r>
            <a:r>
              <a:rPr lang="en-US" altLang="zh-CN" sz="1200" dirty="0">
                <a:solidFill>
                  <a:srgbClr val="0D0D0D"/>
                </a:solidFill>
                <a:highlight>
                  <a:srgbClr val="FFFFFF"/>
                </a:highlight>
                <a:latin typeface="Noto Sans SC"/>
              </a:rPr>
              <a:t>2013</a:t>
            </a:r>
            <a:r>
              <a:rPr lang="zh-CN" altLang="en-US" sz="1200" dirty="0">
                <a:solidFill>
                  <a:srgbClr val="0D0D0D"/>
                </a:solidFill>
                <a:highlight>
                  <a:srgbClr val="FFFFFF"/>
                </a:highlight>
                <a:latin typeface="Noto Sans SC"/>
              </a:rPr>
              <a:t>年</a:t>
            </a:r>
            <a:r>
              <a:rPr lang="en-US" altLang="zh-CN" sz="1200" dirty="0">
                <a:solidFill>
                  <a:srgbClr val="0D0D0D"/>
                </a:solidFill>
                <a:highlight>
                  <a:srgbClr val="FFFFFF"/>
                </a:highlight>
                <a:latin typeface="Noto Sans SC"/>
              </a:rPr>
              <a:t>《</a:t>
            </a:r>
            <a:r>
              <a:rPr lang="zh-CN" altLang="en-US" sz="1200" dirty="0">
                <a:solidFill>
                  <a:srgbClr val="0D0D0D"/>
                </a:solidFill>
                <a:highlight>
                  <a:srgbClr val="FFFFFF"/>
                </a:highlight>
                <a:latin typeface="Noto Sans SC"/>
              </a:rPr>
              <a:t>关于新形势下农村改革发展若干重大问题的决定</a:t>
            </a:r>
            <a:r>
              <a:rPr lang="en-US" altLang="zh-CN" sz="1200" dirty="0">
                <a:solidFill>
                  <a:srgbClr val="0D0D0D"/>
                </a:solidFill>
                <a:highlight>
                  <a:srgbClr val="FFFFFF"/>
                </a:highlight>
                <a:latin typeface="Noto Sans SC"/>
              </a:rPr>
              <a:t>》</a:t>
            </a:r>
            <a:endParaRPr lang="zh-CN" altLang="en-US" sz="1200" dirty="0">
              <a:solidFill>
                <a:srgbClr val="0D0D0D"/>
              </a:solidFill>
              <a:highlight>
                <a:srgbClr val="FFFFFF"/>
              </a:highlight>
              <a:latin typeface="Noto Sans SC"/>
            </a:endParaRPr>
          </a:p>
        </p:txBody>
      </p:sp>
      <p:pic>
        <p:nvPicPr>
          <p:cNvPr id="25" name="图片 24"/>
          <p:cNvPicPr>
            <a:picLocks noChangeAspect="1"/>
          </p:cNvPicPr>
          <p:nvPr/>
        </p:nvPicPr>
        <p:blipFill rotWithShape="1">
          <a:blip r:embed="rId3" cstate="print">
            <a:extLst>
              <a:ext uri="{28A0092B-C50C-407E-A947-70E740481C1C}">
                <a14:useLocalDpi xmlns:a14="http://schemas.microsoft.com/office/drawing/2010/main" val="0"/>
              </a:ext>
            </a:extLst>
          </a:blip>
          <a:srcRect l="34888" t="9765" r="32619" b="12435"/>
          <a:stretch>
            <a:fillRect/>
          </a:stretch>
        </p:blipFill>
        <p:spPr>
          <a:xfrm>
            <a:off x="1091714" y="1307939"/>
            <a:ext cx="3961524" cy="4149846"/>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对角圆角 19"/>
          <p:cNvSpPr/>
          <p:nvPr/>
        </p:nvSpPr>
        <p:spPr>
          <a:xfrm>
            <a:off x="324211" y="347214"/>
            <a:ext cx="4005552" cy="521466"/>
          </a:xfrm>
          <a:prstGeom prst="round2DiagRect">
            <a:avLst>
              <a:gd name="adj1" fmla="val 50000"/>
              <a:gd name="adj2" fmla="val 0"/>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kern="100" dirty="0">
                <a:latin typeface="宋体" panose="02010600030101010101" pitchFamily="2" charset="-122"/>
                <a:ea typeface="宋体" panose="02010600030101010101" pitchFamily="2" charset="-122"/>
              </a:rPr>
              <a:t>政策支持与导向</a:t>
            </a:r>
          </a:p>
        </p:txBody>
      </p:sp>
      <p:sp>
        <p:nvSpPr>
          <p:cNvPr id="22" name="文本框 21"/>
          <p:cNvSpPr txBox="1"/>
          <p:nvPr/>
        </p:nvSpPr>
        <p:spPr>
          <a:xfrm>
            <a:off x="731964" y="5651624"/>
            <a:ext cx="4488215" cy="519886"/>
          </a:xfrm>
          <a:prstGeom prst="rect">
            <a:avLst/>
          </a:prstGeom>
          <a:noFill/>
        </p:spPr>
        <p:txBody>
          <a:bodyPr wrap="square">
            <a:spAutoFit/>
          </a:bodyPr>
          <a:lstStyle/>
          <a:p>
            <a:pPr indent="279400" algn="just">
              <a:lnSpc>
                <a:spcPct val="120000"/>
              </a:lnSpc>
              <a:spcBef>
                <a:spcPts val="250"/>
              </a:spcBef>
              <a:spcAft>
                <a:spcPts val="250"/>
              </a:spcAft>
            </a:pPr>
            <a:r>
              <a:rPr lang="zh-CN" altLang="en-US" sz="1200" dirty="0">
                <a:solidFill>
                  <a:srgbClr val="0D0D0D"/>
                </a:solidFill>
                <a:highlight>
                  <a:srgbClr val="FFFFFF"/>
                </a:highlight>
                <a:latin typeface="Noto Sans SC"/>
              </a:rPr>
              <a:t>注：</a:t>
            </a:r>
            <a:r>
              <a:rPr lang="en-US" altLang="zh-CN" sz="1200" dirty="0">
                <a:solidFill>
                  <a:srgbClr val="0D0D0D"/>
                </a:solidFill>
                <a:highlight>
                  <a:srgbClr val="FFFFFF"/>
                </a:highlight>
                <a:latin typeface="Noto Sans SC"/>
              </a:rPr>
              <a:t>2023</a:t>
            </a:r>
            <a:r>
              <a:rPr lang="zh-CN" altLang="en-US" sz="1200" dirty="0">
                <a:solidFill>
                  <a:srgbClr val="0D0D0D"/>
                </a:solidFill>
                <a:highlight>
                  <a:srgbClr val="FFFFFF"/>
                </a:highlight>
                <a:latin typeface="Noto Sans SC"/>
              </a:rPr>
              <a:t>年</a:t>
            </a:r>
            <a:r>
              <a:rPr lang="en-US" altLang="zh-CN" sz="1200" dirty="0">
                <a:solidFill>
                  <a:srgbClr val="0D0D0D"/>
                </a:solidFill>
                <a:highlight>
                  <a:srgbClr val="FFFFFF"/>
                </a:highlight>
                <a:latin typeface="Noto Sans SC"/>
              </a:rPr>
              <a:t>《</a:t>
            </a:r>
            <a:r>
              <a:rPr lang="zh-CN" altLang="en-US" sz="1200" dirty="0">
                <a:solidFill>
                  <a:srgbClr val="0D0D0D"/>
                </a:solidFill>
                <a:highlight>
                  <a:srgbClr val="FFFFFF"/>
                </a:highlight>
                <a:latin typeface="Noto Sans SC"/>
              </a:rPr>
              <a:t>中共中央国务院关于做好二〇二三年全面推进乡村振兴重点工作的意见</a:t>
            </a:r>
            <a:r>
              <a:rPr lang="en-US" altLang="zh-CN" sz="1200" dirty="0">
                <a:solidFill>
                  <a:srgbClr val="0D0D0D"/>
                </a:solidFill>
                <a:highlight>
                  <a:srgbClr val="FFFFFF"/>
                </a:highlight>
                <a:latin typeface="Noto Sans SC"/>
              </a:rPr>
              <a:t>》</a:t>
            </a:r>
            <a:endParaRPr lang="zh-CN" altLang="en-US" sz="1200" dirty="0">
              <a:solidFill>
                <a:srgbClr val="0D0D0D"/>
              </a:solidFill>
              <a:highlight>
                <a:srgbClr val="FFFFFF"/>
              </a:highlight>
              <a:latin typeface="Noto Sans SC"/>
            </a:endParaRPr>
          </a:p>
        </p:txBody>
      </p:sp>
      <p:pic>
        <p:nvPicPr>
          <p:cNvPr id="24" name="图片 23"/>
          <p:cNvPicPr>
            <a:picLocks noChangeAspect="1"/>
          </p:cNvPicPr>
          <p:nvPr/>
        </p:nvPicPr>
        <p:blipFill rotWithShape="1">
          <a:blip r:embed="rId2" cstate="print">
            <a:extLst>
              <a:ext uri="{28A0092B-C50C-407E-A947-70E740481C1C}">
                <a14:useLocalDpi xmlns:a14="http://schemas.microsoft.com/office/drawing/2010/main" val="0"/>
              </a:ext>
            </a:extLst>
          </a:blip>
          <a:srcRect l="35513" t="11873" r="32730" b="11955"/>
          <a:stretch>
            <a:fillRect/>
          </a:stretch>
        </p:blipFill>
        <p:spPr>
          <a:xfrm>
            <a:off x="1181448" y="1394732"/>
            <a:ext cx="3871790" cy="4063053"/>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grpSp>
        <p:nvGrpSpPr>
          <p:cNvPr id="27" name="íṡliḍe"/>
          <p:cNvGrpSpPr/>
          <p:nvPr/>
        </p:nvGrpSpPr>
        <p:grpSpPr>
          <a:xfrm>
            <a:off x="6139544" y="1407913"/>
            <a:ext cx="6052456" cy="4571825"/>
            <a:chOff x="6139544" y="1407913"/>
            <a:chExt cx="6052456" cy="3687818"/>
          </a:xfrm>
        </p:grpSpPr>
        <p:sp>
          <p:nvSpPr>
            <p:cNvPr id="28" name="í$ļîḋè"/>
            <p:cNvSpPr/>
            <p:nvPr/>
          </p:nvSpPr>
          <p:spPr>
            <a:xfrm>
              <a:off x="6139544" y="3386677"/>
              <a:ext cx="6052456" cy="736653"/>
            </a:xfrm>
            <a:prstGeom prst="rect">
              <a:avLst/>
            </a:prstGeom>
            <a:solidFill>
              <a:srgbClr val="F2C900"/>
            </a:solidFill>
            <a:ln w="12700" cap="rnd">
              <a:noFill/>
              <a:prstDash val="solid"/>
              <a:rou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en-GB" sz="2000" b="1">
                <a:solidFill>
                  <a:schemeClr val="bg1"/>
                </a:solidFill>
              </a:endParaRPr>
            </a:p>
          </p:txBody>
        </p:sp>
        <p:cxnSp>
          <p:nvCxnSpPr>
            <p:cNvPr id="29" name="îṣlïḍé"/>
            <p:cNvCxnSpPr/>
            <p:nvPr/>
          </p:nvCxnSpPr>
          <p:spPr>
            <a:xfrm>
              <a:off x="6139544" y="1407913"/>
              <a:ext cx="0" cy="618671"/>
            </a:xfrm>
            <a:prstGeom prst="line">
              <a:avLst/>
            </a:prstGeom>
            <a:noFill/>
            <a:ln w="25400" cap="flat">
              <a:solidFill>
                <a:schemeClr val="accent3"/>
              </a:solidFill>
              <a:prstDash val="solid"/>
              <a:bevel/>
            </a:ln>
            <a:effectLst/>
          </p:spPr>
          <p:style>
            <a:lnRef idx="2">
              <a:schemeClr val="accent1">
                <a:shade val="50000"/>
              </a:schemeClr>
            </a:lnRef>
            <a:fillRef idx="1">
              <a:schemeClr val="accent1"/>
            </a:fillRef>
            <a:effectRef idx="0">
              <a:schemeClr val="accent1"/>
            </a:effectRef>
            <a:fontRef idx="minor">
              <a:schemeClr val="lt1"/>
            </a:fontRef>
          </p:style>
        </p:cxnSp>
        <p:sp>
          <p:nvSpPr>
            <p:cNvPr id="30" name="iṩ1îḋê"/>
            <p:cNvSpPr txBox="1"/>
            <p:nvPr/>
          </p:nvSpPr>
          <p:spPr>
            <a:xfrm>
              <a:off x="6262913" y="1407913"/>
              <a:ext cx="5609773" cy="369332"/>
            </a:xfrm>
            <a:prstGeom prst="rect">
              <a:avLst/>
            </a:prstGeom>
            <a:noFill/>
          </p:spPr>
          <p:txBody>
            <a:bodyPr wrap="none" rtlCol="0" anchor="b">
              <a:normAutofit/>
            </a:bodyPr>
            <a:lstStyle/>
            <a:p>
              <a:pPr>
                <a:lnSpc>
                  <a:spcPct val="100000"/>
                </a:lnSpc>
              </a:pPr>
              <a:r>
                <a:rPr lang="zh-CN" altLang="en-US" sz="1600" b="1" i="0" dirty="0">
                  <a:solidFill>
                    <a:srgbClr val="0D0D0D"/>
                  </a:solidFill>
                  <a:effectLst/>
                  <a:highlight>
                    <a:srgbClr val="FFFFFF"/>
                  </a:highlight>
                  <a:latin typeface="Noto Sans SC"/>
                </a:rPr>
                <a:t>乡村振兴战略的持续推进</a:t>
              </a:r>
              <a:endParaRPr lang="zh-CN" altLang="en-US" sz="1600" b="1" dirty="0"/>
            </a:p>
          </p:txBody>
        </p:sp>
        <p:sp>
          <p:nvSpPr>
            <p:cNvPr id="31" name="ïṡľïdé"/>
            <p:cNvSpPr txBox="1"/>
            <p:nvPr/>
          </p:nvSpPr>
          <p:spPr>
            <a:xfrm>
              <a:off x="6262914" y="1777245"/>
              <a:ext cx="5609773" cy="240610"/>
            </a:xfrm>
            <a:prstGeom prst="rect">
              <a:avLst/>
            </a:prstGeom>
            <a:noFill/>
          </p:spPr>
          <p:txBody>
            <a:bodyPr wrap="square" rtlCol="0">
              <a:spAutoFit/>
            </a:bodyPr>
            <a:lstStyle/>
            <a:p>
              <a:pPr>
                <a:lnSpc>
                  <a:spcPct val="120000"/>
                </a:lnSpc>
              </a:pPr>
              <a:r>
                <a:rPr lang="zh-CN" altLang="en-US" sz="1200" b="0" i="0" dirty="0">
                  <a:solidFill>
                    <a:srgbClr val="0D0D0D"/>
                  </a:solidFill>
                  <a:effectLst/>
                  <a:highlight>
                    <a:srgbClr val="FFFFFF"/>
                  </a:highlight>
                  <a:latin typeface="Noto Sans SC"/>
                </a:rPr>
                <a:t>持续强化乡村建设和振兴是当前政策的核心</a:t>
              </a:r>
            </a:p>
          </p:txBody>
        </p:sp>
        <p:sp>
          <p:nvSpPr>
            <p:cNvPr id="32" name="işḷîḋe"/>
            <p:cNvSpPr txBox="1"/>
            <p:nvPr/>
          </p:nvSpPr>
          <p:spPr>
            <a:xfrm>
              <a:off x="6262913" y="2341570"/>
              <a:ext cx="5609773" cy="369332"/>
            </a:xfrm>
            <a:prstGeom prst="rect">
              <a:avLst/>
            </a:prstGeom>
            <a:noFill/>
          </p:spPr>
          <p:txBody>
            <a:bodyPr wrap="none" rtlCol="0" anchor="b">
              <a:normAutofit/>
            </a:bodyPr>
            <a:lstStyle/>
            <a:p>
              <a:pPr>
                <a:lnSpc>
                  <a:spcPct val="100000"/>
                </a:lnSpc>
              </a:pPr>
              <a:r>
                <a:rPr lang="zh-CN" altLang="en-US" sz="1600" b="1" dirty="0">
                  <a:solidFill>
                    <a:srgbClr val="FFFFFF"/>
                  </a:solidFill>
                </a:rPr>
                <a:t>制度和政策框架的强化</a:t>
              </a:r>
            </a:p>
          </p:txBody>
        </p:sp>
        <p:sp>
          <p:nvSpPr>
            <p:cNvPr id="33" name="îṡliḋè"/>
            <p:cNvSpPr txBox="1"/>
            <p:nvPr/>
          </p:nvSpPr>
          <p:spPr>
            <a:xfrm>
              <a:off x="6262914" y="2710902"/>
              <a:ext cx="5609773" cy="237817"/>
            </a:xfrm>
            <a:prstGeom prst="rect">
              <a:avLst/>
            </a:prstGeom>
            <a:noFill/>
          </p:spPr>
          <p:txBody>
            <a:bodyPr wrap="square" rtlCol="0">
              <a:spAutoFit/>
            </a:bodyPr>
            <a:lstStyle/>
            <a:p>
              <a:pPr>
                <a:lnSpc>
                  <a:spcPct val="120000"/>
                </a:lnSpc>
              </a:pPr>
              <a:r>
                <a:rPr lang="zh-CN" altLang="en-US" sz="1200" dirty="0">
                  <a:solidFill>
                    <a:srgbClr val="FFFFFF"/>
                  </a:solidFill>
                </a:rPr>
                <a:t>政策旨在通过完善相关制度来推动农村地区的发展。</a:t>
              </a:r>
            </a:p>
          </p:txBody>
        </p:sp>
        <p:sp>
          <p:nvSpPr>
            <p:cNvPr id="35" name="iṥḻídè"/>
            <p:cNvSpPr txBox="1"/>
            <p:nvPr/>
          </p:nvSpPr>
          <p:spPr>
            <a:xfrm>
              <a:off x="6262913" y="3454011"/>
              <a:ext cx="5609773" cy="369332"/>
            </a:xfrm>
            <a:prstGeom prst="rect">
              <a:avLst/>
            </a:prstGeom>
            <a:noFill/>
          </p:spPr>
          <p:txBody>
            <a:bodyPr wrap="none" rtlCol="0" anchor="b">
              <a:normAutofit/>
            </a:bodyPr>
            <a:lstStyle/>
            <a:p>
              <a:r>
                <a:rPr lang="zh-CN" altLang="en-US" sz="1600" b="1" dirty="0">
                  <a:solidFill>
                    <a:srgbClr val="FFFFFF"/>
                  </a:solidFill>
                </a:rPr>
                <a:t>推动农业现代化和农村发展</a:t>
              </a:r>
            </a:p>
          </p:txBody>
        </p:sp>
        <p:sp>
          <p:nvSpPr>
            <p:cNvPr id="36" name="îṩļîde"/>
            <p:cNvSpPr txBox="1"/>
            <p:nvPr/>
          </p:nvSpPr>
          <p:spPr>
            <a:xfrm>
              <a:off x="6262914" y="3823343"/>
              <a:ext cx="5609773" cy="237817"/>
            </a:xfrm>
            <a:prstGeom prst="rect">
              <a:avLst/>
            </a:prstGeom>
            <a:noFill/>
          </p:spPr>
          <p:txBody>
            <a:bodyPr wrap="square" rtlCol="0">
              <a:spAutoFit/>
            </a:bodyPr>
            <a:lstStyle/>
            <a:p>
              <a:pPr>
                <a:lnSpc>
                  <a:spcPct val="120000"/>
                </a:lnSpc>
              </a:pPr>
              <a:r>
                <a:rPr lang="zh-CN" altLang="en-US" sz="1200" dirty="0">
                  <a:solidFill>
                    <a:srgbClr val="FFFFFF"/>
                  </a:solidFill>
                </a:rPr>
                <a:t>推动农业现代化仍然是乡村振兴的关键部分</a:t>
              </a:r>
            </a:p>
          </p:txBody>
        </p:sp>
        <p:cxnSp>
          <p:nvCxnSpPr>
            <p:cNvPr id="37" name="ïṧlíḑê"/>
            <p:cNvCxnSpPr/>
            <p:nvPr/>
          </p:nvCxnSpPr>
          <p:spPr>
            <a:xfrm>
              <a:off x="6139544" y="4477060"/>
              <a:ext cx="0" cy="618671"/>
            </a:xfrm>
            <a:prstGeom prst="line">
              <a:avLst/>
            </a:prstGeom>
            <a:noFill/>
            <a:ln w="25400" cap="flat">
              <a:solidFill>
                <a:schemeClr val="accent5"/>
              </a:solidFill>
              <a:prstDash val="solid"/>
              <a:bevel/>
            </a:ln>
            <a:effectLst/>
          </p:spPr>
          <p:style>
            <a:lnRef idx="2">
              <a:schemeClr val="accent1">
                <a:shade val="50000"/>
              </a:schemeClr>
            </a:lnRef>
            <a:fillRef idx="1">
              <a:schemeClr val="accent1"/>
            </a:fillRef>
            <a:effectRef idx="0">
              <a:schemeClr val="accent1"/>
            </a:effectRef>
            <a:fontRef idx="minor">
              <a:schemeClr val="lt1"/>
            </a:fontRef>
          </p:style>
        </p:cxnSp>
        <p:sp>
          <p:nvSpPr>
            <p:cNvPr id="38" name="îs1îḓè"/>
            <p:cNvSpPr txBox="1"/>
            <p:nvPr/>
          </p:nvSpPr>
          <p:spPr>
            <a:xfrm>
              <a:off x="6262913" y="4477060"/>
              <a:ext cx="5609773" cy="369332"/>
            </a:xfrm>
            <a:prstGeom prst="rect">
              <a:avLst/>
            </a:prstGeom>
            <a:noFill/>
          </p:spPr>
          <p:txBody>
            <a:bodyPr wrap="none" rtlCol="0" anchor="b">
              <a:normAutofit/>
            </a:bodyPr>
            <a:lstStyle/>
            <a:p>
              <a:pPr>
                <a:lnSpc>
                  <a:spcPct val="100000"/>
                </a:lnSpc>
              </a:pPr>
              <a:r>
                <a:rPr lang="zh-CN" altLang="en-US" sz="1600" b="1" i="0" dirty="0">
                  <a:solidFill>
                    <a:srgbClr val="0D0D0D"/>
                  </a:solidFill>
                  <a:effectLst/>
                  <a:highlight>
                    <a:srgbClr val="FFFFFF"/>
                  </a:highlight>
                  <a:latin typeface="Noto Sans SC"/>
                </a:rPr>
                <a:t>社会和产业发展的整合</a:t>
              </a:r>
              <a:endParaRPr lang="zh-CN" altLang="en-US" sz="1600" b="1" dirty="0"/>
            </a:p>
          </p:txBody>
        </p:sp>
        <p:sp>
          <p:nvSpPr>
            <p:cNvPr id="39" name="ïś1ïḋè"/>
            <p:cNvSpPr txBox="1"/>
            <p:nvPr/>
          </p:nvSpPr>
          <p:spPr>
            <a:xfrm>
              <a:off x="6262914" y="4846392"/>
              <a:ext cx="5609773" cy="223439"/>
            </a:xfrm>
            <a:prstGeom prst="rect">
              <a:avLst/>
            </a:prstGeom>
            <a:noFill/>
          </p:spPr>
          <p:txBody>
            <a:bodyPr wrap="square" rtlCol="0">
              <a:spAutoFit/>
            </a:bodyPr>
            <a:lstStyle/>
            <a:p>
              <a:pPr algn="l"/>
              <a:r>
                <a:rPr lang="zh-CN" altLang="en-US" sz="1200" b="0" i="0" dirty="0">
                  <a:solidFill>
                    <a:srgbClr val="0D0D0D"/>
                  </a:solidFill>
                  <a:effectLst/>
                  <a:highlight>
                    <a:srgbClr val="FFFFFF"/>
                  </a:highlight>
                  <a:latin typeface="Noto Sans SC"/>
                </a:rPr>
                <a:t>通过发展多样化产业推动乡村经济的增长和多元化</a:t>
              </a:r>
            </a:p>
          </p:txBody>
        </p:sp>
      </p:grpSp>
      <p:cxnSp>
        <p:nvCxnSpPr>
          <p:cNvPr id="40" name="îṣlïḍé"/>
          <p:cNvCxnSpPr/>
          <p:nvPr/>
        </p:nvCxnSpPr>
        <p:spPr>
          <a:xfrm>
            <a:off x="6139544" y="2618565"/>
            <a:ext cx="0" cy="766973"/>
          </a:xfrm>
          <a:prstGeom prst="line">
            <a:avLst/>
          </a:prstGeom>
          <a:noFill/>
          <a:ln w="25400" cap="flat">
            <a:solidFill>
              <a:srgbClr val="51A1BA"/>
            </a:solidFill>
            <a:prstDash val="solid"/>
            <a:bevel/>
          </a:ln>
          <a:effectLst/>
        </p:spPr>
        <p:style>
          <a:lnRef idx="2">
            <a:schemeClr val="accent1">
              <a:shade val="50000"/>
            </a:schemeClr>
          </a:lnRef>
          <a:fillRef idx="1">
            <a:schemeClr val="accent1"/>
          </a:fillRef>
          <a:effectRef idx="0">
            <a:schemeClr val="accent1"/>
          </a:effectRef>
          <a:fontRef idx="minor">
            <a:schemeClr val="lt1"/>
          </a:fontRef>
        </p:style>
      </p:cxnSp>
      <p:sp>
        <p:nvSpPr>
          <p:cNvPr id="41" name="iṩ1îḋê"/>
          <p:cNvSpPr txBox="1"/>
          <p:nvPr/>
        </p:nvSpPr>
        <p:spPr>
          <a:xfrm>
            <a:off x="6262913" y="2618565"/>
            <a:ext cx="5609773" cy="457865"/>
          </a:xfrm>
          <a:prstGeom prst="rect">
            <a:avLst/>
          </a:prstGeom>
          <a:noFill/>
        </p:spPr>
        <p:txBody>
          <a:bodyPr wrap="none" rtlCol="0" anchor="b">
            <a:normAutofit/>
          </a:bodyPr>
          <a:lstStyle/>
          <a:p>
            <a:pPr>
              <a:lnSpc>
                <a:spcPct val="100000"/>
              </a:lnSpc>
            </a:pPr>
            <a:r>
              <a:rPr lang="zh-CN" altLang="en-US" sz="1600" b="1" i="0" dirty="0">
                <a:solidFill>
                  <a:srgbClr val="0D0D0D"/>
                </a:solidFill>
                <a:effectLst/>
                <a:highlight>
                  <a:srgbClr val="FFFFFF"/>
                </a:highlight>
                <a:latin typeface="Noto Sans SC"/>
              </a:rPr>
              <a:t>强化支持和政策执行力度</a:t>
            </a:r>
            <a:endParaRPr lang="zh-CN" altLang="en-US" sz="1600" b="1" dirty="0"/>
          </a:p>
        </p:txBody>
      </p:sp>
      <p:sp>
        <p:nvSpPr>
          <p:cNvPr id="42" name="ïṡľïdé"/>
          <p:cNvSpPr txBox="1"/>
          <p:nvPr/>
        </p:nvSpPr>
        <p:spPr>
          <a:xfrm>
            <a:off x="6262914" y="3076430"/>
            <a:ext cx="5609773" cy="298287"/>
          </a:xfrm>
          <a:prstGeom prst="rect">
            <a:avLst/>
          </a:prstGeom>
          <a:noFill/>
        </p:spPr>
        <p:txBody>
          <a:bodyPr wrap="square" rtlCol="0">
            <a:spAutoFit/>
          </a:bodyPr>
          <a:lstStyle/>
          <a:p>
            <a:pPr>
              <a:lnSpc>
                <a:spcPct val="120000"/>
              </a:lnSpc>
            </a:pPr>
            <a:r>
              <a:rPr lang="zh-CN" altLang="en-US" sz="1200" b="0" i="0" dirty="0">
                <a:solidFill>
                  <a:srgbClr val="0D0D0D"/>
                </a:solidFill>
                <a:effectLst/>
                <a:highlight>
                  <a:srgbClr val="FFFFFF"/>
                </a:highlight>
                <a:latin typeface="Noto Sans SC"/>
              </a:rPr>
              <a:t>确保政策的全面覆盖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1000"/>
                                        <p:tgtEl>
                                          <p:spTgt spid="27"/>
                                        </p:tgtEl>
                                      </p:cBhvr>
                                    </p:animEffect>
                                    <p:anim calcmode="lin" valueType="num">
                                      <p:cBhvr>
                                        <p:cTn id="18" dur="1000" fill="hold"/>
                                        <p:tgtEl>
                                          <p:spTgt spid="27"/>
                                        </p:tgtEl>
                                        <p:attrNameLst>
                                          <p:attrName>ppt_x</p:attrName>
                                        </p:attrNameLst>
                                      </p:cBhvr>
                                      <p:tavLst>
                                        <p:tav tm="0">
                                          <p:val>
                                            <p:strVal val="#ppt_x"/>
                                          </p:val>
                                        </p:tav>
                                        <p:tav tm="100000">
                                          <p:val>
                                            <p:strVal val="#ppt_x"/>
                                          </p:val>
                                        </p:tav>
                                      </p:tavLst>
                                    </p:anim>
                                    <p:anim calcmode="lin" valueType="num">
                                      <p:cBhvr>
                                        <p:cTn id="19" dur="1000" fill="hold"/>
                                        <p:tgtEl>
                                          <p:spTgt spid="2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1000"/>
                                        <p:tgtEl>
                                          <p:spTgt spid="40"/>
                                        </p:tgtEl>
                                      </p:cBhvr>
                                    </p:animEffect>
                                    <p:anim calcmode="lin" valueType="num">
                                      <p:cBhvr>
                                        <p:cTn id="23" dur="1000" fill="hold"/>
                                        <p:tgtEl>
                                          <p:spTgt spid="40"/>
                                        </p:tgtEl>
                                        <p:attrNameLst>
                                          <p:attrName>ppt_x</p:attrName>
                                        </p:attrNameLst>
                                      </p:cBhvr>
                                      <p:tavLst>
                                        <p:tav tm="0">
                                          <p:val>
                                            <p:strVal val="#ppt_x"/>
                                          </p:val>
                                        </p:tav>
                                        <p:tav tm="100000">
                                          <p:val>
                                            <p:strVal val="#ppt_x"/>
                                          </p:val>
                                        </p:tav>
                                      </p:tavLst>
                                    </p:anim>
                                    <p:anim calcmode="lin" valueType="num">
                                      <p:cBhvr>
                                        <p:cTn id="24" dur="1000" fill="hold"/>
                                        <p:tgtEl>
                                          <p:spTgt spid="4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1000"/>
                                        <p:tgtEl>
                                          <p:spTgt spid="41"/>
                                        </p:tgtEl>
                                      </p:cBhvr>
                                    </p:animEffect>
                                    <p:anim calcmode="lin" valueType="num">
                                      <p:cBhvr>
                                        <p:cTn id="28" dur="1000" fill="hold"/>
                                        <p:tgtEl>
                                          <p:spTgt spid="41"/>
                                        </p:tgtEl>
                                        <p:attrNameLst>
                                          <p:attrName>ppt_x</p:attrName>
                                        </p:attrNameLst>
                                      </p:cBhvr>
                                      <p:tavLst>
                                        <p:tav tm="0">
                                          <p:val>
                                            <p:strVal val="#ppt_x"/>
                                          </p:val>
                                        </p:tav>
                                        <p:tav tm="100000">
                                          <p:val>
                                            <p:strVal val="#ppt_x"/>
                                          </p:val>
                                        </p:tav>
                                      </p:tavLst>
                                    </p:anim>
                                    <p:anim calcmode="lin" valueType="num">
                                      <p:cBhvr>
                                        <p:cTn id="29" dur="1000" fill="hold"/>
                                        <p:tgtEl>
                                          <p:spTgt spid="4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1000"/>
                                        <p:tgtEl>
                                          <p:spTgt spid="42"/>
                                        </p:tgtEl>
                                      </p:cBhvr>
                                    </p:animEffect>
                                    <p:anim calcmode="lin" valueType="num">
                                      <p:cBhvr>
                                        <p:cTn id="33" dur="1000" fill="hold"/>
                                        <p:tgtEl>
                                          <p:spTgt spid="42"/>
                                        </p:tgtEl>
                                        <p:attrNameLst>
                                          <p:attrName>ppt_x</p:attrName>
                                        </p:attrNameLst>
                                      </p:cBhvr>
                                      <p:tavLst>
                                        <p:tav tm="0">
                                          <p:val>
                                            <p:strVal val="#ppt_x"/>
                                          </p:val>
                                        </p:tav>
                                        <p:tav tm="100000">
                                          <p:val>
                                            <p:strVal val="#ppt_x"/>
                                          </p:val>
                                        </p:tav>
                                      </p:tavLst>
                                    </p:anim>
                                    <p:anim calcmode="lin" valueType="num">
                                      <p:cBhvr>
                                        <p:cTn id="34"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41" grpId="0"/>
      <p:bldP spid="4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wrap="square">
            <a:normAutofit/>
          </a:bodyPr>
          <a:lstStyle/>
          <a:p>
            <a:pPr lvl="0"/>
            <a:r>
              <a:rPr lang="en-US" dirty="0"/>
              <a:t>05.</a:t>
            </a:r>
            <a:r>
              <a:rPr lang="zh-CN" altLang="en-US" dirty="0"/>
              <a:t>作品结论</a:t>
            </a:r>
          </a:p>
        </p:txBody>
      </p:sp>
      <p:sp>
        <p:nvSpPr>
          <p:cNvPr id="25" name="Text Placeholder 24"/>
          <p:cNvSpPr>
            <a:spLocks noGrp="1"/>
          </p:cNvSpPr>
          <p:nvPr>
            <p:ph type="body" sz="quarter" idx="1"/>
          </p:nvPr>
        </p:nvSpPr>
        <p:spPr/>
        <p:txBody>
          <a:bodyPr wrap="square">
            <a:normAutofit/>
          </a:bodyPr>
          <a:lstStyle/>
          <a:p>
            <a:pPr lvl="0"/>
            <a:r>
              <a:rPr lang="zh-CN" altLang="en-US"/>
              <a:t>未来农业发展与政策</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ïŝḻíḑè"/>
          <p:cNvSpPr txBox="1"/>
          <p:nvPr/>
        </p:nvSpPr>
        <p:spPr>
          <a:xfrm>
            <a:off x="3809531" y="1361906"/>
            <a:ext cx="2236510" cy="400110"/>
          </a:xfrm>
          <a:prstGeom prst="rect">
            <a:avLst/>
          </a:prstGeom>
          <a:noFill/>
        </p:spPr>
        <p:txBody>
          <a:bodyPr wrap="none" rtlCol="0">
            <a:spAutoFit/>
          </a:bodyPr>
          <a:lstStyle/>
          <a:p>
            <a:pPr>
              <a:lnSpc>
                <a:spcPct val="100000"/>
              </a:lnSpc>
            </a:pPr>
            <a:r>
              <a:rPr lang="zh-CN" altLang="en-US" sz="2000" b="1" dirty="0">
                <a:sym typeface="+mn-ea"/>
              </a:rPr>
              <a:t>劳动力和种植结构</a:t>
            </a:r>
            <a:endParaRPr lang="zh-CN" altLang="en-US" sz="2400" b="1" dirty="0"/>
          </a:p>
        </p:txBody>
      </p:sp>
      <p:sp>
        <p:nvSpPr>
          <p:cNvPr id="16" name="îşļïďè"/>
          <p:cNvSpPr/>
          <p:nvPr/>
        </p:nvSpPr>
        <p:spPr>
          <a:xfrm flipH="1">
            <a:off x="3694424" y="1207941"/>
            <a:ext cx="115107" cy="733670"/>
          </a:xfrm>
          <a:prstGeom prst="roundRect">
            <a:avLst>
              <a:gd name="adj" fmla="val 44900"/>
            </a:avLst>
          </a:prstGeom>
          <a:gradFill>
            <a:gsLst>
              <a:gs pos="0">
                <a:schemeClr val="accent4">
                  <a:lumMod val="60000"/>
                  <a:lumOff val="40000"/>
                </a:schemeClr>
              </a:gs>
              <a:gs pos="60000">
                <a:schemeClr val="accent4"/>
              </a:gs>
            </a:gsLst>
            <a:lin ang="2700000" scaled="0"/>
          </a:gradFill>
          <a:ln w="57150" cap="rnd">
            <a:noFill/>
            <a:prstDash val="solid"/>
            <a:round/>
          </a:ln>
          <a:effectLst>
            <a:outerShdw blurRad="50800" dist="50800" dir="5400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1400" b="1" dirty="0">
              <a:solidFill>
                <a:schemeClr val="bg1"/>
              </a:solidFill>
            </a:endParaRPr>
          </a:p>
        </p:txBody>
      </p:sp>
      <p:grpSp>
        <p:nvGrpSpPr>
          <p:cNvPr id="27" name="ïṡḷiḓè"/>
          <p:cNvGrpSpPr/>
          <p:nvPr/>
        </p:nvGrpSpPr>
        <p:grpSpPr>
          <a:xfrm>
            <a:off x="3641859" y="4020748"/>
            <a:ext cx="2499487" cy="1314549"/>
            <a:chOff x="3754057" y="4020748"/>
            <a:chExt cx="2499487" cy="1314549"/>
          </a:xfrm>
        </p:grpSpPr>
        <p:sp>
          <p:nvSpPr>
            <p:cNvPr id="18" name="îṣļíďè"/>
            <p:cNvSpPr txBox="1"/>
            <p:nvPr>
              <p:custDataLst>
                <p:tags r:id="rId9"/>
              </p:custDataLst>
            </p:nvPr>
          </p:nvSpPr>
          <p:spPr>
            <a:xfrm>
              <a:off x="3754057" y="4020748"/>
              <a:ext cx="2039594" cy="338554"/>
            </a:xfrm>
            <a:prstGeom prst="rect">
              <a:avLst/>
            </a:prstGeom>
            <a:noFill/>
          </p:spPr>
          <p:txBody>
            <a:bodyPr wrap="none" rtlCol="0" anchor="b">
              <a:normAutofit/>
            </a:bodyPr>
            <a:lstStyle/>
            <a:p>
              <a:pPr>
                <a:lnSpc>
                  <a:spcPct val="100000"/>
                </a:lnSpc>
              </a:pPr>
              <a:r>
                <a:rPr lang="en-US" altLang="zh-CN" sz="1600" b="1" dirty="0">
                  <a:gradFill>
                    <a:gsLst>
                      <a:gs pos="0">
                        <a:schemeClr val="accent1">
                          <a:lumMod val="60000"/>
                          <a:lumOff val="40000"/>
                        </a:schemeClr>
                      </a:gs>
                      <a:gs pos="60000">
                        <a:schemeClr val="accent1"/>
                      </a:gs>
                    </a:gsLst>
                    <a:lin ang="2700000" scaled="0"/>
                  </a:gradFill>
                </a:rPr>
                <a:t>01. </a:t>
              </a:r>
              <a:r>
                <a:rPr lang="zh-CN" altLang="en-US" sz="1600" b="1" dirty="0">
                  <a:gradFill>
                    <a:gsLst>
                      <a:gs pos="0">
                        <a:schemeClr val="accent1">
                          <a:lumMod val="60000"/>
                          <a:lumOff val="40000"/>
                        </a:schemeClr>
                      </a:gs>
                      <a:gs pos="60000">
                        <a:schemeClr val="accent1"/>
                      </a:gs>
                    </a:gsLst>
                    <a:lin ang="2700000" scaled="0"/>
                  </a:gradFill>
                </a:rPr>
                <a:t>劳动力转移率</a:t>
              </a:r>
              <a:r>
                <a:rPr lang="en-US" altLang="zh-CN" sz="1600" b="1" dirty="0">
                  <a:gradFill>
                    <a:gsLst>
                      <a:gs pos="0">
                        <a:schemeClr val="accent1">
                          <a:lumMod val="60000"/>
                          <a:lumOff val="40000"/>
                        </a:schemeClr>
                      </a:gs>
                      <a:gs pos="60000">
                        <a:schemeClr val="accent1"/>
                      </a:gs>
                    </a:gsLst>
                    <a:lin ang="2700000" scaled="0"/>
                  </a:gradFill>
                </a:rPr>
                <a:t>+</a:t>
              </a:r>
              <a:r>
                <a:rPr lang="zh-CN" altLang="en-US" sz="1600" b="1" dirty="0">
                  <a:gradFill>
                    <a:gsLst>
                      <a:gs pos="0">
                        <a:schemeClr val="accent1">
                          <a:lumMod val="60000"/>
                          <a:lumOff val="40000"/>
                        </a:schemeClr>
                      </a:gs>
                      <a:gs pos="60000">
                        <a:schemeClr val="accent1"/>
                      </a:gs>
                    </a:gsLst>
                    <a:lin ang="2700000" scaled="0"/>
                  </a:gradFill>
                </a:rPr>
                <a:t>机械化</a:t>
              </a:r>
            </a:p>
          </p:txBody>
        </p:sp>
        <p:sp>
          <p:nvSpPr>
            <p:cNvPr id="20" name="iślíḑê"/>
            <p:cNvSpPr txBox="1"/>
            <p:nvPr>
              <p:custDataLst>
                <p:tags r:id="rId10"/>
              </p:custDataLst>
            </p:nvPr>
          </p:nvSpPr>
          <p:spPr>
            <a:xfrm>
              <a:off x="3772393" y="4359302"/>
              <a:ext cx="2481151" cy="975995"/>
            </a:xfrm>
            <a:prstGeom prst="rect">
              <a:avLst/>
            </a:prstGeom>
            <a:noFill/>
          </p:spPr>
          <p:txBody>
            <a:bodyPr wrap="square" rtlCol="0">
              <a:spAutoFit/>
            </a:bodyPr>
            <a:lstStyle/>
            <a:p>
              <a:pPr>
                <a:lnSpc>
                  <a:spcPct val="120000"/>
                </a:lnSpc>
              </a:pPr>
              <a:r>
                <a:rPr lang="zh-CN" altLang="en-US" sz="1200" dirty="0">
                  <a:solidFill>
                    <a:schemeClr val="tx1">
                      <a:lumMod val="85000"/>
                      <a:lumOff val="15000"/>
                      <a:alpha val="50000"/>
                    </a:schemeClr>
                  </a:solidFill>
                </a:rPr>
                <a:t>劳动力转移率的提高导致农业劳动力减少，农民调整种植结构，选择机械化程度高、劳动力需求少的作物。</a:t>
              </a:r>
            </a:p>
          </p:txBody>
        </p:sp>
      </p:grpSp>
      <p:grpSp>
        <p:nvGrpSpPr>
          <p:cNvPr id="21" name="işľiḍê"/>
          <p:cNvGrpSpPr/>
          <p:nvPr/>
        </p:nvGrpSpPr>
        <p:grpSpPr>
          <a:xfrm>
            <a:off x="6378787" y="4020748"/>
            <a:ext cx="2481149" cy="1093569"/>
            <a:chOff x="4022595" y="2178876"/>
            <a:chExt cx="2481149" cy="1093569"/>
          </a:xfrm>
        </p:grpSpPr>
        <p:sp>
          <p:nvSpPr>
            <p:cNvPr id="22" name="í$ļíḑe"/>
            <p:cNvSpPr txBox="1"/>
            <p:nvPr>
              <p:custDataLst>
                <p:tags r:id="rId7"/>
              </p:custDataLst>
            </p:nvPr>
          </p:nvSpPr>
          <p:spPr>
            <a:xfrm>
              <a:off x="4022595" y="2178876"/>
              <a:ext cx="2347033" cy="338554"/>
            </a:xfrm>
            <a:prstGeom prst="rect">
              <a:avLst/>
            </a:prstGeom>
            <a:noFill/>
          </p:spPr>
          <p:txBody>
            <a:bodyPr wrap="none" rtlCol="0" anchor="b">
              <a:normAutofit/>
            </a:bodyPr>
            <a:lstStyle/>
            <a:p>
              <a:pPr>
                <a:lnSpc>
                  <a:spcPct val="100000"/>
                </a:lnSpc>
              </a:pPr>
              <a:r>
                <a:rPr lang="en-US" altLang="zh-CN" sz="1600" b="1" dirty="0">
                  <a:gradFill>
                    <a:gsLst>
                      <a:gs pos="0">
                        <a:schemeClr val="accent2">
                          <a:lumMod val="60000"/>
                          <a:lumOff val="40000"/>
                        </a:schemeClr>
                      </a:gs>
                      <a:gs pos="60000">
                        <a:schemeClr val="accent2"/>
                      </a:gs>
                    </a:gsLst>
                    <a:lin ang="2700000" scaled="0"/>
                  </a:gradFill>
                </a:rPr>
                <a:t>02. </a:t>
              </a:r>
              <a:r>
                <a:rPr lang="zh-CN" altLang="en-US" sz="1600" b="1" dirty="0">
                  <a:gradFill>
                    <a:gsLst>
                      <a:gs pos="0">
                        <a:schemeClr val="accent2">
                          <a:lumMod val="60000"/>
                          <a:lumOff val="40000"/>
                        </a:schemeClr>
                      </a:gs>
                      <a:gs pos="60000">
                        <a:schemeClr val="accent2"/>
                      </a:gs>
                    </a:gsLst>
                    <a:lin ang="2700000" scaled="0"/>
                  </a:gradFill>
                </a:rPr>
                <a:t>劳动力成本</a:t>
              </a:r>
              <a:r>
                <a:rPr lang="en-US" altLang="zh-CN" sz="1600" b="1" dirty="0">
                  <a:gradFill>
                    <a:gsLst>
                      <a:gs pos="0">
                        <a:schemeClr val="accent2">
                          <a:lumMod val="60000"/>
                          <a:lumOff val="40000"/>
                        </a:schemeClr>
                      </a:gs>
                      <a:gs pos="60000">
                        <a:schemeClr val="accent2"/>
                      </a:gs>
                    </a:gsLst>
                    <a:lin ang="2700000" scaled="0"/>
                  </a:gradFill>
                </a:rPr>
                <a:t>+</a:t>
              </a:r>
              <a:r>
                <a:rPr lang="zh-CN" altLang="en-US" sz="1600" b="1" dirty="0">
                  <a:gradFill>
                    <a:gsLst>
                      <a:gs pos="0">
                        <a:schemeClr val="accent2">
                          <a:lumMod val="60000"/>
                          <a:lumOff val="40000"/>
                        </a:schemeClr>
                      </a:gs>
                      <a:gs pos="60000">
                        <a:schemeClr val="accent2"/>
                      </a:gs>
                    </a:gsLst>
                    <a:lin ang="2700000" scaled="0"/>
                  </a:gradFill>
                </a:rPr>
                <a:t>高利润</a:t>
              </a:r>
            </a:p>
          </p:txBody>
        </p:sp>
        <p:sp>
          <p:nvSpPr>
            <p:cNvPr id="23" name="îṩ1íďé"/>
            <p:cNvSpPr txBox="1"/>
            <p:nvPr>
              <p:custDataLst>
                <p:tags r:id="rId8"/>
              </p:custDataLst>
            </p:nvPr>
          </p:nvSpPr>
          <p:spPr>
            <a:xfrm>
              <a:off x="4022595" y="2517430"/>
              <a:ext cx="2481149" cy="755015"/>
            </a:xfrm>
            <a:prstGeom prst="rect">
              <a:avLst/>
            </a:prstGeom>
            <a:noFill/>
          </p:spPr>
          <p:txBody>
            <a:bodyPr wrap="square" rtlCol="0">
              <a:spAutoFit/>
            </a:bodyPr>
            <a:lstStyle/>
            <a:p>
              <a:pPr>
                <a:lnSpc>
                  <a:spcPct val="120000"/>
                </a:lnSpc>
              </a:pPr>
              <a:r>
                <a:rPr lang="zh-CN" altLang="en-US" sz="1200" dirty="0">
                  <a:solidFill>
                    <a:schemeClr val="tx1">
                      <a:lumMod val="85000"/>
                      <a:lumOff val="15000"/>
                      <a:alpha val="50000"/>
                    </a:schemeClr>
                  </a:solidFill>
                </a:rPr>
                <a:t>劳动力成本上升促使农民转向种植利润率高的作物，加大对现代化农业技术的应用。</a:t>
              </a:r>
            </a:p>
          </p:txBody>
        </p:sp>
      </p:grpSp>
      <p:sp>
        <p:nvSpPr>
          <p:cNvPr id="25" name="íṧľidê"/>
          <p:cNvSpPr txBox="1"/>
          <p:nvPr>
            <p:custDataLst>
              <p:tags r:id="rId2"/>
            </p:custDataLst>
          </p:nvPr>
        </p:nvSpPr>
        <p:spPr>
          <a:xfrm>
            <a:off x="8963261" y="4020748"/>
            <a:ext cx="2347032" cy="338554"/>
          </a:xfrm>
          <a:prstGeom prst="rect">
            <a:avLst/>
          </a:prstGeom>
          <a:noFill/>
        </p:spPr>
        <p:txBody>
          <a:bodyPr wrap="none" rtlCol="0" anchor="b">
            <a:normAutofit/>
          </a:bodyPr>
          <a:lstStyle/>
          <a:p>
            <a:pPr>
              <a:lnSpc>
                <a:spcPct val="100000"/>
              </a:lnSpc>
            </a:pPr>
            <a:r>
              <a:rPr lang="en-US" altLang="zh-CN" sz="1600" b="1" dirty="0">
                <a:gradFill>
                  <a:gsLst>
                    <a:gs pos="0">
                      <a:schemeClr val="accent3">
                        <a:lumMod val="60000"/>
                        <a:lumOff val="40000"/>
                      </a:schemeClr>
                    </a:gs>
                    <a:gs pos="60000">
                      <a:schemeClr val="accent3"/>
                    </a:gs>
                  </a:gsLst>
                  <a:lin ang="2700000" scaled="0"/>
                </a:gradFill>
              </a:rPr>
              <a:t>03. </a:t>
            </a:r>
            <a:r>
              <a:rPr lang="zh-CN" altLang="en-US" sz="1600" b="1" dirty="0">
                <a:gradFill>
                  <a:gsLst>
                    <a:gs pos="0">
                      <a:schemeClr val="accent3">
                        <a:lumMod val="60000"/>
                        <a:lumOff val="40000"/>
                      </a:schemeClr>
                    </a:gs>
                    <a:gs pos="60000">
                      <a:schemeClr val="accent3"/>
                    </a:gs>
                  </a:gsLst>
                  <a:lin ang="2700000" scaled="0"/>
                </a:gradFill>
              </a:rPr>
              <a:t>劳动力素质</a:t>
            </a:r>
            <a:r>
              <a:rPr lang="en-US" altLang="zh-CN" sz="1600" b="1" dirty="0">
                <a:gradFill>
                  <a:gsLst>
                    <a:gs pos="0">
                      <a:schemeClr val="accent3">
                        <a:lumMod val="60000"/>
                        <a:lumOff val="40000"/>
                      </a:schemeClr>
                    </a:gs>
                    <a:gs pos="60000">
                      <a:schemeClr val="accent3"/>
                    </a:gs>
                  </a:gsLst>
                  <a:lin ang="2700000" scaled="0"/>
                </a:gradFill>
              </a:rPr>
              <a:t>+</a:t>
            </a:r>
            <a:r>
              <a:rPr lang="zh-CN" altLang="en-US" sz="1600" b="1" dirty="0">
                <a:gradFill>
                  <a:gsLst>
                    <a:gs pos="0">
                      <a:schemeClr val="accent3">
                        <a:lumMod val="60000"/>
                        <a:lumOff val="40000"/>
                      </a:schemeClr>
                    </a:gs>
                    <a:gs pos="60000">
                      <a:schemeClr val="accent3"/>
                    </a:gs>
                  </a:gsLst>
                  <a:lin ang="2700000" scaled="0"/>
                </a:gradFill>
              </a:rPr>
              <a:t>高科技</a:t>
            </a:r>
          </a:p>
        </p:txBody>
      </p:sp>
      <p:sp>
        <p:nvSpPr>
          <p:cNvPr id="26" name="iṡḻíḋé"/>
          <p:cNvSpPr txBox="1"/>
          <p:nvPr>
            <p:custDataLst>
              <p:tags r:id="rId3"/>
            </p:custDataLst>
          </p:nvPr>
        </p:nvSpPr>
        <p:spPr>
          <a:xfrm>
            <a:off x="8963261" y="4359302"/>
            <a:ext cx="2481149" cy="755015"/>
          </a:xfrm>
          <a:prstGeom prst="rect">
            <a:avLst/>
          </a:prstGeom>
          <a:noFill/>
        </p:spPr>
        <p:txBody>
          <a:bodyPr wrap="square" rtlCol="0">
            <a:spAutoFit/>
          </a:bodyPr>
          <a:lstStyle/>
          <a:p>
            <a:pPr>
              <a:lnSpc>
                <a:spcPct val="120000"/>
              </a:lnSpc>
            </a:pPr>
            <a:r>
              <a:rPr lang="zh-CN" altLang="en-US" sz="1200" dirty="0">
                <a:solidFill>
                  <a:schemeClr val="tx1">
                    <a:lumMod val="85000"/>
                    <a:lumOff val="15000"/>
                    <a:alpha val="50000"/>
                  </a:schemeClr>
                </a:solidFill>
              </a:rPr>
              <a:t>高素质的劳动力更易适应现代农业生产方式，倾向于种植高附加值、高科技含量的作物。</a:t>
            </a:r>
          </a:p>
        </p:txBody>
      </p:sp>
      <p:cxnSp>
        <p:nvCxnSpPr>
          <p:cNvPr id="29" name="ïṥḻîḓé"/>
          <p:cNvCxnSpPr/>
          <p:nvPr>
            <p:custDataLst>
              <p:tags r:id="rId4"/>
            </p:custDataLst>
          </p:nvPr>
        </p:nvCxnSpPr>
        <p:spPr>
          <a:xfrm flipH="1">
            <a:off x="3707125" y="6072415"/>
            <a:ext cx="2401575" cy="0"/>
          </a:xfrm>
          <a:prstGeom prst="line">
            <a:avLst/>
          </a:prstGeom>
          <a:ln w="76200" cap="rnd">
            <a:gradFill>
              <a:gsLst>
                <a:gs pos="100000">
                  <a:schemeClr val="bg1">
                    <a:lumMod val="95000"/>
                    <a:alpha val="0"/>
                  </a:schemeClr>
                </a:gs>
                <a:gs pos="20000">
                  <a:schemeClr val="accent1"/>
                </a:gs>
              </a:gsLst>
              <a:lin ang="12000000" scaled="0"/>
            </a:gradFill>
            <a:round/>
          </a:ln>
        </p:spPr>
        <p:style>
          <a:lnRef idx="1">
            <a:schemeClr val="accent1"/>
          </a:lnRef>
          <a:fillRef idx="0">
            <a:schemeClr val="accent1"/>
          </a:fillRef>
          <a:effectRef idx="0">
            <a:schemeClr val="accent1"/>
          </a:effectRef>
          <a:fontRef idx="minor">
            <a:schemeClr val="tx1"/>
          </a:fontRef>
        </p:style>
      </p:cxnSp>
      <p:cxnSp>
        <p:nvCxnSpPr>
          <p:cNvPr id="32" name="íṥ1idè"/>
          <p:cNvCxnSpPr/>
          <p:nvPr>
            <p:custDataLst>
              <p:tags r:id="rId5"/>
            </p:custDataLst>
          </p:nvPr>
        </p:nvCxnSpPr>
        <p:spPr>
          <a:xfrm flipH="1">
            <a:off x="6458361" y="6056547"/>
            <a:ext cx="2401575" cy="0"/>
          </a:xfrm>
          <a:prstGeom prst="line">
            <a:avLst/>
          </a:prstGeom>
          <a:ln w="76200" cap="rnd">
            <a:gradFill>
              <a:gsLst>
                <a:gs pos="100000">
                  <a:schemeClr val="bg1">
                    <a:lumMod val="95000"/>
                    <a:alpha val="0"/>
                  </a:schemeClr>
                </a:gs>
                <a:gs pos="20000">
                  <a:schemeClr val="accent2"/>
                </a:gs>
              </a:gsLst>
              <a:lin ang="12000000" scaled="0"/>
            </a:gradFill>
            <a:round/>
          </a:ln>
        </p:spPr>
        <p:style>
          <a:lnRef idx="1">
            <a:schemeClr val="accent1"/>
          </a:lnRef>
          <a:fillRef idx="0">
            <a:schemeClr val="accent1"/>
          </a:fillRef>
          <a:effectRef idx="0">
            <a:schemeClr val="accent1"/>
          </a:effectRef>
          <a:fontRef idx="minor">
            <a:schemeClr val="tx1"/>
          </a:fontRef>
        </p:style>
      </p:cxnSp>
      <p:cxnSp>
        <p:nvCxnSpPr>
          <p:cNvPr id="33" name="íSḷiďè"/>
          <p:cNvCxnSpPr/>
          <p:nvPr>
            <p:custDataLst>
              <p:tags r:id="rId6"/>
            </p:custDataLst>
          </p:nvPr>
        </p:nvCxnSpPr>
        <p:spPr>
          <a:xfrm flipH="1">
            <a:off x="9130025" y="6036384"/>
            <a:ext cx="2401575" cy="0"/>
          </a:xfrm>
          <a:prstGeom prst="line">
            <a:avLst/>
          </a:prstGeom>
          <a:ln w="76200" cap="rnd">
            <a:gradFill>
              <a:gsLst>
                <a:gs pos="100000">
                  <a:schemeClr val="bg1">
                    <a:lumMod val="95000"/>
                    <a:alpha val="0"/>
                  </a:schemeClr>
                </a:gs>
                <a:gs pos="20000">
                  <a:schemeClr val="accent3"/>
                </a:gs>
              </a:gsLst>
              <a:lin ang="12000000" scaled="0"/>
            </a:gradFill>
            <a:round/>
          </a:ln>
        </p:spPr>
        <p:style>
          <a:lnRef idx="1">
            <a:schemeClr val="accent1"/>
          </a:lnRef>
          <a:fillRef idx="0">
            <a:schemeClr val="accent1"/>
          </a:fillRef>
          <a:effectRef idx="0">
            <a:schemeClr val="accent1"/>
          </a:effectRef>
          <a:fontRef idx="minor">
            <a:schemeClr val="tx1"/>
          </a:fontRef>
        </p:style>
      </p:cxnSp>
      <p:sp>
        <p:nvSpPr>
          <p:cNvPr id="35" name="Title 34"/>
          <p:cNvSpPr>
            <a:spLocks noGrp="1"/>
          </p:cNvSpPr>
          <p:nvPr>
            <p:ph type="title"/>
          </p:nvPr>
        </p:nvSpPr>
        <p:spPr/>
        <p:txBody>
          <a:bodyPr wrap="square">
            <a:normAutofit/>
          </a:bodyPr>
          <a:lstStyle/>
          <a:p>
            <a:pPr lvl="0"/>
            <a:r>
              <a:rPr lang="zh-CN" altLang="en-US" dirty="0"/>
              <a:t>作品结论</a:t>
            </a:r>
            <a:endParaRPr lang="en-US" dirty="0"/>
          </a:p>
        </p:txBody>
      </p:sp>
      <p:pic>
        <p:nvPicPr>
          <p:cNvPr id="3" name="图片 3" descr="IMG_256"/>
          <p:cNvPicPr>
            <a:picLocks noChangeAspect="1"/>
          </p:cNvPicPr>
          <p:nvPr/>
        </p:nvPicPr>
        <p:blipFill>
          <a:blip r:embed="rId12"/>
          <a:srcRect l="2601" t="8086" r="1610" b="1801"/>
          <a:stretch>
            <a:fillRect/>
          </a:stretch>
        </p:blipFill>
        <p:spPr>
          <a:xfrm>
            <a:off x="3660195" y="2073376"/>
            <a:ext cx="2480945" cy="175069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图片 3"/>
          <p:cNvPicPr>
            <a:picLocks noChangeAspect="1"/>
          </p:cNvPicPr>
          <p:nvPr/>
        </p:nvPicPr>
        <p:blipFill rotWithShape="1">
          <a:blip r:embed="rId13" cstate="print">
            <a:extLst>
              <a:ext uri="{28A0092B-C50C-407E-A947-70E740481C1C}">
                <a14:useLocalDpi xmlns:a14="http://schemas.microsoft.com/office/drawing/2010/main" val="0"/>
              </a:ext>
            </a:extLst>
          </a:blip>
          <a:srcRect l="5199" t="8000" r="7733" b="3422"/>
          <a:stretch>
            <a:fillRect/>
          </a:stretch>
        </p:blipFill>
        <p:spPr>
          <a:xfrm>
            <a:off x="6360253" y="2073376"/>
            <a:ext cx="2546417" cy="177809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图片 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30025" y="2087075"/>
            <a:ext cx="2513587" cy="1778096"/>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6" name="Picture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4564" y="1145188"/>
            <a:ext cx="2847783" cy="500379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文本框 6"/>
          <p:cNvSpPr txBox="1"/>
          <p:nvPr/>
        </p:nvSpPr>
        <p:spPr>
          <a:xfrm>
            <a:off x="5915261" y="1291870"/>
            <a:ext cx="6096000" cy="461665"/>
          </a:xfrm>
          <a:prstGeom prst="rect">
            <a:avLst/>
          </a:prstGeom>
          <a:noFill/>
        </p:spPr>
        <p:txBody>
          <a:bodyPr wrap="square">
            <a:spAutoFit/>
          </a:bodyPr>
          <a:lstStyle/>
          <a:p>
            <a:r>
              <a:rPr lang="zh-CN" altLang="en-US" sz="2000" b="1" dirty="0">
                <a:sym typeface="+mn-ea"/>
              </a:rPr>
              <a:t>：</a:t>
            </a:r>
            <a:r>
              <a:rPr lang="zh-CN" altLang="en-US" sz="2400" b="1" dirty="0"/>
              <a:t>相互依存、相互影响</a:t>
            </a:r>
            <a:endParaRPr lang="zh-CN" altLang="en-US" sz="2400"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anim calcmode="lin" valueType="num">
                                      <p:cBhvr>
                                        <p:cTn id="13" dur="1000" fill="hold"/>
                                        <p:tgtEl>
                                          <p:spTgt spid="27"/>
                                        </p:tgtEl>
                                        <p:attrNameLst>
                                          <p:attrName>ppt_x</p:attrName>
                                        </p:attrNameLst>
                                      </p:cBhvr>
                                      <p:tavLst>
                                        <p:tav tm="0">
                                          <p:val>
                                            <p:strVal val="#ppt_x"/>
                                          </p:val>
                                        </p:tav>
                                        <p:tav tm="100000">
                                          <p:val>
                                            <p:strVal val="#ppt_x"/>
                                          </p:val>
                                        </p:tav>
                                      </p:tavLst>
                                    </p:anim>
                                    <p:anim calcmode="lin" valueType="num">
                                      <p:cBhvr>
                                        <p:cTn id="1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1000"/>
                                        <p:tgtEl>
                                          <p:spTgt spid="21"/>
                                        </p:tgtEl>
                                      </p:cBhvr>
                                    </p:animEffect>
                                    <p:anim calcmode="lin" valueType="num">
                                      <p:cBhvr>
                                        <p:cTn id="25" dur="1000" fill="hold"/>
                                        <p:tgtEl>
                                          <p:spTgt spid="21"/>
                                        </p:tgtEl>
                                        <p:attrNameLst>
                                          <p:attrName>ppt_x</p:attrName>
                                        </p:attrNameLst>
                                      </p:cBhvr>
                                      <p:tavLst>
                                        <p:tav tm="0">
                                          <p:val>
                                            <p:strVal val="#ppt_x"/>
                                          </p:val>
                                        </p:tav>
                                        <p:tav tm="100000">
                                          <p:val>
                                            <p:strVal val="#ppt_x"/>
                                          </p:val>
                                        </p:tav>
                                      </p:tavLst>
                                    </p:anim>
                                    <p:anim calcmode="lin" valueType="num">
                                      <p:cBhvr>
                                        <p:cTn id="2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1000"/>
                                        <p:tgtEl>
                                          <p:spTgt spid="25"/>
                                        </p:tgtEl>
                                      </p:cBhvr>
                                    </p:animEffect>
                                    <p:anim calcmode="lin" valueType="num">
                                      <p:cBhvr>
                                        <p:cTn id="37" dur="1000" fill="hold"/>
                                        <p:tgtEl>
                                          <p:spTgt spid="25"/>
                                        </p:tgtEl>
                                        <p:attrNameLst>
                                          <p:attrName>ppt_x</p:attrName>
                                        </p:attrNameLst>
                                      </p:cBhvr>
                                      <p:tavLst>
                                        <p:tav tm="0">
                                          <p:val>
                                            <p:strVal val="#ppt_x"/>
                                          </p:val>
                                        </p:tav>
                                        <p:tav tm="100000">
                                          <p:val>
                                            <p:strVal val="#ppt_x"/>
                                          </p:val>
                                        </p:tav>
                                      </p:tavLst>
                                    </p:anim>
                                    <p:anim calcmode="lin" valueType="num">
                                      <p:cBhvr>
                                        <p:cTn id="38" dur="1000" fill="hold"/>
                                        <p:tgtEl>
                                          <p:spTgt spid="25"/>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barn(inVertical)">
                                      <p:cBhvr>
                                        <p:cTn id="4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4751" y="1259870"/>
            <a:ext cx="2045674" cy="461665"/>
          </a:xfrm>
          <a:prstGeom prst="rect">
            <a:avLst/>
          </a:prstGeom>
          <a:noFill/>
        </p:spPr>
        <p:txBody>
          <a:bodyPr wrap="square">
            <a:spAutoFit/>
          </a:bodyPr>
          <a:lstStyle/>
          <a:p>
            <a:pPr marL="0" marR="0" lvl="0" indent="0" defTabSz="913765" rtl="0" eaLnBrk="1" fontAlgn="auto" latinLnBrk="0" hangingPunct="1">
              <a:lnSpc>
                <a:spcPct val="100000"/>
              </a:lnSpc>
              <a:spcBef>
                <a:spcPts val="0"/>
              </a:spcBef>
              <a:spcAft>
                <a:spcPts val="0"/>
              </a:spcAft>
              <a:buClrTx/>
              <a:buSzPct val="25000"/>
              <a:buFontTx/>
              <a:buNone/>
              <a:defRPr/>
            </a:pPr>
            <a:r>
              <a:rPr lang="zh-CN" altLang="en-US" sz="2400" b="1" dirty="0"/>
              <a:t>助推乡村振兴</a:t>
            </a:r>
            <a:endParaRPr kumimoji="0" lang="zh-CN" altLang="en-US" sz="2400" b="1" i="0" u="none" strike="noStrike" kern="1200" cap="none" spc="0" normalizeH="0" baseline="0" noProof="0" dirty="0">
              <a:solidFill>
                <a:schemeClr val="tx1"/>
              </a:solidFill>
            </a:endParaRPr>
          </a:p>
        </p:txBody>
      </p:sp>
      <p:grpSp>
        <p:nvGrpSpPr>
          <p:cNvPr id="15" name="组合 14">
            <a:extLst>
              <a:ext uri="{FF2B5EF4-FFF2-40B4-BE49-F238E27FC236}">
                <a16:creationId xmlns:a16="http://schemas.microsoft.com/office/drawing/2014/main" id="{D773CF1D-A50C-9447-73E8-45CC68E73D2F}"/>
              </a:ext>
            </a:extLst>
          </p:cNvPr>
          <p:cNvGrpSpPr/>
          <p:nvPr/>
        </p:nvGrpSpPr>
        <p:grpSpPr>
          <a:xfrm>
            <a:off x="6768353" y="1942739"/>
            <a:ext cx="4395517" cy="1175333"/>
            <a:chOff x="6768353" y="1942739"/>
            <a:chExt cx="4395517" cy="1175333"/>
          </a:xfrm>
        </p:grpSpPr>
        <p:sp>
          <p:nvSpPr>
            <p:cNvPr id="6" name="圆角矩形 5"/>
            <p:cNvSpPr/>
            <p:nvPr/>
          </p:nvSpPr>
          <p:spPr>
            <a:xfrm>
              <a:off x="6768353" y="1942739"/>
              <a:ext cx="4395517" cy="1175333"/>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p>
          </p:txBody>
        </p:sp>
        <p:sp>
          <p:nvSpPr>
            <p:cNvPr id="7" name="文本框 6"/>
            <p:cNvSpPr txBox="1"/>
            <p:nvPr/>
          </p:nvSpPr>
          <p:spPr>
            <a:xfrm>
              <a:off x="8400855" y="2129568"/>
              <a:ext cx="2000863" cy="369332"/>
            </a:xfrm>
            <a:prstGeom prst="rect">
              <a:avLst/>
            </a:prstGeom>
            <a:noFill/>
          </p:spPr>
          <p:txBody>
            <a:bodyPr wrap="none" rtlCol="0" anchor="b">
              <a:normAutofit/>
            </a:bodyPr>
            <a:lstStyle/>
            <a:p>
              <a:r>
                <a:rPr lang="zh-CN" altLang="en-US" sz="1600" b="1" dirty="0">
                  <a:solidFill>
                    <a:schemeClr val="bg2">
                      <a:lumMod val="10000"/>
                    </a:schemeClr>
                  </a:solidFill>
                </a:rPr>
                <a:t>调整结构</a:t>
              </a:r>
            </a:p>
          </p:txBody>
        </p:sp>
        <p:sp>
          <p:nvSpPr>
            <p:cNvPr id="8" name="文本框 7"/>
            <p:cNvSpPr txBox="1"/>
            <p:nvPr/>
          </p:nvSpPr>
          <p:spPr>
            <a:xfrm>
              <a:off x="7530503" y="2587893"/>
              <a:ext cx="2871215" cy="294824"/>
            </a:xfrm>
            <a:prstGeom prst="rect">
              <a:avLst/>
            </a:prstGeom>
            <a:noFill/>
          </p:spPr>
          <p:txBody>
            <a:bodyPr wrap="square" rtlCol="0">
              <a:spAutoFit/>
            </a:bodyPr>
            <a:lstStyle/>
            <a:p>
              <a:pPr marR="0" lvl="0" indent="0" defTabSz="913765" fontAlgn="auto">
                <a:lnSpc>
                  <a:spcPct val="120000"/>
                </a:lnSpc>
                <a:spcBef>
                  <a:spcPts val="0"/>
                </a:spcBef>
                <a:spcAft>
                  <a:spcPts val="0"/>
                </a:spcAft>
                <a:buClrTx/>
                <a:buSzPct val="25000"/>
                <a:buFontTx/>
                <a:buNone/>
                <a:defRPr/>
              </a:pPr>
              <a:r>
                <a:rPr lang="zh-CN" altLang="en-US" sz="1200" dirty="0"/>
                <a:t>自然特征结构、劳动力结构、市场结构</a:t>
              </a:r>
            </a:p>
          </p:txBody>
        </p:sp>
      </p:grpSp>
      <p:grpSp>
        <p:nvGrpSpPr>
          <p:cNvPr id="16" name="组合 15">
            <a:extLst>
              <a:ext uri="{FF2B5EF4-FFF2-40B4-BE49-F238E27FC236}">
                <a16:creationId xmlns:a16="http://schemas.microsoft.com/office/drawing/2014/main" id="{13E0F9C3-44F3-D47B-DB36-5BA66DAC9CD0}"/>
              </a:ext>
            </a:extLst>
          </p:cNvPr>
          <p:cNvGrpSpPr/>
          <p:nvPr/>
        </p:nvGrpSpPr>
        <p:grpSpPr>
          <a:xfrm>
            <a:off x="6768353" y="3451317"/>
            <a:ext cx="4395517" cy="1175333"/>
            <a:chOff x="6768353" y="3451317"/>
            <a:chExt cx="4395517" cy="1175333"/>
          </a:xfrm>
        </p:grpSpPr>
        <p:sp>
          <p:nvSpPr>
            <p:cNvPr id="9" name="圆角矩形 8"/>
            <p:cNvSpPr/>
            <p:nvPr/>
          </p:nvSpPr>
          <p:spPr>
            <a:xfrm>
              <a:off x="6768353" y="3451317"/>
              <a:ext cx="4395517" cy="1175333"/>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p>
          </p:txBody>
        </p:sp>
        <p:sp>
          <p:nvSpPr>
            <p:cNvPr id="10" name="文本框 9"/>
            <p:cNvSpPr txBox="1"/>
            <p:nvPr/>
          </p:nvSpPr>
          <p:spPr>
            <a:xfrm>
              <a:off x="8400855" y="3542919"/>
              <a:ext cx="2000863" cy="369332"/>
            </a:xfrm>
            <a:prstGeom prst="rect">
              <a:avLst/>
            </a:prstGeom>
            <a:noFill/>
          </p:spPr>
          <p:txBody>
            <a:bodyPr wrap="none" rtlCol="0" anchor="b">
              <a:normAutofit/>
            </a:bodyPr>
            <a:lstStyle/>
            <a:p>
              <a:r>
                <a:rPr lang="zh-CN" altLang="en-US" sz="1600" b="1" dirty="0">
                  <a:solidFill>
                    <a:schemeClr val="bg2">
                      <a:lumMod val="10000"/>
                    </a:schemeClr>
                  </a:solidFill>
                </a:rPr>
                <a:t>生态保护</a:t>
              </a:r>
            </a:p>
          </p:txBody>
        </p:sp>
        <p:sp>
          <p:nvSpPr>
            <p:cNvPr id="11" name="文本框 10"/>
            <p:cNvSpPr txBox="1"/>
            <p:nvPr/>
          </p:nvSpPr>
          <p:spPr>
            <a:xfrm>
              <a:off x="7659235" y="4027088"/>
              <a:ext cx="2613749" cy="294824"/>
            </a:xfrm>
            <a:prstGeom prst="rect">
              <a:avLst/>
            </a:prstGeom>
            <a:noFill/>
          </p:spPr>
          <p:txBody>
            <a:bodyPr wrap="square" rtlCol="0">
              <a:spAutoFit/>
            </a:bodyPr>
            <a:lstStyle/>
            <a:p>
              <a:pPr marR="0" lvl="0" indent="0" defTabSz="913765" fontAlgn="auto">
                <a:lnSpc>
                  <a:spcPct val="120000"/>
                </a:lnSpc>
                <a:spcBef>
                  <a:spcPts val="0"/>
                </a:spcBef>
                <a:spcAft>
                  <a:spcPts val="0"/>
                </a:spcAft>
                <a:buClrTx/>
                <a:buSzPct val="25000"/>
                <a:buFontTx/>
                <a:buNone/>
                <a:defRPr/>
              </a:pPr>
              <a:r>
                <a:rPr lang="zh-CN" altLang="en-US" sz="1200" dirty="0"/>
                <a:t>政策制定、加强实践、推广宣传</a:t>
              </a:r>
              <a:endParaRPr lang="en-US" altLang="zh-CN" sz="1200" dirty="0"/>
            </a:p>
          </p:txBody>
        </p:sp>
      </p:grpSp>
      <p:grpSp>
        <p:nvGrpSpPr>
          <p:cNvPr id="17" name="组合 16">
            <a:extLst>
              <a:ext uri="{FF2B5EF4-FFF2-40B4-BE49-F238E27FC236}">
                <a16:creationId xmlns:a16="http://schemas.microsoft.com/office/drawing/2014/main" id="{31F0A74D-7A6E-41FE-070C-09DE5130A331}"/>
              </a:ext>
            </a:extLst>
          </p:cNvPr>
          <p:cNvGrpSpPr/>
          <p:nvPr/>
        </p:nvGrpSpPr>
        <p:grpSpPr>
          <a:xfrm>
            <a:off x="6768353" y="4995982"/>
            <a:ext cx="4395517" cy="1175333"/>
            <a:chOff x="6768353" y="4995982"/>
            <a:chExt cx="4395517" cy="1175333"/>
          </a:xfrm>
        </p:grpSpPr>
        <p:sp>
          <p:nvSpPr>
            <p:cNvPr id="12" name="圆角矩形 11"/>
            <p:cNvSpPr/>
            <p:nvPr/>
          </p:nvSpPr>
          <p:spPr>
            <a:xfrm>
              <a:off x="6768353" y="4995982"/>
              <a:ext cx="4395517" cy="1175333"/>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p>
          </p:txBody>
        </p:sp>
        <p:sp>
          <p:nvSpPr>
            <p:cNvPr id="13" name="文本框 12"/>
            <p:cNvSpPr txBox="1"/>
            <p:nvPr/>
          </p:nvSpPr>
          <p:spPr>
            <a:xfrm>
              <a:off x="8400855" y="5143499"/>
              <a:ext cx="2000863" cy="369332"/>
            </a:xfrm>
            <a:prstGeom prst="rect">
              <a:avLst/>
            </a:prstGeom>
            <a:noFill/>
          </p:spPr>
          <p:txBody>
            <a:bodyPr wrap="none" rtlCol="0" anchor="b">
              <a:normAutofit/>
            </a:bodyPr>
            <a:lstStyle/>
            <a:p>
              <a:r>
                <a:rPr lang="zh-CN" altLang="en-US" sz="1600" b="1" dirty="0">
                  <a:solidFill>
                    <a:schemeClr val="bg2">
                      <a:lumMod val="10000"/>
                    </a:schemeClr>
                  </a:solidFill>
                </a:rPr>
                <a:t>高效农业</a:t>
              </a:r>
            </a:p>
          </p:txBody>
        </p:sp>
        <p:sp>
          <p:nvSpPr>
            <p:cNvPr id="14" name="文本框 13"/>
            <p:cNvSpPr txBox="1"/>
            <p:nvPr/>
          </p:nvSpPr>
          <p:spPr>
            <a:xfrm>
              <a:off x="7787969" y="5583648"/>
              <a:ext cx="2613749" cy="294824"/>
            </a:xfrm>
            <a:prstGeom prst="rect">
              <a:avLst/>
            </a:prstGeom>
            <a:noFill/>
          </p:spPr>
          <p:txBody>
            <a:bodyPr wrap="square" rtlCol="0">
              <a:spAutoFit/>
            </a:bodyPr>
            <a:lstStyle/>
            <a:p>
              <a:pPr marR="0" lvl="0" indent="0" defTabSz="913765" fontAlgn="auto">
                <a:lnSpc>
                  <a:spcPct val="120000"/>
                </a:lnSpc>
                <a:spcBef>
                  <a:spcPts val="0"/>
                </a:spcBef>
                <a:spcAft>
                  <a:spcPts val="0"/>
                </a:spcAft>
                <a:buClrTx/>
                <a:buSzPct val="25000"/>
                <a:buFontTx/>
                <a:buNone/>
                <a:defRPr/>
              </a:pPr>
              <a:r>
                <a:rPr lang="zh-CN" altLang="en-US" sz="1200" dirty="0"/>
                <a:t>科技高效、结构高效、动力高效</a:t>
              </a:r>
            </a:p>
          </p:txBody>
        </p:sp>
      </p:grpSp>
      <p:sp>
        <p:nvSpPr>
          <p:cNvPr id="36" name="Title 35"/>
          <p:cNvSpPr>
            <a:spLocks noGrp="1"/>
          </p:cNvSpPr>
          <p:nvPr>
            <p:ph type="title"/>
          </p:nvPr>
        </p:nvSpPr>
        <p:spPr/>
        <p:txBody>
          <a:bodyPr wrap="square">
            <a:normAutofit/>
          </a:bodyPr>
          <a:lstStyle/>
          <a:p>
            <a:pPr lvl="0"/>
            <a:r>
              <a:rPr lang="zh-CN" altLang="en-US" dirty="0"/>
              <a:t>建言献策</a:t>
            </a:r>
            <a:endParaRPr lang="en-US" dirty="0"/>
          </a:p>
        </p:txBody>
      </p:sp>
      <p:sp>
        <p:nvSpPr>
          <p:cNvPr id="5" name="文本框 4">
            <a:extLst>
              <a:ext uri="{FF2B5EF4-FFF2-40B4-BE49-F238E27FC236}">
                <a16:creationId xmlns:a16="http://schemas.microsoft.com/office/drawing/2014/main" id="{1F1CCFF3-12D1-58D3-4A20-947E6E33ACDC}"/>
              </a:ext>
            </a:extLst>
          </p:cNvPr>
          <p:cNvSpPr txBox="1"/>
          <p:nvPr/>
        </p:nvSpPr>
        <p:spPr>
          <a:xfrm>
            <a:off x="2796988" y="1260808"/>
            <a:ext cx="2259106" cy="461665"/>
          </a:xfrm>
          <a:prstGeom prst="rect">
            <a:avLst/>
          </a:prstGeom>
          <a:noFill/>
        </p:spPr>
        <p:txBody>
          <a:bodyPr wrap="square" rtlCol="0">
            <a:spAutoFit/>
          </a:bodyPr>
          <a:lstStyle/>
          <a:p>
            <a:r>
              <a:rPr lang="zh-CN" altLang="en-US" sz="2400" b="1" dirty="0"/>
              <a:t>：因地制宜</a:t>
            </a:r>
          </a:p>
        </p:txBody>
      </p:sp>
      <p:sp>
        <p:nvSpPr>
          <p:cNvPr id="48" name="箭头: 燕尾形 47">
            <a:extLst>
              <a:ext uri="{FF2B5EF4-FFF2-40B4-BE49-F238E27FC236}">
                <a16:creationId xmlns:a16="http://schemas.microsoft.com/office/drawing/2014/main" id="{E1E5E396-992F-FA6F-BA9B-733F0407E1FE}"/>
              </a:ext>
            </a:extLst>
          </p:cNvPr>
          <p:cNvSpPr/>
          <p:nvPr/>
        </p:nvSpPr>
        <p:spPr>
          <a:xfrm rot="16200000">
            <a:off x="8606288" y="4547528"/>
            <a:ext cx="719641" cy="527576"/>
          </a:xfrm>
          <a:prstGeom prst="notched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49" name="箭头: 燕尾形 48">
            <a:extLst>
              <a:ext uri="{FF2B5EF4-FFF2-40B4-BE49-F238E27FC236}">
                <a16:creationId xmlns:a16="http://schemas.microsoft.com/office/drawing/2014/main" id="{6B963ACA-1197-8AE3-AE63-F21960E596F5}"/>
              </a:ext>
            </a:extLst>
          </p:cNvPr>
          <p:cNvSpPr/>
          <p:nvPr/>
        </p:nvSpPr>
        <p:spPr>
          <a:xfrm rot="16200000">
            <a:off x="8606289" y="2992200"/>
            <a:ext cx="719641" cy="527576"/>
          </a:xfrm>
          <a:prstGeom prst="notchedRightArrow">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57" name="组合 56">
            <a:extLst>
              <a:ext uri="{FF2B5EF4-FFF2-40B4-BE49-F238E27FC236}">
                <a16:creationId xmlns:a16="http://schemas.microsoft.com/office/drawing/2014/main" id="{62381811-F620-9496-4515-6F9D8FF947BC}"/>
              </a:ext>
            </a:extLst>
          </p:cNvPr>
          <p:cNvGrpSpPr/>
          <p:nvPr/>
        </p:nvGrpSpPr>
        <p:grpSpPr>
          <a:xfrm>
            <a:off x="4552875" y="3612849"/>
            <a:ext cx="1645148" cy="3248953"/>
            <a:chOff x="4552875" y="3612849"/>
            <a:chExt cx="1645148" cy="3248953"/>
          </a:xfrm>
        </p:grpSpPr>
        <p:sp>
          <p:nvSpPr>
            <p:cNvPr id="33" name="任意多边形 32"/>
            <p:cNvSpPr/>
            <p:nvPr/>
          </p:nvSpPr>
          <p:spPr>
            <a:xfrm>
              <a:off x="4575641" y="3612849"/>
              <a:ext cx="1622382" cy="227840"/>
            </a:xfrm>
            <a:custGeom>
              <a:avLst/>
              <a:gdLst>
                <a:gd name="connsiteX0" fmla="*/ 83189 w 1848634"/>
                <a:gd name="connsiteY0" fmla="*/ 0 h 227840"/>
                <a:gd name="connsiteX1" fmla="*/ 1765445 w 1848634"/>
                <a:gd name="connsiteY1" fmla="*/ 0 h 227840"/>
                <a:gd name="connsiteX2" fmla="*/ 1848634 w 1848634"/>
                <a:gd name="connsiteY2" fmla="*/ 83189 h 227840"/>
                <a:gd name="connsiteX3" fmla="*/ 1848634 w 1848634"/>
                <a:gd name="connsiteY3" fmla="*/ 227840 h 227840"/>
                <a:gd name="connsiteX4" fmla="*/ 0 w 1848634"/>
                <a:gd name="connsiteY4" fmla="*/ 227840 h 227840"/>
                <a:gd name="connsiteX5" fmla="*/ 0 w 1848634"/>
                <a:gd name="connsiteY5" fmla="*/ 83189 h 227840"/>
                <a:gd name="connsiteX6" fmla="*/ 83189 w 1848634"/>
                <a:gd name="connsiteY6" fmla="*/ 0 h 22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48634" h="227840">
                  <a:moveTo>
                    <a:pt x="83189" y="0"/>
                  </a:moveTo>
                  <a:lnTo>
                    <a:pt x="1765445" y="0"/>
                  </a:lnTo>
                  <a:cubicBezTo>
                    <a:pt x="1811389" y="0"/>
                    <a:pt x="1848634" y="37245"/>
                    <a:pt x="1848634" y="83189"/>
                  </a:cubicBezTo>
                  <a:lnTo>
                    <a:pt x="1848634" y="227840"/>
                  </a:lnTo>
                  <a:lnTo>
                    <a:pt x="0" y="227840"/>
                  </a:lnTo>
                  <a:lnTo>
                    <a:pt x="0" y="83189"/>
                  </a:lnTo>
                  <a:cubicBezTo>
                    <a:pt x="0" y="37245"/>
                    <a:pt x="37245" y="0"/>
                    <a:pt x="83189" y="0"/>
                  </a:cubicBezTo>
                  <a:close/>
                </a:path>
              </a:pathLst>
            </a:custGeom>
            <a:solidFill>
              <a:schemeClr val="accent4"/>
            </a:solidFill>
            <a:ln w="12700" cap="rnd">
              <a:noFill/>
              <a:prstDash val="solid"/>
              <a:round/>
            </a:ln>
            <a:effectLst>
              <a:outerShdw blurRad="254000" dist="127000" algn="ctr" rotWithShape="0">
                <a:schemeClr val="accent4">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1400" b="1">
                <a:solidFill>
                  <a:srgbClr val="FFFFFF"/>
                </a:solidFill>
              </a:endParaRPr>
            </a:p>
          </p:txBody>
        </p:sp>
        <p:pic>
          <p:nvPicPr>
            <p:cNvPr id="55" name="图片 54">
              <a:extLst>
                <a:ext uri="{FF2B5EF4-FFF2-40B4-BE49-F238E27FC236}">
                  <a16:creationId xmlns:a16="http://schemas.microsoft.com/office/drawing/2014/main" id="{F5DB9C56-D69B-AB1C-7FBC-46F25F7D4AA9}"/>
                </a:ext>
              </a:extLst>
            </p:cNvPr>
            <p:cNvPicPr>
              <a:picLocks noChangeAspect="1"/>
            </p:cNvPicPr>
            <p:nvPr/>
          </p:nvPicPr>
          <p:blipFill>
            <a:blip r:embed="rId3"/>
            <a:stretch>
              <a:fillRect/>
            </a:stretch>
          </p:blipFill>
          <p:spPr>
            <a:xfrm>
              <a:off x="4552875" y="3836888"/>
              <a:ext cx="1645148" cy="3024914"/>
            </a:xfrm>
            <a:prstGeom prst="rect">
              <a:avLst/>
            </a:prstGeom>
          </p:spPr>
        </p:pic>
      </p:grpSp>
      <p:grpSp>
        <p:nvGrpSpPr>
          <p:cNvPr id="61" name="组合 60">
            <a:extLst>
              <a:ext uri="{FF2B5EF4-FFF2-40B4-BE49-F238E27FC236}">
                <a16:creationId xmlns:a16="http://schemas.microsoft.com/office/drawing/2014/main" id="{7209348F-F265-B330-85BA-9251FF642671}"/>
              </a:ext>
            </a:extLst>
          </p:cNvPr>
          <p:cNvGrpSpPr/>
          <p:nvPr/>
        </p:nvGrpSpPr>
        <p:grpSpPr>
          <a:xfrm>
            <a:off x="1028130" y="3428999"/>
            <a:ext cx="1698877" cy="3437890"/>
            <a:chOff x="1028130" y="3428999"/>
            <a:chExt cx="1698877" cy="3437890"/>
          </a:xfrm>
        </p:grpSpPr>
        <p:sp>
          <p:nvSpPr>
            <p:cNvPr id="32" name="任意多边形 31"/>
            <p:cNvSpPr/>
            <p:nvPr/>
          </p:nvSpPr>
          <p:spPr>
            <a:xfrm>
              <a:off x="1028130" y="3428999"/>
              <a:ext cx="1698877" cy="227840"/>
            </a:xfrm>
            <a:custGeom>
              <a:avLst/>
              <a:gdLst>
                <a:gd name="connsiteX0" fmla="*/ 83189 w 1848634"/>
                <a:gd name="connsiteY0" fmla="*/ 0 h 227840"/>
                <a:gd name="connsiteX1" fmla="*/ 1765445 w 1848634"/>
                <a:gd name="connsiteY1" fmla="*/ 0 h 227840"/>
                <a:gd name="connsiteX2" fmla="*/ 1848634 w 1848634"/>
                <a:gd name="connsiteY2" fmla="*/ 83189 h 227840"/>
                <a:gd name="connsiteX3" fmla="*/ 1848634 w 1848634"/>
                <a:gd name="connsiteY3" fmla="*/ 227840 h 227840"/>
                <a:gd name="connsiteX4" fmla="*/ 0 w 1848634"/>
                <a:gd name="connsiteY4" fmla="*/ 227840 h 227840"/>
                <a:gd name="connsiteX5" fmla="*/ 0 w 1848634"/>
                <a:gd name="connsiteY5" fmla="*/ 83189 h 227840"/>
                <a:gd name="connsiteX6" fmla="*/ 83189 w 1848634"/>
                <a:gd name="connsiteY6" fmla="*/ 0 h 22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48634" h="227840">
                  <a:moveTo>
                    <a:pt x="83189" y="0"/>
                  </a:moveTo>
                  <a:lnTo>
                    <a:pt x="1765445" y="0"/>
                  </a:lnTo>
                  <a:cubicBezTo>
                    <a:pt x="1811389" y="0"/>
                    <a:pt x="1848634" y="37245"/>
                    <a:pt x="1848634" y="83189"/>
                  </a:cubicBezTo>
                  <a:lnTo>
                    <a:pt x="1848634" y="227840"/>
                  </a:lnTo>
                  <a:lnTo>
                    <a:pt x="0" y="227840"/>
                  </a:lnTo>
                  <a:lnTo>
                    <a:pt x="0" y="83189"/>
                  </a:lnTo>
                  <a:cubicBezTo>
                    <a:pt x="0" y="37245"/>
                    <a:pt x="37245" y="0"/>
                    <a:pt x="83189" y="0"/>
                  </a:cubicBezTo>
                  <a:close/>
                </a:path>
              </a:pathLst>
            </a:custGeom>
            <a:solidFill>
              <a:schemeClr val="accent1"/>
            </a:solidFill>
            <a:ln w="12700" cap="rnd">
              <a:noFill/>
              <a:prstDash val="solid"/>
              <a:rou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p>
              <a:pPr algn="ctr" defTabSz="914400"/>
              <a:endParaRPr lang="zh-CN" altLang="en-US" sz="1400" b="1" dirty="0">
                <a:solidFill>
                  <a:srgbClr val="FFFFFF"/>
                </a:solidFill>
              </a:endParaRPr>
            </a:p>
          </p:txBody>
        </p:sp>
        <p:pic>
          <p:nvPicPr>
            <p:cNvPr id="59" name="Picture 8">
              <a:extLst>
                <a:ext uri="{FF2B5EF4-FFF2-40B4-BE49-F238E27FC236}">
                  <a16:creationId xmlns:a16="http://schemas.microsoft.com/office/drawing/2014/main" id="{751F2A25-A5DC-9E8E-9398-03EA737D93F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3086"/>
            <a:stretch/>
          </p:blipFill>
          <p:spPr bwMode="auto">
            <a:xfrm>
              <a:off x="1039512" y="3665727"/>
              <a:ext cx="1676111" cy="32011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5" name="组合 64">
            <a:extLst>
              <a:ext uri="{FF2B5EF4-FFF2-40B4-BE49-F238E27FC236}">
                <a16:creationId xmlns:a16="http://schemas.microsoft.com/office/drawing/2014/main" id="{D6C037D7-707E-2E9D-33BA-44112EB2C7C5}"/>
              </a:ext>
            </a:extLst>
          </p:cNvPr>
          <p:cNvGrpSpPr/>
          <p:nvPr/>
        </p:nvGrpSpPr>
        <p:grpSpPr>
          <a:xfrm>
            <a:off x="2679439" y="2828970"/>
            <a:ext cx="1896202" cy="4046806"/>
            <a:chOff x="2679439" y="2828970"/>
            <a:chExt cx="1896202" cy="4046806"/>
          </a:xfrm>
        </p:grpSpPr>
        <p:sp>
          <p:nvSpPr>
            <p:cNvPr id="34" name="任意多边形 33"/>
            <p:cNvSpPr/>
            <p:nvPr/>
          </p:nvSpPr>
          <p:spPr>
            <a:xfrm>
              <a:off x="2727007" y="2828970"/>
              <a:ext cx="1825868" cy="227840"/>
            </a:xfrm>
            <a:custGeom>
              <a:avLst/>
              <a:gdLst>
                <a:gd name="connsiteX0" fmla="*/ 83189 w 1848634"/>
                <a:gd name="connsiteY0" fmla="*/ 0 h 227840"/>
                <a:gd name="connsiteX1" fmla="*/ 1765445 w 1848634"/>
                <a:gd name="connsiteY1" fmla="*/ 0 h 227840"/>
                <a:gd name="connsiteX2" fmla="*/ 1848634 w 1848634"/>
                <a:gd name="connsiteY2" fmla="*/ 83189 h 227840"/>
                <a:gd name="connsiteX3" fmla="*/ 1848634 w 1848634"/>
                <a:gd name="connsiteY3" fmla="*/ 227840 h 227840"/>
                <a:gd name="connsiteX4" fmla="*/ 0 w 1848634"/>
                <a:gd name="connsiteY4" fmla="*/ 227840 h 227840"/>
                <a:gd name="connsiteX5" fmla="*/ 0 w 1848634"/>
                <a:gd name="connsiteY5" fmla="*/ 83189 h 227840"/>
                <a:gd name="connsiteX6" fmla="*/ 83189 w 1848634"/>
                <a:gd name="connsiteY6" fmla="*/ 0 h 227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48634" h="227840">
                  <a:moveTo>
                    <a:pt x="83189" y="0"/>
                  </a:moveTo>
                  <a:lnTo>
                    <a:pt x="1765445" y="0"/>
                  </a:lnTo>
                  <a:cubicBezTo>
                    <a:pt x="1811389" y="0"/>
                    <a:pt x="1848634" y="37245"/>
                    <a:pt x="1848634" y="83189"/>
                  </a:cubicBezTo>
                  <a:lnTo>
                    <a:pt x="1848634" y="227840"/>
                  </a:lnTo>
                  <a:lnTo>
                    <a:pt x="0" y="227840"/>
                  </a:lnTo>
                  <a:lnTo>
                    <a:pt x="0" y="83189"/>
                  </a:lnTo>
                  <a:cubicBezTo>
                    <a:pt x="0" y="37245"/>
                    <a:pt x="37245" y="0"/>
                    <a:pt x="83189" y="0"/>
                  </a:cubicBezTo>
                  <a:close/>
                </a:path>
              </a:pathLst>
            </a:custGeom>
            <a:solidFill>
              <a:schemeClr val="accent3"/>
            </a:solidFill>
            <a:ln w="12700" cap="rnd">
              <a:noFill/>
              <a:prstDash val="solid"/>
              <a:round/>
            </a:ln>
            <a:effectLst>
              <a:outerShdw blurRad="254000" dist="127000" algn="ctr" rotWithShape="0">
                <a:schemeClr val="accent3">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p>
              <a:pPr algn="ctr" defTabSz="914400"/>
              <a:endParaRPr lang="zh-CN" altLang="en-US" sz="1400" b="1" dirty="0">
                <a:solidFill>
                  <a:srgbClr val="FFFFFF"/>
                </a:solidFill>
              </a:endParaRPr>
            </a:p>
          </p:txBody>
        </p:sp>
        <p:pic>
          <p:nvPicPr>
            <p:cNvPr id="64" name="图片 63">
              <a:extLst>
                <a:ext uri="{FF2B5EF4-FFF2-40B4-BE49-F238E27FC236}">
                  <a16:creationId xmlns:a16="http://schemas.microsoft.com/office/drawing/2014/main" id="{14943A01-6CBC-E49E-C247-3E0D3E444E71}"/>
                </a:ext>
              </a:extLst>
            </p:cNvPr>
            <p:cNvPicPr>
              <a:picLocks noChangeAspect="1"/>
            </p:cNvPicPr>
            <p:nvPr/>
          </p:nvPicPr>
          <p:blipFill>
            <a:blip r:embed="rId5"/>
            <a:stretch>
              <a:fillRect/>
            </a:stretch>
          </p:blipFill>
          <p:spPr>
            <a:xfrm>
              <a:off x="2679439" y="3044041"/>
              <a:ext cx="1896202" cy="3831735"/>
            </a:xfrm>
            <a:prstGeom prst="rect">
              <a:avLst/>
            </a:prstGeom>
          </p:spPr>
        </p:pic>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fade">
                                      <p:cBhvr>
                                        <p:cTn id="12" dur="1000"/>
                                        <p:tgtEl>
                                          <p:spTgt spid="57"/>
                                        </p:tgtEl>
                                      </p:cBhvr>
                                    </p:animEffect>
                                    <p:anim calcmode="lin" valueType="num">
                                      <p:cBhvr>
                                        <p:cTn id="13" dur="1000" fill="hold"/>
                                        <p:tgtEl>
                                          <p:spTgt spid="57"/>
                                        </p:tgtEl>
                                        <p:attrNameLst>
                                          <p:attrName>ppt_x</p:attrName>
                                        </p:attrNameLst>
                                      </p:cBhvr>
                                      <p:tavLst>
                                        <p:tav tm="0">
                                          <p:val>
                                            <p:strVal val="#ppt_x"/>
                                          </p:val>
                                        </p:tav>
                                        <p:tav tm="100000">
                                          <p:val>
                                            <p:strVal val="#ppt_x"/>
                                          </p:val>
                                        </p:tav>
                                      </p:tavLst>
                                    </p:anim>
                                    <p:anim calcmode="lin" valueType="num">
                                      <p:cBhvr>
                                        <p:cTn id="14"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1000"/>
                                        <p:tgtEl>
                                          <p:spTgt spid="48"/>
                                        </p:tgtEl>
                                      </p:cBhvr>
                                    </p:animEffect>
                                    <p:anim calcmode="lin" valueType="num">
                                      <p:cBhvr>
                                        <p:cTn id="20" dur="1000" fill="hold"/>
                                        <p:tgtEl>
                                          <p:spTgt spid="48"/>
                                        </p:tgtEl>
                                        <p:attrNameLst>
                                          <p:attrName>ppt_x</p:attrName>
                                        </p:attrNameLst>
                                      </p:cBhvr>
                                      <p:tavLst>
                                        <p:tav tm="0">
                                          <p:val>
                                            <p:strVal val="#ppt_x"/>
                                          </p:val>
                                        </p:tav>
                                        <p:tav tm="100000">
                                          <p:val>
                                            <p:strVal val="#ppt_x"/>
                                          </p:val>
                                        </p:tav>
                                      </p:tavLst>
                                    </p:anim>
                                    <p:anim calcmode="lin" valueType="num">
                                      <p:cBhvr>
                                        <p:cTn id="21" dur="1000" fill="hold"/>
                                        <p:tgtEl>
                                          <p:spTgt spid="48"/>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fade">
                                      <p:cBhvr>
                                        <p:cTn id="29" dur="1000"/>
                                        <p:tgtEl>
                                          <p:spTgt spid="61"/>
                                        </p:tgtEl>
                                      </p:cBhvr>
                                    </p:animEffect>
                                    <p:anim calcmode="lin" valueType="num">
                                      <p:cBhvr>
                                        <p:cTn id="30" dur="1000" fill="hold"/>
                                        <p:tgtEl>
                                          <p:spTgt spid="61"/>
                                        </p:tgtEl>
                                        <p:attrNameLst>
                                          <p:attrName>ppt_x</p:attrName>
                                        </p:attrNameLst>
                                      </p:cBhvr>
                                      <p:tavLst>
                                        <p:tav tm="0">
                                          <p:val>
                                            <p:strVal val="#ppt_x"/>
                                          </p:val>
                                        </p:tav>
                                        <p:tav tm="100000">
                                          <p:val>
                                            <p:strVal val="#ppt_x"/>
                                          </p:val>
                                        </p:tav>
                                      </p:tavLst>
                                    </p:anim>
                                    <p:anim calcmode="lin" valueType="num">
                                      <p:cBhvr>
                                        <p:cTn id="31"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9"/>
                                        </p:tgtEl>
                                        <p:attrNameLst>
                                          <p:attrName>style.visibility</p:attrName>
                                        </p:attrNameLst>
                                      </p:cBhvr>
                                      <p:to>
                                        <p:strVal val="visible"/>
                                      </p:to>
                                    </p:set>
                                    <p:anim calcmode="lin" valueType="num">
                                      <p:cBhvr additive="base">
                                        <p:cTn id="36" dur="1000" fill="hold"/>
                                        <p:tgtEl>
                                          <p:spTgt spid="49"/>
                                        </p:tgtEl>
                                        <p:attrNameLst>
                                          <p:attrName>ppt_x</p:attrName>
                                        </p:attrNameLst>
                                      </p:cBhvr>
                                      <p:tavLst>
                                        <p:tav tm="0">
                                          <p:val>
                                            <p:strVal val="#ppt_x"/>
                                          </p:val>
                                        </p:tav>
                                        <p:tav tm="100000">
                                          <p:val>
                                            <p:strVal val="#ppt_x"/>
                                          </p:val>
                                        </p:tav>
                                      </p:tavLst>
                                    </p:anim>
                                    <p:anim calcmode="lin" valueType="num">
                                      <p:cBhvr additive="base">
                                        <p:cTn id="37" dur="1000" fill="hold"/>
                                        <p:tgtEl>
                                          <p:spTgt spid="49"/>
                                        </p:tgtEl>
                                        <p:attrNameLst>
                                          <p:attrName>ppt_y</p:attrName>
                                        </p:attrNameLst>
                                      </p:cBhvr>
                                      <p:tavLst>
                                        <p:tav tm="0">
                                          <p:val>
                                            <p:strVal val="1+#ppt_h/2"/>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1000"/>
                                        <p:tgtEl>
                                          <p:spTgt spid="15"/>
                                        </p:tgtEl>
                                      </p:cBhvr>
                                    </p:animEffect>
                                    <p:anim calcmode="lin" valueType="num">
                                      <p:cBhvr>
                                        <p:cTn id="41" dur="1000" fill="hold"/>
                                        <p:tgtEl>
                                          <p:spTgt spid="15"/>
                                        </p:tgtEl>
                                        <p:attrNameLst>
                                          <p:attrName>ppt_x</p:attrName>
                                        </p:attrNameLst>
                                      </p:cBhvr>
                                      <p:tavLst>
                                        <p:tav tm="0">
                                          <p:val>
                                            <p:strVal val="#ppt_x"/>
                                          </p:val>
                                        </p:tav>
                                        <p:tav tm="100000">
                                          <p:val>
                                            <p:strVal val="#ppt_x"/>
                                          </p:val>
                                        </p:tav>
                                      </p:tavLst>
                                    </p:anim>
                                    <p:anim calcmode="lin" valueType="num">
                                      <p:cBhvr>
                                        <p:cTn id="42" dur="1000" fill="hold"/>
                                        <p:tgtEl>
                                          <p:spTgt spid="15"/>
                                        </p:tgtEl>
                                        <p:attrNameLst>
                                          <p:attrName>ppt_y</p:attrName>
                                        </p:attrNameLst>
                                      </p:cBhvr>
                                      <p:tavLst>
                                        <p:tav tm="0">
                                          <p:val>
                                            <p:strVal val="#ppt_y+.1"/>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anim calcmode="lin" valueType="num">
                                      <p:cBhvr additive="base">
                                        <p:cTn id="45" dur="1000" fill="hold"/>
                                        <p:tgtEl>
                                          <p:spTgt spid="65"/>
                                        </p:tgtEl>
                                        <p:attrNameLst>
                                          <p:attrName>ppt_x</p:attrName>
                                        </p:attrNameLst>
                                      </p:cBhvr>
                                      <p:tavLst>
                                        <p:tav tm="0">
                                          <p:val>
                                            <p:strVal val="#ppt_x"/>
                                          </p:val>
                                        </p:tav>
                                        <p:tav tm="100000">
                                          <p:val>
                                            <p:strVal val="#ppt_x"/>
                                          </p:val>
                                        </p:tav>
                                      </p:tavLst>
                                    </p:anim>
                                    <p:anim calcmode="lin" valueType="num">
                                      <p:cBhvr additive="base">
                                        <p:cTn id="46" dur="10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circle(in)">
                                      <p:cBhvr>
                                        <p:cTn id="5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8" grpId="0" animBg="1"/>
      <p:bldP spid="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wrap="square">
            <a:normAutofit/>
          </a:bodyPr>
          <a:lstStyle/>
          <a:p>
            <a:pPr lvl="0"/>
            <a:r>
              <a:rPr lang="zh-CN" altLang="en-US"/>
              <a:t>谢谢</a:t>
            </a:r>
          </a:p>
        </p:txBody>
      </p:sp>
      <p:sp>
        <p:nvSpPr>
          <p:cNvPr id="4" name="Text Placeholder 3"/>
          <p:cNvSpPr>
            <a:spLocks noGrp="1"/>
          </p:cNvSpPr>
          <p:nvPr>
            <p:ph type="body" sz="quarter" idx="13"/>
          </p:nvPr>
        </p:nvSpPr>
        <p:spPr/>
        <p:txBody>
          <a:bodyPr wrap="square">
            <a:normAutofit/>
          </a:bodyPr>
          <a:lstStyle/>
          <a:p>
            <a:pPr lvl="0"/>
            <a:r>
              <a:rPr lang="en-US"/>
              <a:t>Presenter name</a:t>
            </a:r>
          </a:p>
        </p:txBody>
      </p:sp>
      <p:sp>
        <p:nvSpPr>
          <p:cNvPr id="7" name="Text Placeholder 6"/>
          <p:cNvSpPr>
            <a:spLocks noGrp="1"/>
          </p:cNvSpPr>
          <p:nvPr>
            <p:ph type="body" sz="quarter" idx="14"/>
          </p:nvPr>
        </p:nvSpPr>
        <p:spPr/>
        <p:txBody>
          <a:bodyPr wrap="none">
            <a:normAutofit/>
          </a:bodyPr>
          <a:lstStyle/>
          <a:p>
            <a:pPr lvl="0"/>
            <a:r>
              <a:rPr lang="en-US"/>
              <a:t>www.officeplus.cn</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CEPLUS.IMAGE" val="New_Batches_1227_Outline/20231227/images_object_3001_4000/5f23292a-dc9e-46c2-8fc8-52748d8dc2b5-2.source.default.zh-Hans.jpg"/>
  <p:tag name="OFFICEPLUS.THEME" val="New_Batches_1227_Outline/20231227/images_object_3001_4000/5f23292a-dc9e-46c2-8fc8-52748d8dc2b5-2.source.default.zh-Hans-3.pptx"/>
  <p:tag name="OFFICEPLUS.OUTLINE" val="744798"/>
  <p:tag name="OFFICEPLUS.OUTLINEEXTERNAL" val="2d3962f0-5b7f-d90b-1740-a1bdfbfb171f"/>
  <p:tag name="COMMONDATA" val="eyJoZGlkIjoiOTdlYTAyNWUxNTVhMTFjZjlkNDIwYmUxMTRkN2M5YWIifQ=="/>
</p:tagLst>
</file>

<file path=ppt/tags/tag2.xml><?xml version="1.0" encoding="utf-8"?>
<p:tagLst xmlns:a="http://schemas.openxmlformats.org/drawingml/2006/main" xmlns:r="http://schemas.openxmlformats.org/officeDocument/2006/relationships" xmlns:p="http://schemas.openxmlformats.org/presentationml/2006/main">
  <p:tag name="OFFICEPLUS.TAG" val="03a12446-4040-4dad-8d54-bb681f108928"/>
</p:tagLst>
</file>

<file path=ppt/tags/tag3.xml><?xml version="1.0" encoding="utf-8"?>
<p:tagLst xmlns:a="http://schemas.openxmlformats.org/drawingml/2006/main" xmlns:r="http://schemas.openxmlformats.org/officeDocument/2006/relationships" xmlns:p="http://schemas.openxmlformats.org/presentationml/2006/main">
  <p:tag name="OFFICEPLUS.TAG" val="7bbc12ee-40ec-489f-ab8c-4fa55cf2bf59"/>
  <p:tag name="OFFICEPLUS.TEMPLATE" val="96b9ae34-36f7-4b48-95be-77dbdbcf38eb.pptx"/>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91.5773228346457,&quot;left&quot;:52,&quot;top&quot;:91.42267716535432,&quot;width&quot;:987.3001936803472}"/>
</p:tagLst>
</file>

<file path=ppt/tags/tag20.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6332885"/>
</p:tagLst>
</file>

<file path=ppt/tags/tag21.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6332887"/>
</p:tagLst>
</file>

<file path=ppt/tags/tag22.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6332887"/>
</p:tagLst>
</file>

<file path=ppt/tags/tag23.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6332889"/>
</p:tagLst>
</file>

<file path=ppt/tags/tag24.xml><?xml version="1.0" encoding="utf-8"?>
<p:tagLst xmlns:a="http://schemas.openxmlformats.org/drawingml/2006/main" xmlns:r="http://schemas.openxmlformats.org/officeDocument/2006/relationships" xmlns:p="http://schemas.openxmlformats.org/presentationml/2006/main">
  <p:tag name="OFFICEPLUS.TEMPLATE" val="0bf86be1-92b9-40f9-822e-d664ebc51d19.pptx"/>
  <p:tag name="OFFICEPLUS.TAG" val="9e4641ec-8dc6-4050-900b-dadf5fdb9e4c"/>
  <p:tag name="OFFICEPLUS.OUTLINECONTENT" val="21737182"/>
</p:tagLst>
</file>

<file path=ppt/tags/tag25.xml><?xml version="1.0" encoding="utf-8"?>
<p:tagLst xmlns:a="http://schemas.openxmlformats.org/drawingml/2006/main" xmlns:r="http://schemas.openxmlformats.org/officeDocument/2006/relationships" xmlns:p="http://schemas.openxmlformats.org/presentationml/2006/main">
  <p:tag name="OFFICEPLUS.TEMPLATE" val="36b2ffea-632e-4918-a2f2-dde3d9a84009.pptx"/>
  <p:tag name="OFFICEPLUS.TAG" val="9e4641ec-8dc6-4050-900b-dadf5fdb9e4c"/>
  <p:tag name="OFFICEPLUS.OUTLINECONTENT" val="21737178"/>
</p:tagLst>
</file>

<file path=ppt/tags/tag26.xml><?xml version="1.0" encoding="utf-8"?>
<p:tagLst xmlns:a="http://schemas.openxmlformats.org/drawingml/2006/main" xmlns:r="http://schemas.openxmlformats.org/officeDocument/2006/relationships" xmlns:p="http://schemas.openxmlformats.org/presentationml/2006/main">
  <p:tag name="OFFICEPLUS.TAG" val="43779941-ebb9-4272-ab0a-451395e9a0c0"/>
  <p:tag name="OFFICEPLUS.OUTLINESECTION" val="6332890"/>
</p:tagLst>
</file>

<file path=ppt/tags/tag27.xml><?xml version="1.0" encoding="utf-8"?>
<p:tagLst xmlns:a="http://schemas.openxmlformats.org/drawingml/2006/main" xmlns:r="http://schemas.openxmlformats.org/officeDocument/2006/relationships" xmlns:p="http://schemas.openxmlformats.org/presentationml/2006/main">
  <p:tag name="OFFICEPLUS.TEMPLATE" val="3fe42ea7-a79e-4354-9d94-54a7c16cea20.pptx"/>
  <p:tag name="OFFICEPLUS.TAG" val="2beb2bf3-40ba-4876-8eff-8450af69fbd8"/>
  <p:tag name="OFFICEPLUS.OUTLINECONTENT" val="21737188"/>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94,&quot;left&quot;:52,&quot;top&quot;:89,&quot;width&quot;:85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94,&quot;left&quot;:52,&quot;top&quot;:89,&quot;width&quot;:85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94,&quot;left&quot;:52,&quot;top&quot;:89,&quot;width&quot;:85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94,&quot;left&quot;:52,&quot;top&quot;:89,&quot;width&quot;:85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94,&quot;left&quot;:52,&quot;top&quot;:89,&quot;width&quot;:85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94,&quot;left&quot;:52,&quot;top&quot;:89,&quot;width&quot;:85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94,&quot;left&quot;:52,&quot;top&quot;:89,&quot;width&quot;:85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94,&quot;left&quot;:52,&quot;top&quot;:89,&quot;width&quot;:85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94,&quot;left&quot;:52,&quot;top&quot;:89,&quot;width&quot;:856}"/>
</p:tagLst>
</file>

<file path=ppt/tags/tag37.xml><?xml version="1.0" encoding="utf-8"?>
<p:tagLst xmlns:a="http://schemas.openxmlformats.org/drawingml/2006/main" xmlns:r="http://schemas.openxmlformats.org/officeDocument/2006/relationships" xmlns:p="http://schemas.openxmlformats.org/presentationml/2006/main">
  <p:tag name="OFFICEPLUS.TEMPLATE" val="1a65d110-7ea6-4c52-b730-0c3692e379fe.pptx"/>
  <p:tag name="OFFICEPLUS.TAG" val="9e4641ec-8dc6-4050-900b-dadf5fdb9e4c"/>
  <p:tag name="OFFICEPLUS.OUTLINECONTENT" val="21737186"/>
</p:tagLst>
</file>

<file path=ppt/tags/tag38.xml><?xml version="1.0" encoding="utf-8"?>
<p:tagLst xmlns:a="http://schemas.openxmlformats.org/drawingml/2006/main" xmlns:r="http://schemas.openxmlformats.org/officeDocument/2006/relationships" xmlns:p="http://schemas.openxmlformats.org/presentationml/2006/main">
  <p:tag name="OFFICEPLUS.TAG" val="e69c5ac3-dafd-4b9a-bbf1-d26a1016f816"/>
</p:tagLst>
</file>

<file path=ppt/theme/theme1.xml><?xml version="1.0" encoding="utf-8"?>
<a:theme xmlns:a="http://schemas.openxmlformats.org/drawingml/2006/main" name="Designed by OfficePLUS">
  <a:themeElements>
    <a:clrScheme name="OfficePLUS">
      <a:dk1>
        <a:srgbClr val="000000"/>
      </a:dk1>
      <a:lt1>
        <a:srgbClr val="FFFFFF"/>
      </a:lt1>
      <a:dk2>
        <a:srgbClr val="778495"/>
      </a:dk2>
      <a:lt2>
        <a:srgbClr val="F0F0F0"/>
      </a:lt2>
      <a:accent1>
        <a:srgbClr val="8A7A00"/>
      </a:accent1>
      <a:accent2>
        <a:srgbClr val="51A1BA"/>
      </a:accent2>
      <a:accent3>
        <a:srgbClr val="5B5B00"/>
      </a:accent3>
      <a:accent4>
        <a:srgbClr val="6DA990"/>
      </a:accent4>
      <a:accent5>
        <a:srgbClr val="BFA000"/>
      </a:accent5>
      <a:accent6>
        <a:srgbClr val="F2C900"/>
      </a:accent6>
      <a:hlink>
        <a:srgbClr val="4472C4"/>
      </a:hlink>
      <a:folHlink>
        <a:srgbClr val="BFBFBF"/>
      </a:folHlink>
    </a:clrScheme>
    <a:fontScheme name="font">
      <a:majorFont>
        <a:latin typeface="Arial"/>
        <a:ea typeface="微软雅黑"/>
        <a:cs typeface=""/>
      </a:majorFont>
      <a:minorFont>
        <a:latin typeface="Arial"/>
        <a:ea typeface="微软雅黑"/>
        <a:cs typeface=""/>
      </a:minorFont>
    </a:fontScheme>
    <a:fmtScheme name="OfficePLU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TotalTime>
  <Words>709</Words>
  <Application>Microsoft Office PowerPoint</Application>
  <PresentationFormat>宽屏</PresentationFormat>
  <Paragraphs>112</Paragraphs>
  <Slides>21</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-apple-system</vt:lpstr>
      <vt:lpstr>Noto Sans SC</vt:lpstr>
      <vt:lpstr>等线</vt:lpstr>
      <vt:lpstr>宋体</vt:lpstr>
      <vt:lpstr>微软雅黑</vt:lpstr>
      <vt:lpstr>Arial</vt:lpstr>
      <vt:lpstr>Times New Roman</vt:lpstr>
      <vt:lpstr>Designed by OfficePLUS</vt:lpstr>
      <vt:lpstr>PowerPoint 演示文稿</vt:lpstr>
      <vt:lpstr>PowerPoint 演示文稿</vt:lpstr>
      <vt:lpstr>01.选题背景</vt:lpstr>
      <vt:lpstr>选题背景</vt:lpstr>
      <vt:lpstr>02.研究思路</vt:lpstr>
      <vt:lpstr>PowerPoint 演示文稿</vt:lpstr>
      <vt:lpstr>03.作品创意</vt:lpstr>
      <vt:lpstr>PowerPoint 演示文稿</vt:lpstr>
      <vt:lpstr>04.研究方法及结果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05.作品结论</vt:lpstr>
      <vt:lpstr>作品结论</vt:lpstr>
      <vt:lpstr>建言献策</vt:lpstr>
      <vt:lpstr>谢谢</vt:lpstr>
    </vt:vector>
  </TitlesOfParts>
  <Company>OfficePLUS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OfficePLUS PowerPoint Template</dc:title>
  <dc:creator>OfficePLUS</dc:creator>
  <cp:lastModifiedBy>金阳 徐</cp:lastModifiedBy>
  <cp:revision>30</cp:revision>
  <dcterms:created xsi:type="dcterms:W3CDTF">2023-07-20T03:04:00Z</dcterms:created>
  <dcterms:modified xsi:type="dcterms:W3CDTF">2024-04-30T07:16:57Z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9331229B3BD74C8C90FDF68422955FEC_12</vt:lpwstr>
  </property>
  <property fmtid="{D5CDD505-2E9C-101B-9397-08002B2CF9AE}" pid="3" name="KSOProductBuildVer">
    <vt:lpwstr>2052-12.1.0.16729</vt:lpwstr>
  </property>
</Properties>
</file>